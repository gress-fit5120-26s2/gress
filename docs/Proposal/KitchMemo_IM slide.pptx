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N56nqtrQEsXv9NmooH+kEuEL5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For Iteration 1, we need to prove two things.</a:t>
            </a:r>
            <a:endParaRPr/>
          </a:p>
          <a:p>
            <a:pPr indent="0" lvl="0" marL="0" rtl="0" algn="l">
              <a:lnSpc>
                <a:spcPct val="115000"/>
              </a:lnSpc>
              <a:spcBef>
                <a:spcPts val="1200"/>
              </a:spcBef>
              <a:spcAft>
                <a:spcPts val="0"/>
              </a:spcAft>
              <a:buClr>
                <a:schemeClr val="dk1"/>
              </a:buClr>
              <a:buSzPts val="1100"/>
              <a:buFont typeface="Arial"/>
              <a:buNone/>
            </a:pPr>
            <a:r>
              <a:rPr lang="en-US"/>
              <a:t>The first is that the full inventory journey works—from adding and confirming food to updating the inventory and checking it before shopping.</a:t>
            </a:r>
            <a:endParaRPr/>
          </a:p>
          <a:p>
            <a:pPr indent="0" lvl="0" marL="0" rtl="0" algn="l">
              <a:lnSpc>
                <a:spcPct val="115000"/>
              </a:lnSpc>
              <a:spcBef>
                <a:spcPts val="1200"/>
              </a:spcBef>
              <a:spcAft>
                <a:spcPts val="0"/>
              </a:spcAft>
              <a:buClr>
                <a:schemeClr val="dk1"/>
              </a:buClr>
              <a:buSzPts val="1100"/>
              <a:buFont typeface="Arial"/>
              <a:buNone/>
            </a:pPr>
            <a:r>
              <a:rPr lang="en-US"/>
              <a:t>The second is that our recipe model has a reliable starting point. We will clean the public recipe data, train and test the model, and record its limitations before it becomes available to users.</a:t>
            </a:r>
            <a:endParaRPr/>
          </a:p>
          <a:p>
            <a:pPr indent="0" lvl="0" marL="0" rtl="0" algn="l">
              <a:lnSpc>
                <a:spcPct val="115000"/>
              </a:lnSpc>
              <a:spcBef>
                <a:spcPts val="1200"/>
              </a:spcBef>
              <a:spcAft>
                <a:spcPts val="0"/>
              </a:spcAft>
              <a:buClr>
                <a:schemeClr val="dk1"/>
              </a:buClr>
              <a:buSzPts val="1100"/>
              <a:buFont typeface="Arial"/>
              <a:buNone/>
            </a:pPr>
            <a:r>
              <a:rPr lang="en-US"/>
              <a:t>We have four main risks.</a:t>
            </a:r>
            <a:endParaRPr/>
          </a:p>
          <a:p>
            <a:pPr indent="0" lvl="0" marL="0" rtl="0" algn="l">
              <a:lnSpc>
                <a:spcPct val="115000"/>
              </a:lnSpc>
              <a:spcBef>
                <a:spcPts val="1200"/>
              </a:spcBef>
              <a:spcAft>
                <a:spcPts val="0"/>
              </a:spcAft>
              <a:buClr>
                <a:schemeClr val="dk1"/>
              </a:buClr>
              <a:buSzPts val="1100"/>
              <a:buFont typeface="Arial"/>
              <a:buNone/>
            </a:pPr>
            <a:r>
              <a:rPr lang="en-US"/>
              <a:t>First, maintaining the inventory may take too much effort, so we will minimise the required information and make updates simple.</a:t>
            </a:r>
            <a:endParaRPr/>
          </a:p>
          <a:p>
            <a:pPr indent="0" lvl="0" marL="0" rtl="0" algn="l">
              <a:lnSpc>
                <a:spcPct val="115000"/>
              </a:lnSpc>
              <a:spcBef>
                <a:spcPts val="1200"/>
              </a:spcBef>
              <a:spcAft>
                <a:spcPts val="0"/>
              </a:spcAft>
              <a:buClr>
                <a:schemeClr val="dk1"/>
              </a:buClr>
              <a:buSzPts val="1100"/>
              <a:buFont typeface="Arial"/>
              <a:buNone/>
            </a:pPr>
            <a:r>
              <a:rPr lang="en-US"/>
              <a:t>Second, barcode or photo results may be incorrect, so users must confirm the information, and manual entry will always be available.</a:t>
            </a:r>
            <a:endParaRPr/>
          </a:p>
          <a:p>
            <a:pPr indent="0" lvl="0" marL="0" rtl="0" algn="l">
              <a:lnSpc>
                <a:spcPct val="115000"/>
              </a:lnSpc>
              <a:spcBef>
                <a:spcPts val="1200"/>
              </a:spcBef>
              <a:spcAft>
                <a:spcPts val="0"/>
              </a:spcAft>
              <a:buClr>
                <a:schemeClr val="dk1"/>
              </a:buClr>
              <a:buSzPts val="1100"/>
              <a:buFont typeface="Arial"/>
              <a:buNone/>
            </a:pPr>
            <a:r>
              <a:rPr lang="en-US"/>
              <a:t>Third, recipe recommendations may not be useful in real households. We will test them offline and review realistic scenarios before release.</a:t>
            </a:r>
            <a:endParaRPr/>
          </a:p>
          <a:p>
            <a:pPr indent="0" lvl="0" marL="0" rtl="0" algn="l">
              <a:lnSpc>
                <a:spcPct val="115000"/>
              </a:lnSpc>
              <a:spcBef>
                <a:spcPts val="1200"/>
              </a:spcBef>
              <a:spcAft>
                <a:spcPts val="1200"/>
              </a:spcAft>
              <a:buSzPts val="1100"/>
              <a:buNone/>
            </a:pPr>
            <a:r>
              <a:rPr lang="en-US"/>
              <a:t>Finally, users may misunderstand date reminders as food-safety advice. KitchMemo will use clear language and will never decide whether food is safe to eat.</a:t>
            </a:r>
            <a:endParaRPr/>
          </a:p>
        </p:txBody>
      </p:sp>
      <p:sp>
        <p:nvSpPr>
          <p:cNvPr id="345" name="Google Shape;34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Finally, we have identified two organisations that could potentially help us test the project in a real-world setting.</a:t>
            </a:r>
            <a:endParaRPr/>
          </a:p>
          <a:p>
            <a:pPr indent="0" lvl="0" marL="0" rtl="0" algn="l">
              <a:lnSpc>
                <a:spcPct val="115000"/>
              </a:lnSpc>
              <a:spcBef>
                <a:spcPts val="1200"/>
              </a:spcBef>
              <a:spcAft>
                <a:spcPts val="0"/>
              </a:spcAft>
              <a:buClr>
                <a:schemeClr val="dk1"/>
              </a:buClr>
              <a:buSzPts val="1100"/>
              <a:buFont typeface="Arial"/>
              <a:buNone/>
            </a:pPr>
            <a:r>
              <a:rPr lang="en-US"/>
              <a:t>The first is OzHarvest. It has strong experience in household food-waste behaviour and runs practical programs such as the Use It Up campaign.</a:t>
            </a:r>
            <a:endParaRPr/>
          </a:p>
          <a:p>
            <a:pPr indent="0" lvl="0" marL="0" rtl="0" algn="l">
              <a:lnSpc>
                <a:spcPct val="115000"/>
              </a:lnSpc>
              <a:spcBef>
                <a:spcPts val="1200"/>
              </a:spcBef>
              <a:spcAft>
                <a:spcPts val="0"/>
              </a:spcAft>
              <a:buClr>
                <a:schemeClr val="dk1"/>
              </a:buClr>
              <a:buSzPts val="1100"/>
              <a:buFont typeface="Arial"/>
              <a:buNone/>
            </a:pPr>
            <a:r>
              <a:rPr lang="en-US"/>
              <a:t>The second is End Food Waste Australia. It supports Australia’s national goal of halving food waste by 2030 and has strong research and industry connections.</a:t>
            </a:r>
            <a:endParaRPr/>
          </a:p>
          <a:p>
            <a:pPr indent="0" lvl="0" marL="0" rtl="0" algn="l">
              <a:lnSpc>
                <a:spcPct val="115000"/>
              </a:lnSpc>
              <a:spcBef>
                <a:spcPts val="1200"/>
              </a:spcBef>
              <a:spcAft>
                <a:spcPts val="0"/>
              </a:spcAft>
              <a:buClr>
                <a:schemeClr val="dk1"/>
              </a:buClr>
              <a:buSzPts val="1100"/>
              <a:buFont typeface="Arial"/>
              <a:buNone/>
            </a:pPr>
            <a:r>
              <a:rPr lang="en-US"/>
              <a:t>At this stage, they are only potential partners. We have not contacted them or confirmed any partnership.</a:t>
            </a:r>
            <a:endParaRPr/>
          </a:p>
          <a:p>
            <a:pPr indent="0" lvl="0" marL="0" rtl="0" algn="l">
              <a:lnSpc>
                <a:spcPct val="115000"/>
              </a:lnSpc>
              <a:spcBef>
                <a:spcPts val="1200"/>
              </a:spcBef>
              <a:spcAft>
                <a:spcPts val="0"/>
              </a:spcAft>
              <a:buClr>
                <a:schemeClr val="dk1"/>
              </a:buClr>
              <a:buSzPts val="1100"/>
              <a:buFont typeface="Arial"/>
              <a:buNone/>
            </a:pPr>
            <a:r>
              <a:rPr lang="en-US"/>
              <a:t>We are not only looking for support with the technology. More importantly, we want partners who can help us test whether KitchMemo actually changes household behaviour.</a:t>
            </a:r>
            <a:endParaRPr/>
          </a:p>
          <a:p>
            <a:pPr indent="0" lvl="0" marL="0" rtl="0" algn="l">
              <a:lnSpc>
                <a:spcPct val="115000"/>
              </a:lnSpc>
              <a:spcBef>
                <a:spcPts val="1200"/>
              </a:spcBef>
              <a:spcAft>
                <a:spcPts val="1200"/>
              </a:spcAft>
              <a:buSzPts val="1100"/>
              <a:buNone/>
            </a:pPr>
            <a:r>
              <a:rPr lang="en-US"/>
              <a:t>Thank you. We would really appreciate your feedback.</a:t>
            </a:r>
            <a:endParaRPr/>
          </a:p>
        </p:txBody>
      </p:sp>
      <p:sp>
        <p:nvSpPr>
          <p:cNvPr id="377" name="Google Shape;37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reference index.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 https://www.dcceew.gov.au/environment/protection/waste/food-waste</a:t>
            </a:r>
            <a:endParaRPr/>
          </a:p>
          <a:p>
            <a:pPr indent="0" lvl="0" marL="0" rtl="0" algn="l">
              <a:spcBef>
                <a:spcPts val="0"/>
              </a:spcBef>
              <a:spcAft>
                <a:spcPts val="0"/>
              </a:spcAft>
              <a:buNone/>
            </a:pPr>
            <a:r>
              <a:rPr lang="en-US"/>
              <a:t>- https://www.ozharvest.org/news/research-shows-generation-waste-as-millennials-and-gen-z-fuel-the-nations-food-waste-problem/</a:t>
            </a:r>
            <a:endParaRPr/>
          </a:p>
          <a:p>
            <a:pPr indent="0" lvl="0" marL="0" rtl="0" algn="l">
              <a:spcBef>
                <a:spcPts val="0"/>
              </a:spcBef>
              <a:spcAft>
                <a:spcPts val="0"/>
              </a:spcAft>
              <a:buNone/>
            </a:pPr>
            <a:r>
              <a:rPr lang="en-US"/>
              <a:t>- https://www.abc.net.au/listen/programs/radionational-breakfast/australians-throw-out-1500-of-food-each-year/105694846</a:t>
            </a:r>
            <a:endParaRPr/>
          </a:p>
          <a:p>
            <a:pPr indent="0" lvl="0" marL="0" rtl="0" algn="l">
              <a:spcBef>
                <a:spcPts val="0"/>
              </a:spcBef>
              <a:spcAft>
                <a:spcPts val="0"/>
              </a:spcAft>
              <a:buNone/>
            </a:pPr>
            <a:r>
              <a:rPr lang="en-US"/>
              <a:t>- https://endfoodwaste.com.au/national-consumer-behaviour-change-campaign/</a:t>
            </a:r>
            <a:endParaRPr/>
          </a:p>
          <a:p>
            <a:pPr indent="0" lvl="0" marL="0" rtl="0" algn="l">
              <a:spcBef>
                <a:spcPts val="0"/>
              </a:spcBef>
              <a:spcAft>
                <a:spcPts val="0"/>
              </a:spcAft>
              <a:buNone/>
            </a:pPr>
            <a:r>
              <a:rPr lang="en-US"/>
              <a:t>- https://www.rmit.edu.au/news/all-news/2025/jun/date-labels</a:t>
            </a:r>
            <a:endParaRPr/>
          </a:p>
          <a:p>
            <a:pPr indent="0" lvl="0" marL="0" rtl="0" algn="l">
              <a:spcBef>
                <a:spcPts val="0"/>
              </a:spcBef>
              <a:spcAft>
                <a:spcPts val="0"/>
              </a:spcAft>
              <a:buNone/>
            </a:pPr>
            <a:r>
              <a:rPr lang="en-US"/>
              <a:t>- https://www.foodstandards.gov.au/consumer/labelling/dates</a:t>
            </a:r>
            <a:endParaRPr/>
          </a:p>
          <a:p>
            <a:pPr indent="0" lvl="0" marL="0" rtl="0" algn="l">
              <a:spcBef>
                <a:spcPts val="0"/>
              </a:spcBef>
              <a:spcAft>
                <a:spcPts val="0"/>
              </a:spcAft>
              <a:buNone/>
            </a:pPr>
            <a:r>
              <a:rPr lang="en-US"/>
              <a:t>- https://github.com/openfoodfacts/openfoodfacts-server/blob/main/docs/api/ref/api.yaml</a:t>
            </a:r>
            <a:endParaRPr/>
          </a:p>
          <a:p>
            <a:pPr indent="0" lvl="0" marL="0" rtl="0" algn="l">
              <a:spcBef>
                <a:spcPts val="0"/>
              </a:spcBef>
              <a:spcAft>
                <a:spcPts val="0"/>
              </a:spcAft>
              <a:buNone/>
            </a:pPr>
            <a:r>
              <a:rPr lang="en-US"/>
              <a:t>- https://pic2recipe.csail.mit.edu/</a:t>
            </a:r>
            <a:endParaRPr/>
          </a:p>
          <a:p>
            <a:pPr indent="0" lvl="0" marL="0" rtl="0" algn="l">
              <a:spcBef>
                <a:spcPts val="0"/>
              </a:spcBef>
              <a:spcAft>
                <a:spcPts val="0"/>
              </a:spcAft>
              <a:buNone/>
            </a:pPr>
            <a:r>
              <a:rPr lang="en-US"/>
              <a:t>- https://cseweb.ucsd.edu/~jmcauley/pdfs/emnlp19c.pdf</a:t>
            </a:r>
            <a:endParaRPr/>
          </a:p>
        </p:txBody>
      </p:sp>
      <p:sp>
        <p:nvSpPr>
          <p:cNvPr id="395" name="Google Shape;39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E"/>
        </a:solidFill>
      </p:bgPr>
    </p:bg>
    <p:spTree>
      <p:nvGrpSpPr>
        <p:cNvPr id="15" name="Shape 15"/>
        <p:cNvGrpSpPr/>
        <p:nvPr/>
      </p:nvGrpSpPr>
      <p:grpSpPr>
        <a:xfrm>
          <a:off x="0" y="0"/>
          <a:ext cx="0" cy="0"/>
          <a:chOff x="0" y="0"/>
          <a:chExt cx="0" cy="0"/>
        </a:xfrm>
      </p:grpSpPr>
      <p:sp>
        <p:nvSpPr>
          <p:cNvPr id="16" name="Google Shape;16;p1"/>
          <p:cNvSpPr/>
          <p:nvPr/>
        </p:nvSpPr>
        <p:spPr>
          <a:xfrm>
            <a:off x="8953500" y="0"/>
            <a:ext cx="3238500" cy="3238500"/>
          </a:xfrm>
          <a:prstGeom prst="ellipse">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9810750" y="4572000"/>
            <a:ext cx="2381250" cy="2286000"/>
          </a:xfrm>
          <a:prstGeom prst="ellipse">
            <a:avLst/>
          </a:prstGeom>
          <a:solidFill>
            <a:srgbClr val="FFE9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647700" y="55245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INDUSTRY MENTOR PROPOSAL</a:t>
            </a:r>
            <a:endParaRPr/>
          </a:p>
        </p:txBody>
      </p:sp>
      <p:sp>
        <p:nvSpPr>
          <p:cNvPr id="19" name="Google Shape;19;p1"/>
          <p:cNvSpPr/>
          <p:nvPr/>
        </p:nvSpPr>
        <p:spPr>
          <a:xfrm>
            <a:off x="647700" y="1162050"/>
            <a:ext cx="56197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4650">
                <a:solidFill>
                  <a:srgbClr val="211E1B"/>
                </a:solidFill>
                <a:latin typeface="Calibri"/>
                <a:ea typeface="Calibri"/>
                <a:cs typeface="Calibri"/>
                <a:sym typeface="Calibri"/>
              </a:rPr>
              <a:t>KitchMemo</a:t>
            </a:r>
            <a:endParaRPr/>
          </a:p>
        </p:txBody>
      </p:sp>
      <p:sp>
        <p:nvSpPr>
          <p:cNvPr id="20" name="Google Shape;20;p1"/>
          <p:cNvSpPr/>
          <p:nvPr/>
        </p:nvSpPr>
        <p:spPr>
          <a:xfrm>
            <a:off x="666750" y="4191000"/>
            <a:ext cx="53340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736D67"/>
                </a:solidFill>
                <a:latin typeface="Calibri"/>
                <a:ea typeface="Calibri"/>
                <a:cs typeface="Calibri"/>
                <a:sym typeface="Calibri"/>
              </a:rPr>
              <a:t>An inventory-aware food decision assistant for young Australian households.</a:t>
            </a:r>
            <a:endParaRPr/>
          </a:p>
        </p:txBody>
      </p:sp>
      <p:sp>
        <p:nvSpPr>
          <p:cNvPr id="21" name="Google Shape;21;p1"/>
          <p:cNvSpPr/>
          <p:nvPr/>
        </p:nvSpPr>
        <p:spPr>
          <a:xfrm>
            <a:off x="666750" y="5143500"/>
            <a:ext cx="1066800" cy="285750"/>
          </a:xfrm>
          <a:prstGeom prst="roundRect">
            <a:avLst>
              <a:gd fmla="val 50000"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 name="Google Shape;22;p1"/>
          <p:cNvSpPr/>
          <p:nvPr/>
        </p:nvSpPr>
        <p:spPr>
          <a:xfrm>
            <a:off x="666750" y="5191125"/>
            <a:ext cx="1066800" cy="190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50">
                <a:solidFill>
                  <a:srgbClr val="D94C16"/>
                </a:solidFill>
                <a:latin typeface="Calibri"/>
                <a:ea typeface="Calibri"/>
                <a:cs typeface="Calibri"/>
                <a:sym typeface="Calibri"/>
              </a:rPr>
              <a:t>CAPTURE</a:t>
            </a:r>
            <a:endParaRPr/>
          </a:p>
        </p:txBody>
      </p:sp>
      <p:sp>
        <p:nvSpPr>
          <p:cNvPr id="23" name="Google Shape;23;p1"/>
          <p:cNvSpPr/>
          <p:nvPr/>
        </p:nvSpPr>
        <p:spPr>
          <a:xfrm>
            <a:off x="1847850" y="5143500"/>
            <a:ext cx="1257300" cy="285750"/>
          </a:xfrm>
          <a:prstGeom prst="roundRect">
            <a:avLst>
              <a:gd fmla="val 50000"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 name="Google Shape;24;p1"/>
          <p:cNvSpPr/>
          <p:nvPr/>
        </p:nvSpPr>
        <p:spPr>
          <a:xfrm>
            <a:off x="1847850" y="5191125"/>
            <a:ext cx="1257300" cy="190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50">
                <a:solidFill>
                  <a:srgbClr val="2FA866"/>
                </a:solidFill>
                <a:latin typeface="Calibri"/>
                <a:ea typeface="Calibri"/>
                <a:cs typeface="Calibri"/>
                <a:sym typeface="Calibri"/>
              </a:rPr>
              <a:t>PRIORITISE</a:t>
            </a:r>
            <a:endParaRPr/>
          </a:p>
        </p:txBody>
      </p:sp>
      <p:sp>
        <p:nvSpPr>
          <p:cNvPr id="25" name="Google Shape;25;p1"/>
          <p:cNvSpPr/>
          <p:nvPr/>
        </p:nvSpPr>
        <p:spPr>
          <a:xfrm>
            <a:off x="3219450" y="5143500"/>
            <a:ext cx="914400" cy="285750"/>
          </a:xfrm>
          <a:prstGeom prst="roundRect">
            <a:avLst>
              <a:gd fmla="val 50000"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 name="Google Shape;26;p1"/>
          <p:cNvSpPr/>
          <p:nvPr/>
        </p:nvSpPr>
        <p:spPr>
          <a:xfrm>
            <a:off x="3219450" y="5191125"/>
            <a:ext cx="914400" cy="190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50">
                <a:solidFill>
                  <a:srgbClr val="18BBD1"/>
                </a:solidFill>
                <a:latin typeface="Calibri"/>
                <a:ea typeface="Calibri"/>
                <a:cs typeface="Calibri"/>
                <a:sym typeface="Calibri"/>
              </a:rPr>
              <a:t>COOK</a:t>
            </a:r>
            <a:endParaRPr/>
          </a:p>
        </p:txBody>
      </p:sp>
      <p:sp>
        <p:nvSpPr>
          <p:cNvPr id="27" name="Google Shape;27;p1"/>
          <p:cNvSpPr/>
          <p:nvPr/>
        </p:nvSpPr>
        <p:spPr>
          <a:xfrm>
            <a:off x="4248150" y="5143500"/>
            <a:ext cx="1257300" cy="285750"/>
          </a:xfrm>
          <a:prstGeom prst="roundRect">
            <a:avLst>
              <a:gd fmla="val 50000" name="adj"/>
            </a:avLst>
          </a:prstGeom>
          <a:solidFill>
            <a:srgbClr val="FFE9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 name="Google Shape;28;p1"/>
          <p:cNvSpPr/>
          <p:nvPr/>
        </p:nvSpPr>
        <p:spPr>
          <a:xfrm>
            <a:off x="4248150" y="5191125"/>
            <a:ext cx="1257300" cy="190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50">
                <a:solidFill>
                  <a:srgbClr val="D94C16"/>
                </a:solidFill>
                <a:latin typeface="Calibri"/>
                <a:ea typeface="Calibri"/>
                <a:cs typeface="Calibri"/>
                <a:sym typeface="Calibri"/>
              </a:rPr>
              <a:t>WASTE LESS</a:t>
            </a:r>
            <a:endParaRPr/>
          </a:p>
        </p:txBody>
      </p:sp>
      <p:sp>
        <p:nvSpPr>
          <p:cNvPr id="29" name="Google Shape;29;p1"/>
          <p:cNvSpPr/>
          <p:nvPr/>
        </p:nvSpPr>
        <p:spPr>
          <a:xfrm>
            <a:off x="7381875" y="457200"/>
            <a:ext cx="3238500" cy="5905500"/>
          </a:xfrm>
          <a:prstGeom prst="roundRect">
            <a:avLst>
              <a:gd fmla="val 7059" name="adj"/>
            </a:avLst>
          </a:prstGeom>
          <a:solidFill>
            <a:srgbClr val="FFFFFF"/>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 name="Google Shape;30;p1"/>
          <p:cNvPicPr preferRelativeResize="0"/>
          <p:nvPr/>
        </p:nvPicPr>
        <p:blipFill rotWithShape="1">
          <a:blip r:embed="rId3">
            <a:alphaModFix/>
          </a:blip>
          <a:srcRect b="0" l="0" r="0" t="0"/>
          <a:stretch/>
        </p:blipFill>
        <p:spPr>
          <a:xfrm>
            <a:off x="7715250" y="593677"/>
            <a:ext cx="2571750" cy="5575397"/>
          </a:xfrm>
          <a:prstGeom prst="roundRect">
            <a:avLst>
              <a:gd fmla="val 8889" name="adj"/>
            </a:avLst>
          </a:prstGeom>
          <a:noFill/>
          <a:ln>
            <a:noFill/>
          </a:ln>
        </p:spPr>
      </p:pic>
      <p:sp>
        <p:nvSpPr>
          <p:cNvPr id="31" name="Google Shape;31;p1"/>
          <p:cNvSpPr/>
          <p:nvPr/>
        </p:nvSpPr>
        <p:spPr>
          <a:xfrm>
            <a:off x="647700" y="5772150"/>
            <a:ext cx="2871300" cy="857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736D67"/>
                </a:solidFill>
                <a:latin typeface="Calibri"/>
                <a:ea typeface="Calibri"/>
                <a:cs typeface="Calibri"/>
                <a:sym typeface="Calibri"/>
              </a:rPr>
              <a:t>Gress</a:t>
            </a:r>
            <a:endParaRPr b="1" sz="1200">
              <a:solidFill>
                <a:srgbClr val="736D67"/>
              </a:solidFill>
              <a:latin typeface="Calibri"/>
              <a:ea typeface="Calibri"/>
              <a:cs typeface="Calibri"/>
              <a:sym typeface="Calibri"/>
            </a:endParaRPr>
          </a:p>
          <a:p>
            <a:pPr indent="0" lvl="0" marL="0" marR="0" rtl="0" algn="l">
              <a:spcBef>
                <a:spcPts val="0"/>
              </a:spcBef>
              <a:spcAft>
                <a:spcPts val="0"/>
              </a:spcAft>
              <a:buNone/>
            </a:pPr>
            <a:r>
              <a:rPr b="1" lang="en-US" sz="1200">
                <a:solidFill>
                  <a:srgbClr val="736D67"/>
                </a:solidFill>
                <a:latin typeface="Calibri"/>
                <a:ea typeface="Calibri"/>
                <a:cs typeface="Calibri"/>
                <a:sym typeface="Calibri"/>
              </a:rPr>
              <a:t>Haoxuan Sun MBIS          Max Wu MIT</a:t>
            </a:r>
            <a:endParaRPr b="1" sz="1200">
              <a:solidFill>
                <a:srgbClr val="736D67"/>
              </a:solidFill>
              <a:latin typeface="Calibri"/>
              <a:ea typeface="Calibri"/>
              <a:cs typeface="Calibri"/>
              <a:sym typeface="Calibri"/>
            </a:endParaRPr>
          </a:p>
          <a:p>
            <a:pPr indent="0" lvl="0" marL="0" marR="0" rtl="0" algn="l">
              <a:spcBef>
                <a:spcPts val="0"/>
              </a:spcBef>
              <a:spcAft>
                <a:spcPts val="0"/>
              </a:spcAft>
              <a:buNone/>
            </a:pPr>
            <a:r>
              <a:rPr b="1" lang="en-US" sz="1200">
                <a:solidFill>
                  <a:srgbClr val="736D67"/>
                </a:solidFill>
                <a:latin typeface="Calibri"/>
                <a:ea typeface="Calibri"/>
                <a:cs typeface="Calibri"/>
                <a:sym typeface="Calibri"/>
              </a:rPr>
              <a:t>Chang Lei MCS                  Yang Qiao MDS</a:t>
            </a:r>
            <a:endParaRPr b="1" sz="1200">
              <a:solidFill>
                <a:srgbClr val="736D67"/>
              </a:solidFill>
              <a:latin typeface="Calibri"/>
              <a:ea typeface="Calibri"/>
              <a:cs typeface="Calibri"/>
              <a:sym typeface="Calibri"/>
            </a:endParaRPr>
          </a:p>
          <a:p>
            <a:pPr indent="0" lvl="0" marL="0" marR="0" rtl="0" algn="l">
              <a:spcBef>
                <a:spcPts val="0"/>
              </a:spcBef>
              <a:spcAft>
                <a:spcPts val="0"/>
              </a:spcAft>
              <a:buNone/>
            </a:pPr>
            <a:r>
              <a:rPr b="1" lang="en-US" sz="1200">
                <a:solidFill>
                  <a:srgbClr val="736D67"/>
                </a:solidFill>
                <a:latin typeface="Calibri"/>
                <a:ea typeface="Calibri"/>
                <a:cs typeface="Calibri"/>
                <a:sym typeface="Calibri"/>
              </a:rPr>
              <a:t>Jingduo Zhang MIT</a:t>
            </a:r>
            <a:endParaRPr b="1" sz="1200">
              <a:solidFill>
                <a:srgbClr val="736D67"/>
              </a:solidFill>
              <a:latin typeface="Calibri"/>
              <a:ea typeface="Calibri"/>
              <a:cs typeface="Calibri"/>
              <a:sym typeface="Calibri"/>
            </a:endParaRPr>
          </a:p>
        </p:txBody>
      </p:sp>
      <p:sp>
        <p:nvSpPr>
          <p:cNvPr id="32" name="Google Shape;32;p1"/>
          <p:cNvSpPr/>
          <p:nvPr/>
        </p:nvSpPr>
        <p:spPr>
          <a:xfrm>
            <a:off x="11201400" y="6324600"/>
            <a:ext cx="3810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00">
                <a:solidFill>
                  <a:srgbClr val="736D67"/>
                </a:solidFill>
                <a:latin typeface="Calibri"/>
                <a:ea typeface="Calibri"/>
                <a:cs typeface="Calibri"/>
                <a:sym typeface="Calibri"/>
              </a:rPr>
              <a:t>01</a:t>
            </a:r>
            <a:endParaRPr/>
          </a:p>
        </p:txBody>
      </p:sp>
      <p:sp>
        <p:nvSpPr>
          <p:cNvPr id="33" name="Google Shape;33;p1"/>
          <p:cNvSpPr/>
          <p:nvPr/>
        </p:nvSpPr>
        <p:spPr>
          <a:xfrm>
            <a:off x="190500" y="2224088"/>
            <a:ext cx="6972300" cy="1524000"/>
          </a:xfrm>
          <a:prstGeom prst="roundRect">
            <a:avLst>
              <a:gd fmla="val 15686"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1"/>
          <p:cNvSpPr/>
          <p:nvPr/>
        </p:nvSpPr>
        <p:spPr>
          <a:xfrm>
            <a:off x="361950" y="2297044"/>
            <a:ext cx="20955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50">
                <a:solidFill>
                  <a:srgbClr val="D94C16"/>
                </a:solidFill>
                <a:latin typeface="Calibri"/>
                <a:ea typeface="Calibri"/>
                <a:cs typeface="Calibri"/>
                <a:sym typeface="Calibri"/>
              </a:rPr>
              <a:t>Problem Statement</a:t>
            </a:r>
            <a:endParaRPr sz="1900"/>
          </a:p>
        </p:txBody>
      </p:sp>
      <p:sp>
        <p:nvSpPr>
          <p:cNvPr id="35" name="Google Shape;35;p1"/>
          <p:cNvSpPr/>
          <p:nvPr/>
        </p:nvSpPr>
        <p:spPr>
          <a:xfrm>
            <a:off x="361950" y="2624138"/>
            <a:ext cx="6547800" cy="857400"/>
          </a:xfrm>
          <a:prstGeom prst="rect">
            <a:avLst/>
          </a:prstGeom>
          <a:noFill/>
          <a:ln>
            <a:noFill/>
          </a:ln>
        </p:spPr>
        <p:txBody>
          <a:bodyPr anchorCtr="0" anchor="t" bIns="45700" lIns="91425" spcFirstLastPara="1" rIns="91425" wrap="square" tIns="45700">
            <a:noAutofit/>
          </a:bodyPr>
          <a:lstStyle/>
          <a:p>
            <a:pPr indent="0" lvl="0" marL="73025" marR="73025" rtl="0" algn="just">
              <a:lnSpc>
                <a:spcPct val="117916"/>
              </a:lnSpc>
              <a:spcBef>
                <a:spcPts val="300"/>
              </a:spcBef>
              <a:spcAft>
                <a:spcPts val="900"/>
              </a:spcAft>
              <a:buSzPts val="1100"/>
              <a:buNone/>
            </a:pPr>
            <a:r>
              <a:rPr lang="en-US" sz="1300">
                <a:solidFill>
                  <a:srgbClr val="667085"/>
                </a:solidFill>
                <a:latin typeface="Aptos"/>
                <a:ea typeface="Aptos"/>
                <a:cs typeface="Aptos"/>
                <a:sym typeface="Aptos"/>
              </a:rPr>
              <a:t>Australian young adults aged between 18 and 35 who do the grocery shopping often find it hard to identify the food which is already at home. Besides, the changing meals planning, poor visibility of remaining food and uncertainty of leftovers also lead to the edible food being forgotten or thrown away.</a:t>
            </a:r>
            <a:endParaRPr b="1" sz="1700">
              <a:solidFill>
                <a:srgbClr val="211E1B"/>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0" name="Shape 40"/>
        <p:cNvGrpSpPr/>
        <p:nvPr/>
      </p:nvGrpSpPr>
      <p:grpSpPr>
        <a:xfrm>
          <a:off x="0" y="0"/>
          <a:ext cx="0" cy="0"/>
          <a:chOff x="0" y="0"/>
          <a:chExt cx="0" cy="0"/>
        </a:xfrm>
      </p:grpSpPr>
      <p:sp>
        <p:nvSpPr>
          <p:cNvPr id="41" name="Google Shape;41;p2"/>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THE PROBLEM IS REAL</a:t>
            </a:r>
            <a:endParaRPr/>
          </a:p>
        </p:txBody>
      </p:sp>
      <p:sp>
        <p:nvSpPr>
          <p:cNvPr id="42" name="Google Shape;42;p2"/>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Australia’s food waste problem starts at home</a:t>
            </a:r>
            <a:endParaRPr/>
          </a:p>
        </p:txBody>
      </p:sp>
      <p:sp>
        <p:nvSpPr>
          <p:cNvPr id="43" name="Google Shape;43;p2"/>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02</a:t>
            </a:r>
            <a:endParaRPr/>
          </a:p>
        </p:txBody>
      </p:sp>
      <p:sp>
        <p:nvSpPr>
          <p:cNvPr id="44" name="Google Shape;44;p2"/>
          <p:cNvSpPr/>
          <p:nvPr/>
        </p:nvSpPr>
        <p:spPr>
          <a:xfrm>
            <a:off x="609600" y="1428750"/>
            <a:ext cx="6972300" cy="2152650"/>
          </a:xfrm>
          <a:prstGeom prst="roundRect">
            <a:avLst>
              <a:gd fmla="val 10619" name="adj"/>
            </a:avLst>
          </a:prstGeom>
          <a:solidFill>
            <a:srgbClr val="211E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895350" y="1600200"/>
            <a:ext cx="29527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4950">
                <a:solidFill>
                  <a:srgbClr val="FF8A45"/>
                </a:solidFill>
                <a:latin typeface="Calibri"/>
                <a:ea typeface="Calibri"/>
                <a:cs typeface="Calibri"/>
                <a:sym typeface="Calibri"/>
              </a:rPr>
              <a:t>7.6M</a:t>
            </a:r>
            <a:endParaRPr/>
          </a:p>
        </p:txBody>
      </p:sp>
      <p:sp>
        <p:nvSpPr>
          <p:cNvPr id="46" name="Google Shape;46;p2"/>
          <p:cNvSpPr/>
          <p:nvPr/>
        </p:nvSpPr>
        <p:spPr>
          <a:xfrm>
            <a:off x="914400" y="2533650"/>
            <a:ext cx="342900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FFFFFF"/>
                </a:solidFill>
                <a:latin typeface="Calibri"/>
                <a:ea typeface="Calibri"/>
                <a:cs typeface="Calibri"/>
                <a:sym typeface="Calibri"/>
              </a:rPr>
              <a:t>tonnes of food wasted every year</a:t>
            </a:r>
            <a:endParaRPr/>
          </a:p>
        </p:txBody>
      </p:sp>
      <p:sp>
        <p:nvSpPr>
          <p:cNvPr id="47" name="Google Shape;47;p2"/>
          <p:cNvSpPr/>
          <p:nvPr/>
        </p:nvSpPr>
        <p:spPr>
          <a:xfrm>
            <a:off x="4762500" y="1714500"/>
            <a:ext cx="22669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175">
                <a:solidFill>
                  <a:srgbClr val="FFFFFF"/>
                </a:solidFill>
                <a:latin typeface="Calibri"/>
                <a:ea typeface="Calibri"/>
                <a:cs typeface="Calibri"/>
                <a:sym typeface="Calibri"/>
              </a:rPr>
              <a:t>2.5M tonnes</a:t>
            </a:r>
            <a:endParaRPr/>
          </a:p>
        </p:txBody>
      </p:sp>
      <p:sp>
        <p:nvSpPr>
          <p:cNvPr id="48" name="Google Shape;48;p2"/>
          <p:cNvSpPr/>
          <p:nvPr/>
        </p:nvSpPr>
        <p:spPr>
          <a:xfrm>
            <a:off x="4762500" y="2124075"/>
            <a:ext cx="22669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FFFFFF"/>
                </a:solidFill>
                <a:latin typeface="Calibri"/>
                <a:ea typeface="Calibri"/>
                <a:cs typeface="Calibri"/>
                <a:sym typeface="Calibri"/>
              </a:rPr>
              <a:t>comes from households</a:t>
            </a:r>
            <a:endParaRPr/>
          </a:p>
        </p:txBody>
      </p:sp>
      <p:sp>
        <p:nvSpPr>
          <p:cNvPr id="49" name="Google Shape;49;p2"/>
          <p:cNvSpPr/>
          <p:nvPr/>
        </p:nvSpPr>
        <p:spPr>
          <a:xfrm>
            <a:off x="4762500" y="2647950"/>
            <a:ext cx="952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250">
                <a:solidFill>
                  <a:srgbClr val="FF8A45"/>
                </a:solidFill>
                <a:latin typeface="Calibri"/>
                <a:ea typeface="Calibri"/>
                <a:cs typeface="Calibri"/>
                <a:sym typeface="Calibri"/>
              </a:rPr>
              <a:t>≈3%</a:t>
            </a:r>
            <a:endParaRPr/>
          </a:p>
        </p:txBody>
      </p:sp>
      <p:sp>
        <p:nvSpPr>
          <p:cNvPr id="50" name="Google Shape;50;p2"/>
          <p:cNvSpPr/>
          <p:nvPr/>
        </p:nvSpPr>
        <p:spPr>
          <a:xfrm>
            <a:off x="5715000" y="2724150"/>
            <a:ext cx="1524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FFFFFF"/>
                </a:solidFill>
                <a:latin typeface="Calibri"/>
                <a:ea typeface="Calibri"/>
                <a:cs typeface="Calibri"/>
                <a:sym typeface="Calibri"/>
              </a:rPr>
              <a:t>of Australia’s GHG emissions</a:t>
            </a:r>
            <a:endParaRPr/>
          </a:p>
        </p:txBody>
      </p:sp>
      <p:sp>
        <p:nvSpPr>
          <p:cNvPr id="51" name="Google Shape;51;p2"/>
          <p:cNvSpPr/>
          <p:nvPr/>
        </p:nvSpPr>
        <p:spPr>
          <a:xfrm>
            <a:off x="7905750" y="1428750"/>
            <a:ext cx="3676650" cy="2152650"/>
          </a:xfrm>
          <a:prstGeom prst="roundRect">
            <a:avLst>
              <a:gd fmla="val 10619"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2"/>
          <p:cNvSpPr/>
          <p:nvPr/>
        </p:nvSpPr>
        <p:spPr>
          <a:xfrm>
            <a:off x="8210550" y="1676400"/>
            <a:ext cx="1333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UNDER 35</a:t>
            </a:r>
            <a:endParaRPr/>
          </a:p>
        </p:txBody>
      </p:sp>
      <p:sp>
        <p:nvSpPr>
          <p:cNvPr id="53" name="Google Shape;53;p2"/>
          <p:cNvSpPr/>
          <p:nvPr/>
        </p:nvSpPr>
        <p:spPr>
          <a:xfrm>
            <a:off x="8210550" y="1981200"/>
            <a:ext cx="2095500"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25">
                <a:solidFill>
                  <a:srgbClr val="211E1B"/>
                </a:solidFill>
                <a:latin typeface="Calibri"/>
                <a:ea typeface="Calibri"/>
                <a:cs typeface="Calibri"/>
                <a:sym typeface="Calibri"/>
              </a:rPr>
              <a:t>113 kg</a:t>
            </a:r>
            <a:endParaRPr/>
          </a:p>
        </p:txBody>
      </p:sp>
      <p:sp>
        <p:nvSpPr>
          <p:cNvPr id="54" name="Google Shape;54;p2"/>
          <p:cNvSpPr/>
          <p:nvPr/>
        </p:nvSpPr>
        <p:spPr>
          <a:xfrm>
            <a:off x="8210550" y="2514600"/>
            <a:ext cx="2571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211E1B"/>
                </a:solidFill>
                <a:latin typeface="Calibri"/>
                <a:ea typeface="Calibri"/>
                <a:cs typeface="Calibri"/>
                <a:sym typeface="Calibri"/>
              </a:rPr>
              <a:t>food wasted per year</a:t>
            </a:r>
            <a:endParaRPr/>
          </a:p>
        </p:txBody>
      </p:sp>
      <p:sp>
        <p:nvSpPr>
          <p:cNvPr id="55" name="Google Shape;55;p2"/>
          <p:cNvSpPr/>
          <p:nvPr/>
        </p:nvSpPr>
        <p:spPr>
          <a:xfrm>
            <a:off x="8210550" y="2905125"/>
            <a:ext cx="14287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25">
                <a:solidFill>
                  <a:srgbClr val="D94C16"/>
                </a:solidFill>
                <a:latin typeface="Calibri"/>
                <a:ea typeface="Calibri"/>
                <a:cs typeface="Calibri"/>
                <a:sym typeface="Calibri"/>
              </a:rPr>
              <a:t>$1,500</a:t>
            </a:r>
            <a:endParaRPr/>
          </a:p>
        </p:txBody>
      </p:sp>
      <p:sp>
        <p:nvSpPr>
          <p:cNvPr id="56" name="Google Shape;56;p2"/>
          <p:cNvSpPr/>
          <p:nvPr/>
        </p:nvSpPr>
        <p:spPr>
          <a:xfrm>
            <a:off x="9639300" y="2971800"/>
            <a:ext cx="16764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50">
                <a:solidFill>
                  <a:srgbClr val="736D67"/>
                </a:solidFill>
                <a:latin typeface="Calibri"/>
                <a:ea typeface="Calibri"/>
                <a:cs typeface="Calibri"/>
                <a:sym typeface="Calibri"/>
              </a:rPr>
              <a:t>≈71% more than older households</a:t>
            </a:r>
            <a:endParaRPr/>
          </a:p>
        </p:txBody>
      </p:sp>
      <p:sp>
        <p:nvSpPr>
          <p:cNvPr id="57" name="Google Shape;57;p2"/>
          <p:cNvSpPr/>
          <p:nvPr/>
        </p:nvSpPr>
        <p:spPr>
          <a:xfrm>
            <a:off x="609600" y="4106788"/>
            <a:ext cx="1866900" cy="1341600"/>
          </a:xfrm>
          <a:prstGeom prst="roundRect">
            <a:avLst>
              <a:gd fmla="val 15686"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2"/>
          <p:cNvSpPr/>
          <p:nvPr/>
        </p:nvSpPr>
        <p:spPr>
          <a:xfrm>
            <a:off x="833975" y="4357688"/>
            <a:ext cx="1524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50">
                <a:solidFill>
                  <a:srgbClr val="D94C16"/>
                </a:solidFill>
                <a:latin typeface="Calibri"/>
                <a:ea typeface="Calibri"/>
                <a:cs typeface="Calibri"/>
                <a:sym typeface="Calibri"/>
              </a:rPr>
              <a:t>FOOD</a:t>
            </a:r>
            <a:endParaRPr sz="1600"/>
          </a:p>
        </p:txBody>
      </p:sp>
      <p:sp>
        <p:nvSpPr>
          <p:cNvPr id="59" name="Google Shape;59;p2"/>
          <p:cNvSpPr/>
          <p:nvPr/>
        </p:nvSpPr>
        <p:spPr>
          <a:xfrm>
            <a:off x="781200" y="4721150"/>
            <a:ext cx="15240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211E1B"/>
                </a:solidFill>
                <a:latin typeface="Calibri"/>
                <a:ea typeface="Calibri"/>
                <a:cs typeface="Calibri"/>
                <a:sym typeface="Calibri"/>
              </a:rPr>
              <a:t>Production, land, water</a:t>
            </a:r>
            <a:endParaRPr sz="1700"/>
          </a:p>
        </p:txBody>
      </p:sp>
      <p:sp>
        <p:nvSpPr>
          <p:cNvPr id="60" name="Google Shape;60;p2"/>
          <p:cNvSpPr/>
          <p:nvPr/>
        </p:nvSpPr>
        <p:spPr>
          <a:xfrm>
            <a:off x="2533650" y="4762500"/>
            <a:ext cx="4002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100">
                <a:solidFill>
                  <a:srgbClr val="FF6B2C"/>
                </a:solidFill>
                <a:latin typeface="Calibri"/>
                <a:ea typeface="Calibri"/>
                <a:cs typeface="Calibri"/>
                <a:sym typeface="Calibri"/>
              </a:rPr>
              <a:t>→</a:t>
            </a:r>
            <a:endParaRPr/>
          </a:p>
        </p:txBody>
      </p:sp>
      <p:sp>
        <p:nvSpPr>
          <p:cNvPr id="61" name="Google Shape;61;p2"/>
          <p:cNvSpPr/>
          <p:nvPr/>
        </p:nvSpPr>
        <p:spPr>
          <a:xfrm>
            <a:off x="2990850" y="4106850"/>
            <a:ext cx="1866900" cy="1341600"/>
          </a:xfrm>
          <a:prstGeom prst="roundRect">
            <a:avLst>
              <a:gd fmla="val 15686"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2"/>
          <p:cNvSpPr/>
          <p:nvPr/>
        </p:nvSpPr>
        <p:spPr>
          <a:xfrm>
            <a:off x="3162300" y="4357688"/>
            <a:ext cx="1524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50">
                <a:solidFill>
                  <a:srgbClr val="18BBD1"/>
                </a:solidFill>
                <a:latin typeface="Calibri"/>
                <a:ea typeface="Calibri"/>
                <a:cs typeface="Calibri"/>
                <a:sym typeface="Calibri"/>
              </a:rPr>
              <a:t>ENERGY</a:t>
            </a:r>
            <a:endParaRPr sz="1600"/>
          </a:p>
        </p:txBody>
      </p:sp>
      <p:sp>
        <p:nvSpPr>
          <p:cNvPr id="63" name="Google Shape;63;p2"/>
          <p:cNvSpPr/>
          <p:nvPr/>
        </p:nvSpPr>
        <p:spPr>
          <a:xfrm>
            <a:off x="3162375" y="4738600"/>
            <a:ext cx="1524000" cy="51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211E1B"/>
                </a:solidFill>
                <a:latin typeface="Calibri"/>
                <a:ea typeface="Calibri"/>
                <a:cs typeface="Calibri"/>
                <a:sym typeface="Calibri"/>
              </a:rPr>
              <a:t>Cold chain + cooking</a:t>
            </a:r>
            <a:endParaRPr sz="1700"/>
          </a:p>
        </p:txBody>
      </p:sp>
      <p:sp>
        <p:nvSpPr>
          <p:cNvPr id="64" name="Google Shape;64;p2"/>
          <p:cNvSpPr/>
          <p:nvPr/>
        </p:nvSpPr>
        <p:spPr>
          <a:xfrm>
            <a:off x="4914900" y="4762500"/>
            <a:ext cx="4002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100">
                <a:solidFill>
                  <a:srgbClr val="FF6B2C"/>
                </a:solidFill>
                <a:latin typeface="Calibri"/>
                <a:ea typeface="Calibri"/>
                <a:cs typeface="Calibri"/>
                <a:sym typeface="Calibri"/>
              </a:rPr>
              <a:t>→</a:t>
            </a:r>
            <a:endParaRPr/>
          </a:p>
        </p:txBody>
      </p:sp>
      <p:sp>
        <p:nvSpPr>
          <p:cNvPr id="65" name="Google Shape;65;p2"/>
          <p:cNvSpPr/>
          <p:nvPr/>
        </p:nvSpPr>
        <p:spPr>
          <a:xfrm>
            <a:off x="5372100" y="4106850"/>
            <a:ext cx="1866900" cy="1341600"/>
          </a:xfrm>
          <a:prstGeom prst="roundRect">
            <a:avLst>
              <a:gd fmla="val 15686"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2"/>
          <p:cNvSpPr/>
          <p:nvPr/>
        </p:nvSpPr>
        <p:spPr>
          <a:xfrm>
            <a:off x="5591175" y="4357688"/>
            <a:ext cx="1524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50">
                <a:solidFill>
                  <a:srgbClr val="2FA866"/>
                </a:solidFill>
                <a:latin typeface="Calibri"/>
                <a:ea typeface="Calibri"/>
                <a:cs typeface="Calibri"/>
                <a:sym typeface="Calibri"/>
              </a:rPr>
              <a:t>WASTE</a:t>
            </a:r>
            <a:endParaRPr sz="1600"/>
          </a:p>
        </p:txBody>
      </p:sp>
      <p:sp>
        <p:nvSpPr>
          <p:cNvPr id="67" name="Google Shape;67;p2"/>
          <p:cNvSpPr/>
          <p:nvPr/>
        </p:nvSpPr>
        <p:spPr>
          <a:xfrm>
            <a:off x="5591175" y="4729088"/>
            <a:ext cx="15240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211E1B"/>
                </a:solidFill>
                <a:latin typeface="Calibri"/>
                <a:ea typeface="Calibri"/>
                <a:cs typeface="Calibri"/>
                <a:sym typeface="Calibri"/>
              </a:rPr>
              <a:t>Disposal + methane</a:t>
            </a:r>
            <a:endParaRPr sz="1700"/>
          </a:p>
        </p:txBody>
      </p:sp>
      <p:sp>
        <p:nvSpPr>
          <p:cNvPr id="68" name="Google Shape;68;p2"/>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2"/>
          <p:cNvSpPr/>
          <p:nvPr/>
        </p:nvSpPr>
        <p:spPr>
          <a:xfrm>
            <a:off x="609600" y="6553200"/>
            <a:ext cx="10001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a:solidFill>
                  <a:srgbClr val="736D67"/>
                </a:solidFill>
                <a:latin typeface="Calibri"/>
                <a:ea typeface="Calibri"/>
                <a:cs typeface="Calibri"/>
                <a:sym typeface="Calibri"/>
              </a:rPr>
              <a:t>Sources: DCCEEW (2025); OzHarvest Half Eaten (2025, n=3,005); UN SDG 13.3</a:t>
            </a:r>
            <a:endParaRPr/>
          </a:p>
        </p:txBody>
      </p:sp>
      <p:sp>
        <p:nvSpPr>
          <p:cNvPr id="70" name="Google Shape;70;p2"/>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2</a:t>
            </a:r>
            <a:endParaRPr/>
          </a:p>
        </p:txBody>
      </p:sp>
      <p:sp>
        <p:nvSpPr>
          <p:cNvPr id="71" name="Google Shape;71;p2"/>
          <p:cNvSpPr/>
          <p:nvPr/>
        </p:nvSpPr>
        <p:spPr>
          <a:xfrm>
            <a:off x="7848600" y="3886200"/>
            <a:ext cx="3733800" cy="1524000"/>
          </a:xfrm>
          <a:prstGeom prst="roundRect">
            <a:avLst>
              <a:gd fmla="val 15000" name="adj"/>
            </a:avLst>
          </a:prstGeom>
          <a:solidFill>
            <a:srgbClr val="074E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AE2D5"/>
              </a:solidFill>
              <a:highlight>
                <a:srgbClr val="FFFF00"/>
              </a:highlight>
              <a:latin typeface="Calibri"/>
              <a:ea typeface="Calibri"/>
              <a:cs typeface="Calibri"/>
              <a:sym typeface="Calibri"/>
            </a:endParaRPr>
          </a:p>
        </p:txBody>
      </p:sp>
      <p:sp>
        <p:nvSpPr>
          <p:cNvPr id="72" name="Google Shape;72;p2"/>
          <p:cNvSpPr/>
          <p:nvPr/>
        </p:nvSpPr>
        <p:spPr>
          <a:xfrm>
            <a:off x="8096250" y="4019550"/>
            <a:ext cx="15621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250">
                <a:solidFill>
                  <a:srgbClr val="FFFFFF"/>
                </a:solidFill>
                <a:latin typeface="Calibri"/>
                <a:ea typeface="Calibri"/>
                <a:cs typeface="Calibri"/>
                <a:sym typeface="Calibri"/>
              </a:rPr>
              <a:t>SDG 13</a:t>
            </a:r>
            <a:endParaRPr/>
          </a:p>
        </p:txBody>
      </p:sp>
      <p:sp>
        <p:nvSpPr>
          <p:cNvPr id="73" name="Google Shape;73;p2"/>
          <p:cNvSpPr/>
          <p:nvPr/>
        </p:nvSpPr>
        <p:spPr>
          <a:xfrm>
            <a:off x="9544050" y="4057650"/>
            <a:ext cx="1733700" cy="342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400">
                <a:solidFill>
                  <a:srgbClr val="FFFFFF"/>
                </a:solidFill>
                <a:latin typeface="Calibri"/>
                <a:ea typeface="Calibri"/>
                <a:cs typeface="Calibri"/>
                <a:sym typeface="Calibri"/>
              </a:rPr>
              <a:t>CLIMATE</a:t>
            </a:r>
            <a:r>
              <a:rPr b="1" i="0" lang="en-US" sz="1200">
                <a:solidFill>
                  <a:srgbClr val="FFFFFF"/>
                </a:solidFill>
                <a:latin typeface="Calibri"/>
                <a:ea typeface="Calibri"/>
                <a:cs typeface="Calibri"/>
                <a:sym typeface="Calibri"/>
              </a:rPr>
              <a:t> </a:t>
            </a:r>
            <a:r>
              <a:rPr b="1" i="0" lang="en-US" sz="1400">
                <a:solidFill>
                  <a:srgbClr val="FFFFFF"/>
                </a:solidFill>
                <a:latin typeface="Calibri"/>
                <a:ea typeface="Calibri"/>
                <a:cs typeface="Calibri"/>
                <a:sym typeface="Calibri"/>
              </a:rPr>
              <a:t>ACTION</a:t>
            </a:r>
            <a:endParaRPr b="1" i="0" sz="1200">
              <a:solidFill>
                <a:srgbClr val="FFFFFF"/>
              </a:solidFill>
              <a:latin typeface="Calibri"/>
              <a:ea typeface="Calibri"/>
              <a:cs typeface="Calibri"/>
              <a:sym typeface="Calibri"/>
            </a:endParaRPr>
          </a:p>
        </p:txBody>
      </p:sp>
      <p:sp>
        <p:nvSpPr>
          <p:cNvPr id="74" name="Google Shape;74;p2"/>
          <p:cNvSpPr/>
          <p:nvPr/>
        </p:nvSpPr>
        <p:spPr>
          <a:xfrm>
            <a:off x="8134350" y="4454448"/>
            <a:ext cx="30291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13.3 · awareness that becomes action</a:t>
            </a:r>
            <a:endParaRPr/>
          </a:p>
        </p:txBody>
      </p:sp>
      <p:sp>
        <p:nvSpPr>
          <p:cNvPr id="75" name="Google Shape;75;p2"/>
          <p:cNvSpPr/>
          <p:nvPr/>
        </p:nvSpPr>
        <p:spPr>
          <a:xfrm>
            <a:off x="8124825" y="4799206"/>
            <a:ext cx="30291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FFFFFF"/>
                </a:solidFill>
                <a:latin typeface="Calibri"/>
                <a:ea typeface="Calibri"/>
                <a:cs typeface="Calibri"/>
                <a:sym typeface="Calibri"/>
              </a:rPr>
              <a:t>KitchMemo makes the lower-waste choice visible when users cook and shop.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E"/>
        </a:solidFill>
      </p:bgPr>
    </p:bg>
    <p:spTree>
      <p:nvGrpSpPr>
        <p:cNvPr id="80" name="Shape 80"/>
        <p:cNvGrpSpPr/>
        <p:nvPr/>
      </p:nvGrpSpPr>
      <p:grpSpPr>
        <a:xfrm>
          <a:off x="0" y="0"/>
          <a:ext cx="0" cy="0"/>
          <a:chOff x="0" y="0"/>
          <a:chExt cx="0" cy="0"/>
        </a:xfrm>
      </p:grpSpPr>
      <p:sp>
        <p:nvSpPr>
          <p:cNvPr id="81" name="Google Shape;81;p3"/>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WHY IT HAPPENS + WHO WE SERVE</a:t>
            </a:r>
            <a:endParaRPr/>
          </a:p>
        </p:txBody>
      </p:sp>
      <p:sp>
        <p:nvSpPr>
          <p:cNvPr id="82" name="Google Shape;82;p3"/>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The gap is everyday visibility—not good intentions</a:t>
            </a:r>
            <a:endParaRPr/>
          </a:p>
        </p:txBody>
      </p:sp>
      <p:sp>
        <p:nvSpPr>
          <p:cNvPr id="83" name="Google Shape;83;p3"/>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03</a:t>
            </a:r>
            <a:endParaRPr/>
          </a:p>
        </p:txBody>
      </p:sp>
      <p:sp>
        <p:nvSpPr>
          <p:cNvPr id="84" name="Google Shape;84;p3"/>
          <p:cNvSpPr/>
          <p:nvPr/>
        </p:nvSpPr>
        <p:spPr>
          <a:xfrm>
            <a:off x="609600" y="1466850"/>
            <a:ext cx="60960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75">
                <a:solidFill>
                  <a:srgbClr val="211E1B"/>
                </a:solidFill>
                <a:latin typeface="Calibri"/>
                <a:ea typeface="Calibri"/>
                <a:cs typeface="Calibri"/>
                <a:sym typeface="Calibri"/>
              </a:rPr>
              <a:t>Households waste more than twice what they think</a:t>
            </a:r>
            <a:endParaRPr/>
          </a:p>
        </p:txBody>
      </p:sp>
      <p:sp>
        <p:nvSpPr>
          <p:cNvPr id="85" name="Google Shape;85;p3"/>
          <p:cNvSpPr/>
          <p:nvPr/>
        </p:nvSpPr>
        <p:spPr>
          <a:xfrm>
            <a:off x="609600" y="2095500"/>
            <a:ext cx="1524000" cy="438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FF6B2C"/>
                </a:solidFill>
                <a:latin typeface="Calibri"/>
                <a:ea typeface="Calibri"/>
                <a:cs typeface="Calibri"/>
                <a:sym typeface="Calibri"/>
              </a:rPr>
              <a:t>4.22 kg</a:t>
            </a:r>
            <a:endParaRPr/>
          </a:p>
        </p:txBody>
      </p:sp>
      <p:sp>
        <p:nvSpPr>
          <p:cNvPr id="86" name="Google Shape;86;p3"/>
          <p:cNvSpPr/>
          <p:nvPr/>
        </p:nvSpPr>
        <p:spPr>
          <a:xfrm>
            <a:off x="2209800" y="2200275"/>
            <a:ext cx="19050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75">
                <a:solidFill>
                  <a:srgbClr val="211E1B"/>
                </a:solidFill>
                <a:latin typeface="Calibri"/>
                <a:ea typeface="Calibri"/>
                <a:cs typeface="Calibri"/>
                <a:sym typeface="Calibri"/>
              </a:rPr>
              <a:t>actual weekly waste</a:t>
            </a:r>
            <a:endParaRPr/>
          </a:p>
        </p:txBody>
      </p:sp>
      <p:sp>
        <p:nvSpPr>
          <p:cNvPr id="87" name="Google Shape;87;p3"/>
          <p:cNvSpPr/>
          <p:nvPr/>
        </p:nvSpPr>
        <p:spPr>
          <a:xfrm>
            <a:off x="609600" y="2647950"/>
            <a:ext cx="5334000" cy="323850"/>
          </a:xfrm>
          <a:prstGeom prst="roundRect">
            <a:avLst>
              <a:gd fmla="val 50000"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3"/>
          <p:cNvSpPr/>
          <p:nvPr/>
        </p:nvSpPr>
        <p:spPr>
          <a:xfrm>
            <a:off x="609600" y="2647950"/>
            <a:ext cx="5334000" cy="323850"/>
          </a:xfrm>
          <a:prstGeom prst="roundRect">
            <a:avLst>
              <a:gd fmla="val 50000" name="adj"/>
            </a:avLst>
          </a:prstGeom>
          <a:solidFill>
            <a:srgbClr val="FF6B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3"/>
          <p:cNvSpPr/>
          <p:nvPr/>
        </p:nvSpPr>
        <p:spPr>
          <a:xfrm>
            <a:off x="609600" y="3200400"/>
            <a:ext cx="1524000" cy="438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736D67"/>
                </a:solidFill>
                <a:latin typeface="Calibri"/>
                <a:ea typeface="Calibri"/>
                <a:cs typeface="Calibri"/>
                <a:sym typeface="Calibri"/>
              </a:rPr>
              <a:t>2.03 kg</a:t>
            </a:r>
            <a:endParaRPr/>
          </a:p>
        </p:txBody>
      </p:sp>
      <p:sp>
        <p:nvSpPr>
          <p:cNvPr id="90" name="Google Shape;90;p3"/>
          <p:cNvSpPr/>
          <p:nvPr/>
        </p:nvSpPr>
        <p:spPr>
          <a:xfrm>
            <a:off x="2209800" y="3305175"/>
            <a:ext cx="2095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75">
                <a:solidFill>
                  <a:srgbClr val="211E1B"/>
                </a:solidFill>
                <a:latin typeface="Calibri"/>
                <a:ea typeface="Calibri"/>
                <a:cs typeface="Calibri"/>
                <a:sym typeface="Calibri"/>
              </a:rPr>
              <a:t>perceived weekly waste</a:t>
            </a:r>
            <a:endParaRPr/>
          </a:p>
        </p:txBody>
      </p:sp>
      <p:sp>
        <p:nvSpPr>
          <p:cNvPr id="91" name="Google Shape;91;p3"/>
          <p:cNvSpPr/>
          <p:nvPr/>
        </p:nvSpPr>
        <p:spPr>
          <a:xfrm>
            <a:off x="609600" y="3752850"/>
            <a:ext cx="5334000" cy="323850"/>
          </a:xfrm>
          <a:prstGeom prst="roundRect">
            <a:avLst>
              <a:gd fmla="val 50000" name="adj"/>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3"/>
          <p:cNvSpPr/>
          <p:nvPr/>
        </p:nvSpPr>
        <p:spPr>
          <a:xfrm>
            <a:off x="609600" y="3752850"/>
            <a:ext cx="2562225" cy="323850"/>
          </a:xfrm>
          <a:prstGeom prst="roundRect">
            <a:avLst>
              <a:gd fmla="val 50000" name="adj"/>
            </a:avLst>
          </a:prstGeom>
          <a:solidFill>
            <a:srgbClr val="736D6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3"/>
          <p:cNvSpPr/>
          <p:nvPr/>
        </p:nvSpPr>
        <p:spPr>
          <a:xfrm>
            <a:off x="609600" y="4438650"/>
            <a:ext cx="27624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25">
                <a:solidFill>
                  <a:srgbClr val="211E1B"/>
                </a:solidFill>
                <a:latin typeface="Calibri"/>
                <a:ea typeface="Calibri"/>
                <a:cs typeface="Calibri"/>
                <a:sym typeface="Calibri"/>
              </a:rPr>
              <a:t>The recurring questions</a:t>
            </a:r>
            <a:endParaRPr sz="1700"/>
          </a:p>
        </p:txBody>
      </p:sp>
      <p:sp>
        <p:nvSpPr>
          <p:cNvPr id="94" name="Google Shape;94;p3"/>
          <p:cNvSpPr/>
          <p:nvPr/>
        </p:nvSpPr>
        <p:spPr>
          <a:xfrm>
            <a:off x="628650" y="4886324"/>
            <a:ext cx="600600" cy="20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a:solidFill>
                  <a:srgbClr val="D94C16"/>
                </a:solidFill>
                <a:latin typeface="Calibri"/>
                <a:ea typeface="Calibri"/>
                <a:cs typeface="Calibri"/>
                <a:sym typeface="Calibri"/>
              </a:rPr>
              <a:t>01</a:t>
            </a:r>
            <a:endParaRPr sz="1700"/>
          </a:p>
        </p:txBody>
      </p:sp>
      <p:sp>
        <p:nvSpPr>
          <p:cNvPr id="95" name="Google Shape;95;p3"/>
          <p:cNvSpPr/>
          <p:nvPr/>
        </p:nvSpPr>
        <p:spPr>
          <a:xfrm>
            <a:off x="1028700" y="4838700"/>
            <a:ext cx="40959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50">
                <a:solidFill>
                  <a:srgbClr val="211E1B"/>
                </a:solidFill>
                <a:latin typeface="Calibri"/>
                <a:ea typeface="Calibri"/>
                <a:cs typeface="Calibri"/>
                <a:sym typeface="Calibri"/>
              </a:rPr>
              <a:t>What do I already have?</a:t>
            </a:r>
            <a:endParaRPr sz="1700"/>
          </a:p>
        </p:txBody>
      </p:sp>
      <p:sp>
        <p:nvSpPr>
          <p:cNvPr id="96" name="Google Shape;96;p3"/>
          <p:cNvSpPr/>
          <p:nvPr/>
        </p:nvSpPr>
        <p:spPr>
          <a:xfrm>
            <a:off x="628650" y="5219700"/>
            <a:ext cx="499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a:solidFill>
                  <a:srgbClr val="D94C16"/>
                </a:solidFill>
                <a:latin typeface="Calibri"/>
                <a:ea typeface="Calibri"/>
                <a:cs typeface="Calibri"/>
                <a:sym typeface="Calibri"/>
              </a:rPr>
              <a:t>02</a:t>
            </a:r>
            <a:endParaRPr sz="1700"/>
          </a:p>
        </p:txBody>
      </p:sp>
      <p:sp>
        <p:nvSpPr>
          <p:cNvPr id="97" name="Google Shape;97;p3"/>
          <p:cNvSpPr/>
          <p:nvPr/>
        </p:nvSpPr>
        <p:spPr>
          <a:xfrm>
            <a:off x="1028700" y="5200650"/>
            <a:ext cx="40959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50">
                <a:solidFill>
                  <a:srgbClr val="211E1B"/>
                </a:solidFill>
                <a:latin typeface="Calibri"/>
                <a:ea typeface="Calibri"/>
                <a:cs typeface="Calibri"/>
                <a:sym typeface="Calibri"/>
              </a:rPr>
              <a:t>What should I use first?</a:t>
            </a:r>
            <a:endParaRPr sz="1700"/>
          </a:p>
        </p:txBody>
      </p:sp>
      <p:sp>
        <p:nvSpPr>
          <p:cNvPr id="98" name="Google Shape;98;p3"/>
          <p:cNvSpPr/>
          <p:nvPr/>
        </p:nvSpPr>
        <p:spPr>
          <a:xfrm>
            <a:off x="628650" y="5553075"/>
            <a:ext cx="499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a:solidFill>
                  <a:srgbClr val="D94C16"/>
                </a:solidFill>
                <a:latin typeface="Calibri"/>
                <a:ea typeface="Calibri"/>
                <a:cs typeface="Calibri"/>
                <a:sym typeface="Calibri"/>
              </a:rPr>
              <a:t>03</a:t>
            </a:r>
            <a:endParaRPr sz="1700"/>
          </a:p>
        </p:txBody>
      </p:sp>
      <p:sp>
        <p:nvSpPr>
          <p:cNvPr id="99" name="Google Shape;99;p3"/>
          <p:cNvSpPr/>
          <p:nvPr/>
        </p:nvSpPr>
        <p:spPr>
          <a:xfrm>
            <a:off x="1028700" y="5562600"/>
            <a:ext cx="40959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50">
                <a:solidFill>
                  <a:srgbClr val="211E1B"/>
                </a:solidFill>
                <a:latin typeface="Calibri"/>
                <a:ea typeface="Calibri"/>
                <a:cs typeface="Calibri"/>
                <a:sym typeface="Calibri"/>
              </a:rPr>
              <a:t>What can I cook now?</a:t>
            </a:r>
            <a:endParaRPr sz="1700"/>
          </a:p>
        </p:txBody>
      </p:sp>
      <p:sp>
        <p:nvSpPr>
          <p:cNvPr id="100" name="Google Shape;100;p3"/>
          <p:cNvSpPr/>
          <p:nvPr/>
        </p:nvSpPr>
        <p:spPr>
          <a:xfrm>
            <a:off x="6858000" y="1447800"/>
            <a:ext cx="4724400" cy="4572000"/>
          </a:xfrm>
          <a:prstGeom prst="roundRect">
            <a:avLst>
              <a:gd fmla="val 5000" name="adj"/>
            </a:avLst>
          </a:prstGeom>
          <a:solidFill>
            <a:srgbClr val="FFFFFF"/>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1" name="Google Shape;101;p3"/>
          <p:cNvSpPr/>
          <p:nvPr/>
        </p:nvSpPr>
        <p:spPr>
          <a:xfrm>
            <a:off x="7181850" y="1733550"/>
            <a:ext cx="1809750" cy="285750"/>
          </a:xfrm>
          <a:prstGeom prst="roundRect">
            <a:avLst>
              <a:gd fmla="val 50000"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3"/>
          <p:cNvSpPr/>
          <p:nvPr/>
        </p:nvSpPr>
        <p:spPr>
          <a:xfrm>
            <a:off x="7181850" y="1781175"/>
            <a:ext cx="1809750" cy="190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a:solidFill>
                  <a:srgbClr val="D94C16"/>
                </a:solidFill>
                <a:latin typeface="Calibri"/>
                <a:ea typeface="Calibri"/>
                <a:cs typeface="Calibri"/>
                <a:sym typeface="Calibri"/>
              </a:rPr>
              <a:t>SYNTHESISED PERSONA</a:t>
            </a:r>
            <a:endParaRPr/>
          </a:p>
        </p:txBody>
      </p:sp>
      <p:sp>
        <p:nvSpPr>
          <p:cNvPr id="103" name="Google Shape;103;p3"/>
          <p:cNvSpPr/>
          <p:nvPr/>
        </p:nvSpPr>
        <p:spPr>
          <a:xfrm>
            <a:off x="7181850" y="2266950"/>
            <a:ext cx="24765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325">
                <a:solidFill>
                  <a:srgbClr val="211E1B"/>
                </a:solidFill>
                <a:latin typeface="Calibri"/>
                <a:ea typeface="Calibri"/>
                <a:cs typeface="Calibri"/>
                <a:sym typeface="Calibri"/>
              </a:rPr>
              <a:t>Jordan, 27</a:t>
            </a:r>
            <a:endParaRPr/>
          </a:p>
        </p:txBody>
      </p:sp>
      <p:sp>
        <p:nvSpPr>
          <p:cNvPr id="104" name="Google Shape;104;p3"/>
          <p:cNvSpPr/>
          <p:nvPr/>
        </p:nvSpPr>
        <p:spPr>
          <a:xfrm>
            <a:off x="7181850" y="2705100"/>
            <a:ext cx="3695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736D67"/>
                </a:solidFill>
                <a:latin typeface="Calibri"/>
                <a:ea typeface="Calibri"/>
                <a:cs typeface="Calibri"/>
                <a:sym typeface="Calibri"/>
              </a:rPr>
              <a:t>Greater Melbourne · manages groceries and meals</a:t>
            </a:r>
            <a:endParaRPr/>
          </a:p>
        </p:txBody>
      </p:sp>
      <p:sp>
        <p:nvSpPr>
          <p:cNvPr id="105" name="Google Shape;105;p3"/>
          <p:cNvSpPr/>
          <p:nvPr/>
        </p:nvSpPr>
        <p:spPr>
          <a:xfrm>
            <a:off x="7181850" y="3295650"/>
            <a:ext cx="3790950" cy="1047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“I know there is food at home—I just don’t remember what, what to use first, or what I can make.”</a:t>
            </a:r>
            <a:endParaRPr/>
          </a:p>
        </p:txBody>
      </p:sp>
      <p:sp>
        <p:nvSpPr>
          <p:cNvPr id="106" name="Google Shape;106;p3"/>
          <p:cNvSpPr/>
          <p:nvPr/>
        </p:nvSpPr>
        <p:spPr>
          <a:xfrm>
            <a:off x="7181850" y="4610100"/>
            <a:ext cx="37719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3"/>
          <p:cNvSpPr/>
          <p:nvPr/>
        </p:nvSpPr>
        <p:spPr>
          <a:xfrm>
            <a:off x="7143750" y="4726940"/>
            <a:ext cx="12192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TIME-POOR</a:t>
            </a:r>
            <a:endParaRPr/>
          </a:p>
        </p:txBody>
      </p:sp>
      <p:sp>
        <p:nvSpPr>
          <p:cNvPr id="108" name="Google Shape;108;p3"/>
          <p:cNvSpPr/>
          <p:nvPr/>
        </p:nvSpPr>
        <p:spPr>
          <a:xfrm>
            <a:off x="8439150" y="473456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2FA866"/>
                </a:solidFill>
                <a:latin typeface="Calibri"/>
                <a:ea typeface="Calibri"/>
                <a:cs typeface="Calibri"/>
                <a:sym typeface="Calibri"/>
              </a:rPr>
              <a:t>RELIES ON MEMORY</a:t>
            </a:r>
            <a:endParaRPr/>
          </a:p>
        </p:txBody>
      </p:sp>
      <p:sp>
        <p:nvSpPr>
          <p:cNvPr id="109" name="Google Shape;109;p3"/>
          <p:cNvSpPr/>
          <p:nvPr/>
        </p:nvSpPr>
        <p:spPr>
          <a:xfrm>
            <a:off x="7181850" y="5044440"/>
            <a:ext cx="21907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18BBD1"/>
                </a:solidFill>
                <a:latin typeface="Calibri"/>
                <a:ea typeface="Calibri"/>
                <a:cs typeface="Calibri"/>
                <a:sym typeface="Calibri"/>
              </a:rPr>
              <a:t>LOW TOLERANCE FOR ADMIN</a:t>
            </a:r>
            <a:endParaRPr/>
          </a:p>
        </p:txBody>
      </p:sp>
      <p:sp>
        <p:nvSpPr>
          <p:cNvPr id="110" name="Google Shape;110;p3"/>
          <p:cNvSpPr/>
          <p:nvPr/>
        </p:nvSpPr>
        <p:spPr>
          <a:xfrm>
            <a:off x="7181850" y="5380990"/>
            <a:ext cx="41973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Primary audience: Australian adults 18–34 who independently or jointly manage shopping, storage and meal preparation.</a:t>
            </a:r>
            <a:endParaRPr/>
          </a:p>
        </p:txBody>
      </p:sp>
      <p:sp>
        <p:nvSpPr>
          <p:cNvPr id="111" name="Google Shape;111;p3"/>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3"/>
          <p:cNvSpPr/>
          <p:nvPr/>
        </p:nvSpPr>
        <p:spPr>
          <a:xfrm>
            <a:off x="609600" y="6553200"/>
            <a:ext cx="10001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Sources: End Food Waste Australia, The Great Unwaste; </a:t>
            </a:r>
            <a:endParaRPr sz="1600"/>
          </a:p>
        </p:txBody>
      </p:sp>
      <p:sp>
        <p:nvSpPr>
          <p:cNvPr id="113" name="Google Shape;113;p3"/>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DESIGN RESEARCH</a:t>
            </a:r>
            <a:endParaRPr/>
          </a:p>
        </p:txBody>
      </p:sp>
      <p:sp>
        <p:nvSpPr>
          <p:cNvPr id="120" name="Google Shape;120;p4"/>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Empathy Map and Lotus Blossom converge on the same gap</a:t>
            </a:r>
            <a:endParaRPr/>
          </a:p>
        </p:txBody>
      </p:sp>
      <p:sp>
        <p:nvSpPr>
          <p:cNvPr id="121" name="Google Shape;121;p4"/>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03</a:t>
            </a:r>
            <a:endParaRPr/>
          </a:p>
        </p:txBody>
      </p:sp>
      <p:sp>
        <p:nvSpPr>
          <p:cNvPr id="122" name="Google Shape;122;p4"/>
          <p:cNvSpPr/>
          <p:nvPr/>
        </p:nvSpPr>
        <p:spPr>
          <a:xfrm>
            <a:off x="609600" y="1314450"/>
            <a:ext cx="10477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25">
                <a:solidFill>
                  <a:srgbClr val="736D67"/>
                </a:solidFill>
                <a:latin typeface="Calibri"/>
                <a:ea typeface="Calibri"/>
                <a:cs typeface="Calibri"/>
                <a:sym typeface="Calibri"/>
              </a:rPr>
              <a:t>Target: Greater Melbourne adults 18–34 who manage household shopping, storage and meals</a:t>
            </a:r>
            <a:endParaRPr/>
          </a:p>
        </p:txBody>
      </p:sp>
      <p:sp>
        <p:nvSpPr>
          <p:cNvPr id="123" name="Google Shape;123;p4"/>
          <p:cNvSpPr/>
          <p:nvPr/>
        </p:nvSpPr>
        <p:spPr>
          <a:xfrm>
            <a:off x="609600" y="1752600"/>
            <a:ext cx="23812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EMPATHY MAP</a:t>
            </a:r>
            <a:endParaRPr/>
          </a:p>
        </p:txBody>
      </p:sp>
      <p:sp>
        <p:nvSpPr>
          <p:cNvPr id="124" name="Google Shape;124;p4"/>
          <p:cNvSpPr/>
          <p:nvPr/>
        </p:nvSpPr>
        <p:spPr>
          <a:xfrm>
            <a:off x="609600" y="2038350"/>
            <a:ext cx="3905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users experience</a:t>
            </a:r>
            <a:endParaRPr/>
          </a:p>
        </p:txBody>
      </p:sp>
      <p:sp>
        <p:nvSpPr>
          <p:cNvPr id="125" name="Google Shape;125;p4"/>
          <p:cNvSpPr/>
          <p:nvPr/>
        </p:nvSpPr>
        <p:spPr>
          <a:xfrm>
            <a:off x="609600" y="2514600"/>
            <a:ext cx="2247900" cy="1009650"/>
          </a:xfrm>
          <a:prstGeom prst="roundRect">
            <a:avLst>
              <a:gd fmla="val 15094"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 name="Google Shape;126;p4"/>
          <p:cNvSpPr/>
          <p:nvPr/>
        </p:nvSpPr>
        <p:spPr>
          <a:xfrm>
            <a:off x="685800" y="2609850"/>
            <a:ext cx="19240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D94C16"/>
                </a:solidFill>
                <a:latin typeface="Calibri"/>
                <a:ea typeface="Calibri"/>
                <a:cs typeface="Calibri"/>
                <a:sym typeface="Calibri"/>
              </a:rPr>
              <a:t>THINK &amp; FEEL</a:t>
            </a:r>
            <a:endParaRPr/>
          </a:p>
        </p:txBody>
      </p:sp>
      <p:sp>
        <p:nvSpPr>
          <p:cNvPr id="127" name="Google Shape;127;p4"/>
          <p:cNvSpPr/>
          <p:nvPr/>
        </p:nvSpPr>
        <p:spPr>
          <a:xfrm>
            <a:off x="685800" y="2914650"/>
            <a:ext cx="2228850"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“What food do I already have?”</a:t>
            </a:r>
            <a:endParaRPr/>
          </a:p>
        </p:txBody>
      </p:sp>
      <p:sp>
        <p:nvSpPr>
          <p:cNvPr id="128" name="Google Shape;128;p4"/>
          <p:cNvSpPr/>
          <p:nvPr/>
        </p:nvSpPr>
        <p:spPr>
          <a:xfrm>
            <a:off x="3086100" y="2514600"/>
            <a:ext cx="2247900" cy="1009650"/>
          </a:xfrm>
          <a:prstGeom prst="roundRect">
            <a:avLst>
              <a:gd fmla="val 15094"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 name="Google Shape;129;p4"/>
          <p:cNvSpPr/>
          <p:nvPr/>
        </p:nvSpPr>
        <p:spPr>
          <a:xfrm>
            <a:off x="3238500" y="2606040"/>
            <a:ext cx="19240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18BBD1"/>
                </a:solidFill>
                <a:latin typeface="Calibri"/>
                <a:ea typeface="Calibri"/>
                <a:cs typeface="Calibri"/>
                <a:sym typeface="Calibri"/>
              </a:rPr>
              <a:t>SEE</a:t>
            </a:r>
            <a:endParaRPr/>
          </a:p>
        </p:txBody>
      </p:sp>
      <p:sp>
        <p:nvSpPr>
          <p:cNvPr id="130" name="Google Shape;130;p4"/>
          <p:cNvSpPr/>
          <p:nvPr/>
        </p:nvSpPr>
        <p:spPr>
          <a:xfrm>
            <a:off x="3238500" y="2838450"/>
            <a:ext cx="2190750" cy="5429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Crowded storage · unclear dates</a:t>
            </a:r>
            <a:endParaRPr/>
          </a:p>
        </p:txBody>
      </p:sp>
      <p:sp>
        <p:nvSpPr>
          <p:cNvPr id="131" name="Google Shape;131;p4"/>
          <p:cNvSpPr/>
          <p:nvPr/>
        </p:nvSpPr>
        <p:spPr>
          <a:xfrm>
            <a:off x="609600" y="3752850"/>
            <a:ext cx="2247900" cy="1009650"/>
          </a:xfrm>
          <a:prstGeom prst="roundRect">
            <a:avLst>
              <a:gd fmla="val 15094" name="adj"/>
            </a:avLst>
          </a:prstGeom>
          <a:solidFill>
            <a:srgbClr val="FFE9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 name="Google Shape;132;p4"/>
          <p:cNvSpPr/>
          <p:nvPr/>
        </p:nvSpPr>
        <p:spPr>
          <a:xfrm>
            <a:off x="762000" y="3886200"/>
            <a:ext cx="19240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D94C16"/>
                </a:solidFill>
                <a:latin typeface="Calibri"/>
                <a:ea typeface="Calibri"/>
                <a:cs typeface="Calibri"/>
                <a:sym typeface="Calibri"/>
              </a:rPr>
              <a:t>SAY &amp; DO</a:t>
            </a:r>
            <a:endParaRPr/>
          </a:p>
        </p:txBody>
      </p:sp>
      <p:sp>
        <p:nvSpPr>
          <p:cNvPr id="133" name="Google Shape;133;p4"/>
          <p:cNvSpPr/>
          <p:nvPr/>
        </p:nvSpPr>
        <p:spPr>
          <a:xfrm>
            <a:off x="762000" y="4100512"/>
            <a:ext cx="1924050" cy="4476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Rely on memory · improvise meals</a:t>
            </a:r>
            <a:endParaRPr/>
          </a:p>
        </p:txBody>
      </p:sp>
      <p:sp>
        <p:nvSpPr>
          <p:cNvPr id="134" name="Google Shape;134;p4"/>
          <p:cNvSpPr/>
          <p:nvPr/>
        </p:nvSpPr>
        <p:spPr>
          <a:xfrm>
            <a:off x="3086100" y="3752850"/>
            <a:ext cx="2247900" cy="1009650"/>
          </a:xfrm>
          <a:prstGeom prst="roundRect">
            <a:avLst>
              <a:gd fmla="val 15094"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 name="Google Shape;135;p4"/>
          <p:cNvSpPr/>
          <p:nvPr/>
        </p:nvSpPr>
        <p:spPr>
          <a:xfrm>
            <a:off x="3238500" y="3856355"/>
            <a:ext cx="19240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2FA866"/>
                </a:solidFill>
                <a:latin typeface="Calibri"/>
                <a:ea typeface="Calibri"/>
                <a:cs typeface="Calibri"/>
                <a:sym typeface="Calibri"/>
              </a:rPr>
              <a:t>PAIN / GAIN</a:t>
            </a:r>
            <a:endParaRPr/>
          </a:p>
        </p:txBody>
      </p:sp>
      <p:sp>
        <p:nvSpPr>
          <p:cNvPr id="136" name="Google Shape;136;p4"/>
          <p:cNvSpPr/>
          <p:nvPr/>
        </p:nvSpPr>
        <p:spPr>
          <a:xfrm>
            <a:off x="3257550" y="4091940"/>
            <a:ext cx="1995170" cy="48958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Duplicate buys → quick, useful cues</a:t>
            </a:r>
            <a:endParaRPr/>
          </a:p>
        </p:txBody>
      </p:sp>
      <p:sp>
        <p:nvSpPr>
          <p:cNvPr id="137" name="Google Shape;137;p4"/>
          <p:cNvSpPr/>
          <p:nvPr/>
        </p:nvSpPr>
        <p:spPr>
          <a:xfrm>
            <a:off x="609600" y="4972050"/>
            <a:ext cx="4724400" cy="457200"/>
          </a:xfrm>
          <a:prstGeom prst="roundRect">
            <a:avLst>
              <a:gd fmla="val 25000" name="adj"/>
            </a:avLst>
          </a:prstGeom>
          <a:solidFill>
            <a:srgbClr val="211E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 name="Google Shape;138;p4"/>
          <p:cNvSpPr/>
          <p:nvPr/>
        </p:nvSpPr>
        <p:spPr>
          <a:xfrm>
            <a:off x="762000" y="5105400"/>
            <a:ext cx="44196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Calibri"/>
                <a:ea typeface="Calibri"/>
                <a:cs typeface="Calibri"/>
                <a:sym typeface="Calibri"/>
              </a:rPr>
              <a:t>PATTERN · EVERYDAY DECISION FRICTION</a:t>
            </a:r>
            <a:endParaRPr/>
          </a:p>
        </p:txBody>
      </p:sp>
      <p:sp>
        <p:nvSpPr>
          <p:cNvPr id="139" name="Google Shape;139;p4"/>
          <p:cNvSpPr/>
          <p:nvPr/>
        </p:nvSpPr>
        <p:spPr>
          <a:xfrm>
            <a:off x="6096000" y="1752600"/>
            <a:ext cx="23812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2FA866"/>
                </a:solidFill>
                <a:latin typeface="Calibri"/>
                <a:ea typeface="Calibri"/>
                <a:cs typeface="Calibri"/>
                <a:sym typeface="Calibri"/>
              </a:rPr>
              <a:t>LOTUS BLOSSOM</a:t>
            </a:r>
            <a:endParaRPr/>
          </a:p>
        </p:txBody>
      </p:sp>
      <p:sp>
        <p:nvSpPr>
          <p:cNvPr id="140" name="Google Shape;140;p4"/>
          <p:cNvSpPr/>
          <p:nvPr/>
        </p:nvSpPr>
        <p:spPr>
          <a:xfrm>
            <a:off x="6096000" y="2038350"/>
            <a:ext cx="3905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Where we can intervene</a:t>
            </a:r>
            <a:endParaRPr/>
          </a:p>
        </p:txBody>
      </p:sp>
      <p:sp>
        <p:nvSpPr>
          <p:cNvPr id="141" name="Google Shape;141;p4"/>
          <p:cNvSpPr/>
          <p:nvPr/>
        </p:nvSpPr>
        <p:spPr>
          <a:xfrm>
            <a:off x="6096000" y="2514600"/>
            <a:ext cx="1485900" cy="838200"/>
          </a:xfrm>
          <a:prstGeom prst="roundRect">
            <a:avLst>
              <a:gd fmla="val 13636" name="adj"/>
            </a:avLst>
          </a:prstGeom>
          <a:solidFill>
            <a:srgbClr val="FFE7D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 name="Google Shape;142;p4"/>
          <p:cNvSpPr/>
          <p:nvPr/>
        </p:nvSpPr>
        <p:spPr>
          <a:xfrm>
            <a:off x="6191250" y="26860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Digital</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inventory</a:t>
            </a:r>
            <a:endParaRPr/>
          </a:p>
        </p:txBody>
      </p:sp>
      <p:sp>
        <p:nvSpPr>
          <p:cNvPr id="143" name="Google Shape;143;p4"/>
          <p:cNvSpPr/>
          <p:nvPr/>
        </p:nvSpPr>
        <p:spPr>
          <a:xfrm>
            <a:off x="7772400" y="2514600"/>
            <a:ext cx="1485900" cy="838200"/>
          </a:xfrm>
          <a:prstGeom prst="roundRect">
            <a:avLst>
              <a:gd fmla="val 13636" name="adj"/>
            </a:avLst>
          </a:prstGeom>
          <a:solidFill>
            <a:srgbClr val="DDF5F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 name="Google Shape;144;p4"/>
          <p:cNvSpPr/>
          <p:nvPr/>
        </p:nvSpPr>
        <p:spPr>
          <a:xfrm>
            <a:off x="7867650" y="26860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Low-effort</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capture</a:t>
            </a:r>
            <a:endParaRPr/>
          </a:p>
        </p:txBody>
      </p:sp>
      <p:sp>
        <p:nvSpPr>
          <p:cNvPr id="145" name="Google Shape;145;p4"/>
          <p:cNvSpPr/>
          <p:nvPr/>
        </p:nvSpPr>
        <p:spPr>
          <a:xfrm>
            <a:off x="9448800" y="2514600"/>
            <a:ext cx="1485900" cy="838200"/>
          </a:xfrm>
          <a:prstGeom prst="roundRect">
            <a:avLst>
              <a:gd fmla="val 13636" name="adj"/>
            </a:avLst>
          </a:prstGeom>
          <a:solidFill>
            <a:srgbClr val="DFF3E7"/>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 name="Google Shape;146;p4"/>
          <p:cNvSpPr/>
          <p:nvPr/>
        </p:nvSpPr>
        <p:spPr>
          <a:xfrm>
            <a:off x="9544050" y="26860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Use First</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priority</a:t>
            </a:r>
            <a:endParaRPr/>
          </a:p>
        </p:txBody>
      </p:sp>
      <p:sp>
        <p:nvSpPr>
          <p:cNvPr id="147" name="Google Shape;147;p4"/>
          <p:cNvSpPr/>
          <p:nvPr/>
        </p:nvSpPr>
        <p:spPr>
          <a:xfrm>
            <a:off x="6096000" y="3524250"/>
            <a:ext cx="1485900" cy="838200"/>
          </a:xfrm>
          <a:prstGeom prst="roundRect">
            <a:avLst>
              <a:gd fmla="val 13636" name="adj"/>
            </a:avLst>
          </a:prstGeom>
          <a:solidFill>
            <a:srgbClr val="FFE9A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4"/>
          <p:cNvSpPr/>
          <p:nvPr/>
        </p:nvSpPr>
        <p:spPr>
          <a:xfrm>
            <a:off x="6191250" y="369570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Reminders</a:t>
            </a:r>
            <a:endParaRPr/>
          </a:p>
        </p:txBody>
      </p:sp>
      <p:sp>
        <p:nvSpPr>
          <p:cNvPr id="149" name="Google Shape;149;p4"/>
          <p:cNvSpPr/>
          <p:nvPr/>
        </p:nvSpPr>
        <p:spPr>
          <a:xfrm>
            <a:off x="7772400" y="3524250"/>
            <a:ext cx="1485900" cy="838200"/>
          </a:xfrm>
          <a:prstGeom prst="roundRect">
            <a:avLst>
              <a:gd fmla="val 13636" name="adj"/>
            </a:avLst>
          </a:prstGeom>
          <a:solidFill>
            <a:srgbClr val="FF6B2C"/>
          </a:solidFill>
          <a:ln cap="flat" cmpd="sng" w="9525">
            <a:solidFill>
              <a:srgbClr val="D94C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 name="Google Shape;150;p4"/>
          <p:cNvSpPr/>
          <p:nvPr/>
        </p:nvSpPr>
        <p:spPr>
          <a:xfrm>
            <a:off x="7867650" y="37147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USE WHAT</a:t>
            </a:r>
            <a:endParaRPr/>
          </a:p>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YOU HAVE</a:t>
            </a:r>
            <a:endParaRPr/>
          </a:p>
        </p:txBody>
      </p:sp>
      <p:sp>
        <p:nvSpPr>
          <p:cNvPr id="151" name="Google Shape;151;p4"/>
          <p:cNvSpPr/>
          <p:nvPr/>
        </p:nvSpPr>
        <p:spPr>
          <a:xfrm>
            <a:off x="9448800" y="3524250"/>
            <a:ext cx="1485900" cy="838200"/>
          </a:xfrm>
          <a:prstGeom prst="roundRect">
            <a:avLst>
              <a:gd fmla="val 13636" name="adj"/>
            </a:avLst>
          </a:prstGeom>
          <a:solidFill>
            <a:srgbClr val="FFE9A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 name="Google Shape;152;p4"/>
          <p:cNvSpPr/>
          <p:nvPr/>
        </p:nvSpPr>
        <p:spPr>
          <a:xfrm>
            <a:off x="9544050" y="369570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Recipe</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ideas</a:t>
            </a:r>
            <a:endParaRPr/>
          </a:p>
        </p:txBody>
      </p:sp>
      <p:sp>
        <p:nvSpPr>
          <p:cNvPr id="153" name="Google Shape;153;p4"/>
          <p:cNvSpPr/>
          <p:nvPr/>
        </p:nvSpPr>
        <p:spPr>
          <a:xfrm>
            <a:off x="6096000" y="4533900"/>
            <a:ext cx="1485900" cy="838200"/>
          </a:xfrm>
          <a:prstGeom prst="roundRect">
            <a:avLst>
              <a:gd fmla="val 13636" name="adj"/>
            </a:avLst>
          </a:prstGeom>
          <a:solidFill>
            <a:srgbClr val="FFF0EB"/>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 name="Google Shape;154;p4"/>
          <p:cNvSpPr/>
          <p:nvPr/>
        </p:nvSpPr>
        <p:spPr>
          <a:xfrm>
            <a:off x="6191250" y="47053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Pre-shop</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check</a:t>
            </a:r>
            <a:endParaRPr/>
          </a:p>
        </p:txBody>
      </p:sp>
      <p:sp>
        <p:nvSpPr>
          <p:cNvPr id="155" name="Google Shape;155;p4"/>
          <p:cNvSpPr/>
          <p:nvPr/>
        </p:nvSpPr>
        <p:spPr>
          <a:xfrm>
            <a:off x="7772400" y="4533900"/>
            <a:ext cx="1485900" cy="838200"/>
          </a:xfrm>
          <a:prstGeom prst="roundRect">
            <a:avLst>
              <a:gd fmla="val 13636" name="adj"/>
            </a:avLst>
          </a:prstGeom>
          <a:solidFill>
            <a:srgbClr val="DDF5F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 name="Google Shape;156;p4"/>
          <p:cNvSpPr/>
          <p:nvPr/>
        </p:nvSpPr>
        <p:spPr>
          <a:xfrm>
            <a:off x="7867650" y="47053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Date + storage</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guidance</a:t>
            </a:r>
            <a:endParaRPr/>
          </a:p>
        </p:txBody>
      </p:sp>
      <p:sp>
        <p:nvSpPr>
          <p:cNvPr id="157" name="Google Shape;157;p4"/>
          <p:cNvSpPr/>
          <p:nvPr/>
        </p:nvSpPr>
        <p:spPr>
          <a:xfrm>
            <a:off x="9448800" y="4533900"/>
            <a:ext cx="1485900" cy="838200"/>
          </a:xfrm>
          <a:prstGeom prst="roundRect">
            <a:avLst>
              <a:gd fmla="val 13636" name="adj"/>
            </a:avLst>
          </a:prstGeom>
          <a:solidFill>
            <a:srgbClr val="DFF3E7"/>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 name="Google Shape;158;p4"/>
          <p:cNvSpPr/>
          <p:nvPr/>
        </p:nvSpPr>
        <p:spPr>
          <a:xfrm>
            <a:off x="9544050" y="4705350"/>
            <a:ext cx="1295400" cy="49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Household</a:t>
            </a:r>
            <a:endParaRPr/>
          </a:p>
          <a:p>
            <a:pPr indent="0" lvl="0" marL="0" marR="0" rtl="0" algn="ctr">
              <a:spcBef>
                <a:spcPts val="0"/>
              </a:spcBef>
              <a:spcAft>
                <a:spcPts val="0"/>
              </a:spcAft>
              <a:buNone/>
            </a:pPr>
            <a:r>
              <a:rPr b="1" i="0" lang="en-US" sz="1400">
                <a:solidFill>
                  <a:srgbClr val="211E1B"/>
                </a:solidFill>
                <a:latin typeface="Calibri"/>
                <a:ea typeface="Calibri"/>
                <a:cs typeface="Calibri"/>
                <a:sym typeface="Calibri"/>
              </a:rPr>
              <a:t>sharing</a:t>
            </a:r>
            <a:endParaRPr/>
          </a:p>
        </p:txBody>
      </p:sp>
      <p:sp>
        <p:nvSpPr>
          <p:cNvPr id="159" name="Google Shape;159;p4"/>
          <p:cNvSpPr/>
          <p:nvPr/>
        </p:nvSpPr>
        <p:spPr>
          <a:xfrm>
            <a:off x="609600" y="5772150"/>
            <a:ext cx="10972800" cy="457200"/>
          </a:xfrm>
          <a:prstGeom prst="roundRect">
            <a:avLst>
              <a:gd fmla="val 25000" name="adj"/>
            </a:avLst>
          </a:prstGeom>
          <a:solidFill>
            <a:srgbClr val="211E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 name="Google Shape;160;p4"/>
          <p:cNvSpPr/>
          <p:nvPr/>
        </p:nvSpPr>
        <p:spPr>
          <a:xfrm>
            <a:off x="800100" y="5905500"/>
            <a:ext cx="16002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FF8A45"/>
                </a:solidFill>
                <a:latin typeface="Calibri"/>
                <a:ea typeface="Calibri"/>
                <a:cs typeface="Calibri"/>
                <a:sym typeface="Calibri"/>
              </a:rPr>
              <a:t>DESIGN IMPLICATION</a:t>
            </a:r>
            <a:endParaRPr/>
          </a:p>
        </p:txBody>
      </p:sp>
      <p:sp>
        <p:nvSpPr>
          <p:cNvPr id="161" name="Google Shape;161;p4"/>
          <p:cNvSpPr/>
          <p:nvPr/>
        </p:nvSpPr>
        <p:spPr>
          <a:xfrm>
            <a:off x="2590800" y="5867400"/>
            <a:ext cx="8572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FFFFFF"/>
                </a:solidFill>
                <a:latin typeface="Calibri"/>
                <a:ea typeface="Calibri"/>
                <a:cs typeface="Calibri"/>
                <a:sym typeface="Calibri"/>
              </a:rPr>
              <a:t>Awareness alone is insufficient—reduce friction at the moment of cooking and shopping.</a:t>
            </a:r>
            <a:endParaRPr/>
          </a:p>
        </p:txBody>
      </p:sp>
      <p:sp>
        <p:nvSpPr>
          <p:cNvPr id="162" name="Google Shape;162;p4"/>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 name="Google Shape;163;p4"/>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68" name="Shape 168"/>
        <p:cNvGrpSpPr/>
        <p:nvPr/>
      </p:nvGrpSpPr>
      <p:grpSpPr>
        <a:xfrm>
          <a:off x="0" y="0"/>
          <a:ext cx="0" cy="0"/>
          <a:chOff x="0" y="0"/>
          <a:chExt cx="0" cy="0"/>
        </a:xfrm>
      </p:grpSpPr>
      <p:sp>
        <p:nvSpPr>
          <p:cNvPr id="169" name="Google Shape;169;p5"/>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OUR SOLUTION</a:t>
            </a:r>
            <a:endParaRPr/>
          </a:p>
        </p:txBody>
      </p:sp>
      <p:sp>
        <p:nvSpPr>
          <p:cNvPr id="170" name="Google Shape;170;p5"/>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KitchMemo turns inventory into the next useful decision</a:t>
            </a:r>
            <a:endParaRPr/>
          </a:p>
        </p:txBody>
      </p:sp>
      <p:sp>
        <p:nvSpPr>
          <p:cNvPr id="171" name="Google Shape;171;p5"/>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04</a:t>
            </a:r>
            <a:endParaRPr/>
          </a:p>
        </p:txBody>
      </p:sp>
      <p:sp>
        <p:nvSpPr>
          <p:cNvPr id="172" name="Google Shape;172;p5"/>
          <p:cNvSpPr/>
          <p:nvPr/>
        </p:nvSpPr>
        <p:spPr>
          <a:xfrm>
            <a:off x="609600" y="1676400"/>
            <a:ext cx="1885950" cy="2724150"/>
          </a:xfrm>
          <a:prstGeom prst="roundRect">
            <a:avLst>
              <a:gd fmla="val 12121"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5"/>
          <p:cNvSpPr/>
          <p:nvPr/>
        </p:nvSpPr>
        <p:spPr>
          <a:xfrm>
            <a:off x="800100" y="1885950"/>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01</a:t>
            </a:r>
            <a:endParaRPr/>
          </a:p>
        </p:txBody>
      </p:sp>
      <p:sp>
        <p:nvSpPr>
          <p:cNvPr id="174" name="Google Shape;174;p5"/>
          <p:cNvSpPr/>
          <p:nvPr/>
        </p:nvSpPr>
        <p:spPr>
          <a:xfrm>
            <a:off x="800100" y="2324100"/>
            <a:ext cx="1524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D94C16"/>
                </a:solidFill>
                <a:latin typeface="Calibri"/>
                <a:ea typeface="Calibri"/>
                <a:cs typeface="Calibri"/>
                <a:sym typeface="Calibri"/>
              </a:rPr>
              <a:t>CAPTURE</a:t>
            </a:r>
            <a:endParaRPr/>
          </a:p>
        </p:txBody>
      </p:sp>
      <p:sp>
        <p:nvSpPr>
          <p:cNvPr id="175" name="Google Shape;175;p5"/>
          <p:cNvSpPr/>
          <p:nvPr/>
        </p:nvSpPr>
        <p:spPr>
          <a:xfrm>
            <a:off x="800100" y="2876550"/>
            <a:ext cx="152400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came home?</a:t>
            </a:r>
            <a:endParaRPr/>
          </a:p>
        </p:txBody>
      </p:sp>
      <p:sp>
        <p:nvSpPr>
          <p:cNvPr id="176" name="Google Shape;176;p5"/>
          <p:cNvSpPr/>
          <p:nvPr/>
        </p:nvSpPr>
        <p:spPr>
          <a:xfrm>
            <a:off x="748030" y="3819525"/>
            <a:ext cx="1885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Barcode · photo · manual</a:t>
            </a:r>
            <a:endParaRPr/>
          </a:p>
        </p:txBody>
      </p:sp>
      <p:sp>
        <p:nvSpPr>
          <p:cNvPr id="177" name="Google Shape;177;p5"/>
          <p:cNvSpPr/>
          <p:nvPr/>
        </p:nvSpPr>
        <p:spPr>
          <a:xfrm>
            <a:off x="2495550" y="2733675"/>
            <a:ext cx="3048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FF6B2C"/>
                </a:solidFill>
                <a:latin typeface="Calibri"/>
                <a:ea typeface="Calibri"/>
                <a:cs typeface="Calibri"/>
                <a:sym typeface="Calibri"/>
              </a:rPr>
              <a:t>→</a:t>
            </a:r>
            <a:endParaRPr/>
          </a:p>
        </p:txBody>
      </p:sp>
      <p:sp>
        <p:nvSpPr>
          <p:cNvPr id="178" name="Google Shape;178;p5"/>
          <p:cNvSpPr/>
          <p:nvPr/>
        </p:nvSpPr>
        <p:spPr>
          <a:xfrm>
            <a:off x="2800350" y="1676400"/>
            <a:ext cx="1885950" cy="2724150"/>
          </a:xfrm>
          <a:prstGeom prst="roundRect">
            <a:avLst>
              <a:gd fmla="val 12121"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5"/>
          <p:cNvSpPr/>
          <p:nvPr/>
        </p:nvSpPr>
        <p:spPr>
          <a:xfrm>
            <a:off x="2990850" y="1885950"/>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18BBD1"/>
                </a:solidFill>
                <a:latin typeface="Calibri"/>
                <a:ea typeface="Calibri"/>
                <a:cs typeface="Calibri"/>
                <a:sym typeface="Calibri"/>
              </a:rPr>
              <a:t>02</a:t>
            </a:r>
            <a:endParaRPr/>
          </a:p>
        </p:txBody>
      </p:sp>
      <p:sp>
        <p:nvSpPr>
          <p:cNvPr id="180" name="Google Shape;180;p5"/>
          <p:cNvSpPr/>
          <p:nvPr/>
        </p:nvSpPr>
        <p:spPr>
          <a:xfrm>
            <a:off x="2990850" y="2324100"/>
            <a:ext cx="1524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18BBD1"/>
                </a:solidFill>
                <a:latin typeface="Calibri"/>
                <a:ea typeface="Calibri"/>
                <a:cs typeface="Calibri"/>
                <a:sym typeface="Calibri"/>
              </a:rPr>
              <a:t>REMEMBER</a:t>
            </a:r>
            <a:endParaRPr/>
          </a:p>
        </p:txBody>
      </p:sp>
      <p:sp>
        <p:nvSpPr>
          <p:cNvPr id="181" name="Google Shape;181;p5"/>
          <p:cNvSpPr/>
          <p:nvPr/>
        </p:nvSpPr>
        <p:spPr>
          <a:xfrm>
            <a:off x="2990850" y="2876550"/>
            <a:ext cx="152400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is here?</a:t>
            </a:r>
            <a:endParaRPr/>
          </a:p>
        </p:txBody>
      </p:sp>
      <p:sp>
        <p:nvSpPr>
          <p:cNvPr id="182" name="Google Shape;182;p5"/>
          <p:cNvSpPr/>
          <p:nvPr/>
        </p:nvSpPr>
        <p:spPr>
          <a:xfrm>
            <a:off x="2938780" y="3819525"/>
            <a:ext cx="1885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Fridge · freezer · pantry</a:t>
            </a:r>
            <a:endParaRPr/>
          </a:p>
        </p:txBody>
      </p:sp>
      <p:sp>
        <p:nvSpPr>
          <p:cNvPr id="183" name="Google Shape;183;p5"/>
          <p:cNvSpPr/>
          <p:nvPr/>
        </p:nvSpPr>
        <p:spPr>
          <a:xfrm>
            <a:off x="4686300" y="2733675"/>
            <a:ext cx="3048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FF6B2C"/>
                </a:solidFill>
                <a:latin typeface="Calibri"/>
                <a:ea typeface="Calibri"/>
                <a:cs typeface="Calibri"/>
                <a:sym typeface="Calibri"/>
              </a:rPr>
              <a:t>→</a:t>
            </a:r>
            <a:endParaRPr/>
          </a:p>
        </p:txBody>
      </p:sp>
      <p:sp>
        <p:nvSpPr>
          <p:cNvPr id="184" name="Google Shape;184;p5"/>
          <p:cNvSpPr/>
          <p:nvPr/>
        </p:nvSpPr>
        <p:spPr>
          <a:xfrm>
            <a:off x="4991100" y="1676400"/>
            <a:ext cx="1885950" cy="2724150"/>
          </a:xfrm>
          <a:prstGeom prst="roundRect">
            <a:avLst>
              <a:gd fmla="val 12121"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5"/>
          <p:cNvSpPr/>
          <p:nvPr/>
        </p:nvSpPr>
        <p:spPr>
          <a:xfrm>
            <a:off x="5181600" y="1885950"/>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2FA866"/>
                </a:solidFill>
                <a:latin typeface="Calibri"/>
                <a:ea typeface="Calibri"/>
                <a:cs typeface="Calibri"/>
                <a:sym typeface="Calibri"/>
              </a:rPr>
              <a:t>03</a:t>
            </a:r>
            <a:endParaRPr/>
          </a:p>
        </p:txBody>
      </p:sp>
      <p:sp>
        <p:nvSpPr>
          <p:cNvPr id="186" name="Google Shape;186;p5"/>
          <p:cNvSpPr/>
          <p:nvPr/>
        </p:nvSpPr>
        <p:spPr>
          <a:xfrm>
            <a:off x="5181600" y="2324100"/>
            <a:ext cx="1524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2FA866"/>
                </a:solidFill>
                <a:latin typeface="Calibri"/>
                <a:ea typeface="Calibri"/>
                <a:cs typeface="Calibri"/>
                <a:sym typeface="Calibri"/>
              </a:rPr>
              <a:t>PRIORITISE</a:t>
            </a:r>
            <a:endParaRPr/>
          </a:p>
        </p:txBody>
      </p:sp>
      <p:sp>
        <p:nvSpPr>
          <p:cNvPr id="187" name="Google Shape;187;p5"/>
          <p:cNvSpPr/>
          <p:nvPr/>
        </p:nvSpPr>
        <p:spPr>
          <a:xfrm>
            <a:off x="5181600" y="2876550"/>
            <a:ext cx="152400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needs attention?</a:t>
            </a:r>
            <a:endParaRPr/>
          </a:p>
        </p:txBody>
      </p:sp>
      <p:sp>
        <p:nvSpPr>
          <p:cNvPr id="188" name="Google Shape;188;p5"/>
          <p:cNvSpPr/>
          <p:nvPr/>
        </p:nvSpPr>
        <p:spPr>
          <a:xfrm>
            <a:off x="5129530" y="3819525"/>
            <a:ext cx="1885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Date-aware Use First list</a:t>
            </a:r>
            <a:endParaRPr/>
          </a:p>
        </p:txBody>
      </p:sp>
      <p:sp>
        <p:nvSpPr>
          <p:cNvPr id="189" name="Google Shape;189;p5"/>
          <p:cNvSpPr/>
          <p:nvPr/>
        </p:nvSpPr>
        <p:spPr>
          <a:xfrm>
            <a:off x="6877050" y="2733675"/>
            <a:ext cx="3048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FF6B2C"/>
                </a:solidFill>
                <a:latin typeface="Calibri"/>
                <a:ea typeface="Calibri"/>
                <a:cs typeface="Calibri"/>
                <a:sym typeface="Calibri"/>
              </a:rPr>
              <a:t>→</a:t>
            </a:r>
            <a:endParaRPr/>
          </a:p>
        </p:txBody>
      </p:sp>
      <p:sp>
        <p:nvSpPr>
          <p:cNvPr id="190" name="Google Shape;190;p5"/>
          <p:cNvSpPr/>
          <p:nvPr/>
        </p:nvSpPr>
        <p:spPr>
          <a:xfrm>
            <a:off x="7181850" y="1676400"/>
            <a:ext cx="1885950" cy="2724150"/>
          </a:xfrm>
          <a:prstGeom prst="roundRect">
            <a:avLst>
              <a:gd fmla="val 12121" name="adj"/>
            </a:avLst>
          </a:prstGeom>
          <a:solidFill>
            <a:srgbClr val="FFE9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5"/>
          <p:cNvSpPr/>
          <p:nvPr/>
        </p:nvSpPr>
        <p:spPr>
          <a:xfrm>
            <a:off x="7372350" y="1885950"/>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04</a:t>
            </a:r>
            <a:endParaRPr/>
          </a:p>
        </p:txBody>
      </p:sp>
      <p:sp>
        <p:nvSpPr>
          <p:cNvPr id="192" name="Google Shape;192;p5"/>
          <p:cNvSpPr/>
          <p:nvPr/>
        </p:nvSpPr>
        <p:spPr>
          <a:xfrm>
            <a:off x="7372350" y="2324100"/>
            <a:ext cx="1524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D94C16"/>
                </a:solidFill>
                <a:latin typeface="Calibri"/>
                <a:ea typeface="Calibri"/>
                <a:cs typeface="Calibri"/>
                <a:sym typeface="Calibri"/>
              </a:rPr>
              <a:t>ACT</a:t>
            </a:r>
            <a:endParaRPr/>
          </a:p>
        </p:txBody>
      </p:sp>
      <p:sp>
        <p:nvSpPr>
          <p:cNvPr id="193" name="Google Shape;193;p5"/>
          <p:cNvSpPr/>
          <p:nvPr/>
        </p:nvSpPr>
        <p:spPr>
          <a:xfrm>
            <a:off x="7372350" y="2876550"/>
            <a:ext cx="152400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can I cook?</a:t>
            </a:r>
            <a:endParaRPr/>
          </a:p>
        </p:txBody>
      </p:sp>
      <p:sp>
        <p:nvSpPr>
          <p:cNvPr id="194" name="Google Shape;194;p5"/>
          <p:cNvSpPr/>
          <p:nvPr/>
        </p:nvSpPr>
        <p:spPr>
          <a:xfrm>
            <a:off x="7320280" y="3819525"/>
            <a:ext cx="1885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Expiry-priority recipes · I2</a:t>
            </a:r>
            <a:endParaRPr/>
          </a:p>
        </p:txBody>
      </p:sp>
      <p:sp>
        <p:nvSpPr>
          <p:cNvPr id="195" name="Google Shape;195;p5"/>
          <p:cNvSpPr/>
          <p:nvPr/>
        </p:nvSpPr>
        <p:spPr>
          <a:xfrm>
            <a:off x="9067800" y="2733675"/>
            <a:ext cx="3048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FF6B2C"/>
                </a:solidFill>
                <a:latin typeface="Calibri"/>
                <a:ea typeface="Calibri"/>
                <a:cs typeface="Calibri"/>
                <a:sym typeface="Calibri"/>
              </a:rPr>
              <a:t>→</a:t>
            </a:r>
            <a:endParaRPr/>
          </a:p>
        </p:txBody>
      </p:sp>
      <p:sp>
        <p:nvSpPr>
          <p:cNvPr id="196" name="Google Shape;196;p5"/>
          <p:cNvSpPr/>
          <p:nvPr/>
        </p:nvSpPr>
        <p:spPr>
          <a:xfrm>
            <a:off x="9372600" y="1676400"/>
            <a:ext cx="1885950" cy="2724150"/>
          </a:xfrm>
          <a:prstGeom prst="roundRect">
            <a:avLst>
              <a:gd fmla="val 12121" name="adj"/>
            </a:avLst>
          </a:prstGeom>
          <a:solidFill>
            <a:srgbClr val="FFF0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5"/>
          <p:cNvSpPr/>
          <p:nvPr/>
        </p:nvSpPr>
        <p:spPr>
          <a:xfrm>
            <a:off x="9563100" y="1885950"/>
            <a:ext cx="4762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E94D54"/>
                </a:solidFill>
                <a:latin typeface="Calibri"/>
                <a:ea typeface="Calibri"/>
                <a:cs typeface="Calibri"/>
                <a:sym typeface="Calibri"/>
              </a:rPr>
              <a:t>05</a:t>
            </a:r>
            <a:endParaRPr/>
          </a:p>
        </p:txBody>
      </p:sp>
      <p:sp>
        <p:nvSpPr>
          <p:cNvPr id="198" name="Google Shape;198;p5"/>
          <p:cNvSpPr/>
          <p:nvPr/>
        </p:nvSpPr>
        <p:spPr>
          <a:xfrm>
            <a:off x="9563100" y="2324100"/>
            <a:ext cx="1524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E94D54"/>
                </a:solidFill>
                <a:latin typeface="Calibri"/>
                <a:ea typeface="Calibri"/>
                <a:cs typeface="Calibri"/>
                <a:sym typeface="Calibri"/>
              </a:rPr>
              <a:t>PREVENT</a:t>
            </a:r>
            <a:endParaRPr/>
          </a:p>
        </p:txBody>
      </p:sp>
      <p:sp>
        <p:nvSpPr>
          <p:cNvPr id="199" name="Google Shape;199;p5"/>
          <p:cNvSpPr/>
          <p:nvPr/>
        </p:nvSpPr>
        <p:spPr>
          <a:xfrm>
            <a:off x="9563100" y="2876550"/>
            <a:ext cx="1524000" cy="742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What should I not buy?</a:t>
            </a:r>
            <a:endParaRPr/>
          </a:p>
        </p:txBody>
      </p:sp>
      <p:sp>
        <p:nvSpPr>
          <p:cNvPr id="200" name="Google Shape;200;p5"/>
          <p:cNvSpPr/>
          <p:nvPr/>
        </p:nvSpPr>
        <p:spPr>
          <a:xfrm>
            <a:off x="9511030" y="3819525"/>
            <a:ext cx="1885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a:solidFill>
                  <a:srgbClr val="736D67"/>
                </a:solidFill>
                <a:latin typeface="Calibri"/>
                <a:ea typeface="Calibri"/>
                <a:cs typeface="Calibri"/>
                <a:sym typeface="Calibri"/>
              </a:rPr>
              <a:t>Pre-shop inventory check</a:t>
            </a:r>
            <a:endParaRPr/>
          </a:p>
        </p:txBody>
      </p:sp>
      <p:sp>
        <p:nvSpPr>
          <p:cNvPr id="201" name="Google Shape;201;p5"/>
          <p:cNvSpPr/>
          <p:nvPr/>
        </p:nvSpPr>
        <p:spPr>
          <a:xfrm>
            <a:off x="609600" y="4895850"/>
            <a:ext cx="1714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25">
                <a:solidFill>
                  <a:srgbClr val="D94C16"/>
                </a:solidFill>
                <a:latin typeface="Calibri"/>
                <a:ea typeface="Calibri"/>
                <a:cs typeface="Calibri"/>
                <a:sym typeface="Calibri"/>
              </a:rPr>
              <a:t>Product principle</a:t>
            </a:r>
            <a:endParaRPr/>
          </a:p>
        </p:txBody>
      </p:sp>
      <p:sp>
        <p:nvSpPr>
          <p:cNvPr id="202" name="Google Shape;202;p5"/>
          <p:cNvSpPr/>
          <p:nvPr/>
        </p:nvSpPr>
        <p:spPr>
          <a:xfrm>
            <a:off x="609600" y="5257800"/>
            <a:ext cx="84772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25">
                <a:solidFill>
                  <a:srgbClr val="211E1B"/>
                </a:solidFill>
                <a:latin typeface="Calibri"/>
                <a:ea typeface="Calibri"/>
                <a:cs typeface="Calibri"/>
                <a:sym typeface="Calibri"/>
              </a:rPr>
              <a:t>Intervene at the moment of cooking and shopping—without pretending to decide whether food is safe.</a:t>
            </a:r>
            <a:endParaRPr/>
          </a:p>
        </p:txBody>
      </p:sp>
      <p:sp>
        <p:nvSpPr>
          <p:cNvPr id="203" name="Google Shape;203;p5"/>
          <p:cNvSpPr/>
          <p:nvPr/>
        </p:nvSpPr>
        <p:spPr>
          <a:xfrm>
            <a:off x="9544050" y="4972050"/>
            <a:ext cx="2038350" cy="876300"/>
          </a:xfrm>
          <a:prstGeom prst="roundRect">
            <a:avLst>
              <a:gd fmla="val 17391" name="adj"/>
            </a:avLst>
          </a:prstGeom>
          <a:solidFill>
            <a:srgbClr val="211E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5"/>
          <p:cNvSpPr/>
          <p:nvPr/>
        </p:nvSpPr>
        <p:spPr>
          <a:xfrm>
            <a:off x="9715500" y="5143500"/>
            <a:ext cx="17145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75">
                <a:solidFill>
                  <a:srgbClr val="FF8A45"/>
                </a:solidFill>
                <a:latin typeface="Calibri"/>
                <a:ea typeface="Calibri"/>
                <a:cs typeface="Calibri"/>
                <a:sym typeface="Calibri"/>
              </a:rPr>
              <a:t>LOWER FRICTION</a:t>
            </a:r>
            <a:endParaRPr/>
          </a:p>
        </p:txBody>
      </p:sp>
      <p:sp>
        <p:nvSpPr>
          <p:cNvPr id="205" name="Google Shape;205;p5"/>
          <p:cNvSpPr/>
          <p:nvPr/>
        </p:nvSpPr>
        <p:spPr>
          <a:xfrm>
            <a:off x="9715500" y="5467350"/>
            <a:ext cx="1714500"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425">
                <a:solidFill>
                  <a:srgbClr val="FFFFFF"/>
                </a:solidFill>
                <a:latin typeface="Calibri"/>
                <a:ea typeface="Calibri"/>
                <a:cs typeface="Calibri"/>
                <a:sym typeface="Calibri"/>
              </a:rPr>
              <a:t>Better decisions</a:t>
            </a:r>
            <a:endParaRPr/>
          </a:p>
        </p:txBody>
      </p:sp>
      <p:sp>
        <p:nvSpPr>
          <p:cNvPr id="206" name="Google Shape;206;p5"/>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5"/>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E"/>
        </a:solidFill>
      </p:bgPr>
    </p:bg>
    <p:spTree>
      <p:nvGrpSpPr>
        <p:cNvPr id="212" name="Shape 212"/>
        <p:cNvGrpSpPr/>
        <p:nvPr/>
      </p:nvGrpSpPr>
      <p:grpSpPr>
        <a:xfrm>
          <a:off x="0" y="0"/>
          <a:ext cx="0" cy="0"/>
          <a:chOff x="0" y="0"/>
          <a:chExt cx="0" cy="0"/>
        </a:xfrm>
      </p:grpSpPr>
      <p:sp>
        <p:nvSpPr>
          <p:cNvPr id="213" name="Google Shape;213;p6"/>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PROTOTYPE WALKTHROUGH</a:t>
            </a:r>
            <a:endParaRPr/>
          </a:p>
        </p:txBody>
      </p:sp>
      <p:sp>
        <p:nvSpPr>
          <p:cNvPr id="214" name="Google Shape;214;p6"/>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Iteration 1 tests whether visibility changes behaviour</a:t>
            </a:r>
            <a:endParaRPr/>
          </a:p>
        </p:txBody>
      </p:sp>
      <p:sp>
        <p:nvSpPr>
          <p:cNvPr id="215" name="Google Shape;215;p6"/>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05</a:t>
            </a:r>
            <a:endParaRPr/>
          </a:p>
        </p:txBody>
      </p:sp>
      <p:sp>
        <p:nvSpPr>
          <p:cNvPr id="216" name="Google Shape;216;p6"/>
          <p:cNvSpPr/>
          <p:nvPr/>
        </p:nvSpPr>
        <p:spPr>
          <a:xfrm>
            <a:off x="451488" y="1280275"/>
            <a:ext cx="2322000" cy="4143600"/>
          </a:xfrm>
          <a:prstGeom prst="roundRect">
            <a:avLst>
              <a:gd fmla="val 10345" name="adj"/>
            </a:avLst>
          </a:prstGeom>
          <a:solidFill>
            <a:srgbClr val="FFFFFF"/>
          </a:solidFill>
          <a:ln cap="flat" cmpd="sng" w="10000">
            <a:solidFill>
              <a:srgbClr val="E8DDD2"/>
            </a:solidFill>
            <a:prstDash val="solid"/>
            <a:round/>
            <a:headEnd len="sm" w="sm" type="none"/>
            <a:tailEnd len="sm" w="sm" type="none"/>
          </a:ln>
        </p:spPr>
        <p:txBody>
          <a:bodyPr anchorCtr="0" anchor="t" bIns="48025" lIns="96075" spcFirstLastPara="1" rIns="96075" wrap="square" tIns="48025">
            <a:noAutofit/>
          </a:bodyPr>
          <a:lstStyle/>
          <a:p>
            <a:pPr indent="0" lvl="0" marL="0" marR="0" rtl="0" algn="l">
              <a:spcBef>
                <a:spcPts val="0"/>
              </a:spcBef>
              <a:spcAft>
                <a:spcPts val="0"/>
              </a:spcAft>
              <a:buNone/>
            </a:pPr>
            <a:r>
              <a:t/>
            </a:r>
            <a:endParaRPr sz="1891">
              <a:solidFill>
                <a:schemeClr val="dk1"/>
              </a:solidFill>
              <a:latin typeface="Calibri"/>
              <a:ea typeface="Calibri"/>
              <a:cs typeface="Calibri"/>
              <a:sym typeface="Calibri"/>
            </a:endParaRPr>
          </a:p>
        </p:txBody>
      </p:sp>
      <p:pic>
        <p:nvPicPr>
          <p:cNvPr id="217" name="Google Shape;217;p6"/>
          <p:cNvPicPr preferRelativeResize="0"/>
          <p:nvPr/>
        </p:nvPicPr>
        <p:blipFill rotWithShape="1">
          <a:blip r:embed="rId3">
            <a:alphaModFix/>
          </a:blip>
          <a:srcRect b="0" l="0" r="0" t="0"/>
          <a:stretch/>
        </p:blipFill>
        <p:spPr>
          <a:xfrm>
            <a:off x="656867" y="1295222"/>
            <a:ext cx="1911300" cy="4143900"/>
          </a:xfrm>
          <a:prstGeom prst="roundRect">
            <a:avLst>
              <a:gd fmla="val 9302" name="adj"/>
            </a:avLst>
          </a:prstGeom>
          <a:noFill/>
          <a:ln>
            <a:noFill/>
          </a:ln>
        </p:spPr>
      </p:pic>
      <p:sp>
        <p:nvSpPr>
          <p:cNvPr id="218" name="Google Shape;218;p6"/>
          <p:cNvSpPr/>
          <p:nvPr/>
        </p:nvSpPr>
        <p:spPr>
          <a:xfrm>
            <a:off x="451488" y="5604124"/>
            <a:ext cx="2322000" cy="2403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1261">
                <a:solidFill>
                  <a:srgbClr val="D94C16"/>
                </a:solidFill>
                <a:latin typeface="Calibri"/>
                <a:ea typeface="Calibri"/>
                <a:cs typeface="Calibri"/>
                <a:sym typeface="Calibri"/>
              </a:rPr>
              <a:t>1  CAPTURE</a:t>
            </a:r>
            <a:endParaRPr sz="1471"/>
          </a:p>
        </p:txBody>
      </p:sp>
      <p:sp>
        <p:nvSpPr>
          <p:cNvPr id="219" name="Google Shape;219;p6"/>
          <p:cNvSpPr/>
          <p:nvPr/>
        </p:nvSpPr>
        <p:spPr>
          <a:xfrm>
            <a:off x="666750" y="5915025"/>
            <a:ext cx="2209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736D67"/>
                </a:solidFill>
                <a:latin typeface="Calibri"/>
                <a:ea typeface="Calibri"/>
                <a:cs typeface="Calibri"/>
                <a:sym typeface="Calibri"/>
              </a:rPr>
              <a:t>Choose a low-effort entry path</a:t>
            </a:r>
            <a:endParaRPr/>
          </a:p>
        </p:txBody>
      </p:sp>
      <p:sp>
        <p:nvSpPr>
          <p:cNvPr id="220" name="Google Shape;220;p6"/>
          <p:cNvSpPr/>
          <p:nvPr/>
        </p:nvSpPr>
        <p:spPr>
          <a:xfrm>
            <a:off x="2843617" y="3121914"/>
            <a:ext cx="520500" cy="4005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2207">
                <a:solidFill>
                  <a:srgbClr val="FF6B2C"/>
                </a:solidFill>
                <a:latin typeface="Calibri"/>
                <a:ea typeface="Calibri"/>
                <a:cs typeface="Calibri"/>
                <a:sym typeface="Calibri"/>
              </a:rPr>
              <a:t>→</a:t>
            </a:r>
            <a:endParaRPr sz="1471"/>
          </a:p>
        </p:txBody>
      </p:sp>
      <p:sp>
        <p:nvSpPr>
          <p:cNvPr id="221" name="Google Shape;221;p6"/>
          <p:cNvSpPr/>
          <p:nvPr/>
        </p:nvSpPr>
        <p:spPr>
          <a:xfrm>
            <a:off x="3434142" y="1280275"/>
            <a:ext cx="2322000" cy="4143600"/>
          </a:xfrm>
          <a:prstGeom prst="roundRect">
            <a:avLst>
              <a:gd fmla="val 10345" name="adj"/>
            </a:avLst>
          </a:prstGeom>
          <a:solidFill>
            <a:srgbClr val="FFFFFF"/>
          </a:solidFill>
          <a:ln cap="flat" cmpd="sng" w="10000">
            <a:solidFill>
              <a:srgbClr val="E8DDD2"/>
            </a:solidFill>
            <a:prstDash val="solid"/>
            <a:round/>
            <a:headEnd len="sm" w="sm" type="none"/>
            <a:tailEnd len="sm" w="sm" type="none"/>
          </a:ln>
        </p:spPr>
        <p:txBody>
          <a:bodyPr anchorCtr="0" anchor="t" bIns="48025" lIns="96075" spcFirstLastPara="1" rIns="96075" wrap="square" tIns="48025">
            <a:noAutofit/>
          </a:bodyPr>
          <a:lstStyle/>
          <a:p>
            <a:pPr indent="0" lvl="0" marL="0" marR="0" rtl="0" algn="l">
              <a:spcBef>
                <a:spcPts val="0"/>
              </a:spcBef>
              <a:spcAft>
                <a:spcPts val="0"/>
              </a:spcAft>
              <a:buNone/>
            </a:pPr>
            <a:r>
              <a:t/>
            </a:r>
            <a:endParaRPr sz="1891">
              <a:solidFill>
                <a:schemeClr val="dk1"/>
              </a:solidFill>
              <a:latin typeface="Calibri"/>
              <a:ea typeface="Calibri"/>
              <a:cs typeface="Calibri"/>
              <a:sym typeface="Calibri"/>
            </a:endParaRPr>
          </a:p>
        </p:txBody>
      </p:sp>
      <p:pic>
        <p:nvPicPr>
          <p:cNvPr id="222" name="Google Shape;222;p6"/>
          <p:cNvPicPr preferRelativeResize="0"/>
          <p:nvPr/>
        </p:nvPicPr>
        <p:blipFill rotWithShape="1">
          <a:blip r:embed="rId4">
            <a:alphaModFix/>
          </a:blip>
          <a:srcRect b="0" l="0" r="0" t="0"/>
          <a:stretch/>
        </p:blipFill>
        <p:spPr>
          <a:xfrm>
            <a:off x="3639522" y="1295376"/>
            <a:ext cx="1911300" cy="4143600"/>
          </a:xfrm>
          <a:prstGeom prst="roundRect">
            <a:avLst>
              <a:gd fmla="val 9302" name="adj"/>
            </a:avLst>
          </a:prstGeom>
          <a:noFill/>
          <a:ln>
            <a:noFill/>
          </a:ln>
        </p:spPr>
      </p:pic>
      <p:sp>
        <p:nvSpPr>
          <p:cNvPr id="223" name="Google Shape;223;p6"/>
          <p:cNvSpPr/>
          <p:nvPr/>
        </p:nvSpPr>
        <p:spPr>
          <a:xfrm>
            <a:off x="3434142" y="5604124"/>
            <a:ext cx="2322000" cy="2403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1261">
                <a:solidFill>
                  <a:srgbClr val="D94C16"/>
                </a:solidFill>
                <a:latin typeface="Calibri"/>
                <a:ea typeface="Calibri"/>
                <a:cs typeface="Calibri"/>
                <a:sym typeface="Calibri"/>
              </a:rPr>
              <a:t>2  SEE</a:t>
            </a:r>
            <a:endParaRPr sz="1471"/>
          </a:p>
        </p:txBody>
      </p:sp>
      <p:sp>
        <p:nvSpPr>
          <p:cNvPr id="224" name="Google Shape;224;p6"/>
          <p:cNvSpPr/>
          <p:nvPr/>
        </p:nvSpPr>
        <p:spPr>
          <a:xfrm>
            <a:off x="3505200" y="5915025"/>
            <a:ext cx="2209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736D67"/>
                </a:solidFill>
                <a:latin typeface="Calibri"/>
                <a:ea typeface="Calibri"/>
                <a:cs typeface="Calibri"/>
                <a:sym typeface="Calibri"/>
              </a:rPr>
              <a:t>One view across storage locations</a:t>
            </a:r>
            <a:endParaRPr/>
          </a:p>
        </p:txBody>
      </p:sp>
      <p:sp>
        <p:nvSpPr>
          <p:cNvPr id="225" name="Google Shape;225;p6"/>
          <p:cNvSpPr/>
          <p:nvPr/>
        </p:nvSpPr>
        <p:spPr>
          <a:xfrm>
            <a:off x="5826272" y="3121914"/>
            <a:ext cx="520500" cy="4005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2207">
                <a:solidFill>
                  <a:srgbClr val="FF6B2C"/>
                </a:solidFill>
                <a:latin typeface="Calibri"/>
                <a:ea typeface="Calibri"/>
                <a:cs typeface="Calibri"/>
                <a:sym typeface="Calibri"/>
              </a:rPr>
              <a:t>→</a:t>
            </a:r>
            <a:endParaRPr sz="1471"/>
          </a:p>
        </p:txBody>
      </p:sp>
      <p:sp>
        <p:nvSpPr>
          <p:cNvPr id="226" name="Google Shape;226;p6"/>
          <p:cNvSpPr/>
          <p:nvPr/>
        </p:nvSpPr>
        <p:spPr>
          <a:xfrm>
            <a:off x="6416797" y="1280275"/>
            <a:ext cx="2322000" cy="4143600"/>
          </a:xfrm>
          <a:prstGeom prst="roundRect">
            <a:avLst>
              <a:gd fmla="val 10345" name="adj"/>
            </a:avLst>
          </a:prstGeom>
          <a:solidFill>
            <a:srgbClr val="FFFFFF"/>
          </a:solidFill>
          <a:ln cap="flat" cmpd="sng" w="10000">
            <a:solidFill>
              <a:srgbClr val="E8DDD2"/>
            </a:solidFill>
            <a:prstDash val="solid"/>
            <a:round/>
            <a:headEnd len="sm" w="sm" type="none"/>
            <a:tailEnd len="sm" w="sm" type="none"/>
          </a:ln>
        </p:spPr>
        <p:txBody>
          <a:bodyPr anchorCtr="0" anchor="t" bIns="48025" lIns="96075" spcFirstLastPara="1" rIns="96075" wrap="square" tIns="48025">
            <a:noAutofit/>
          </a:bodyPr>
          <a:lstStyle/>
          <a:p>
            <a:pPr indent="0" lvl="0" marL="0" marR="0" rtl="0" algn="l">
              <a:spcBef>
                <a:spcPts val="0"/>
              </a:spcBef>
              <a:spcAft>
                <a:spcPts val="0"/>
              </a:spcAft>
              <a:buNone/>
            </a:pPr>
            <a:r>
              <a:t/>
            </a:r>
            <a:endParaRPr sz="1891">
              <a:solidFill>
                <a:schemeClr val="dk1"/>
              </a:solidFill>
              <a:latin typeface="Calibri"/>
              <a:ea typeface="Calibri"/>
              <a:cs typeface="Calibri"/>
              <a:sym typeface="Calibri"/>
            </a:endParaRPr>
          </a:p>
        </p:txBody>
      </p:sp>
      <p:pic>
        <p:nvPicPr>
          <p:cNvPr id="227" name="Google Shape;227;p6"/>
          <p:cNvPicPr preferRelativeResize="0"/>
          <p:nvPr/>
        </p:nvPicPr>
        <p:blipFill rotWithShape="1">
          <a:blip r:embed="rId5">
            <a:alphaModFix/>
          </a:blip>
          <a:srcRect b="0" l="0" r="0" t="0"/>
          <a:stretch/>
        </p:blipFill>
        <p:spPr>
          <a:xfrm>
            <a:off x="6622177" y="1280350"/>
            <a:ext cx="1911300" cy="4143600"/>
          </a:xfrm>
          <a:prstGeom prst="roundRect">
            <a:avLst>
              <a:gd fmla="val 9302" name="adj"/>
            </a:avLst>
          </a:prstGeom>
          <a:noFill/>
          <a:ln>
            <a:noFill/>
          </a:ln>
        </p:spPr>
      </p:pic>
      <p:sp>
        <p:nvSpPr>
          <p:cNvPr id="228" name="Google Shape;228;p6"/>
          <p:cNvSpPr/>
          <p:nvPr/>
        </p:nvSpPr>
        <p:spPr>
          <a:xfrm>
            <a:off x="6416797" y="5604124"/>
            <a:ext cx="2322000" cy="2403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1261">
                <a:solidFill>
                  <a:srgbClr val="D94C16"/>
                </a:solidFill>
                <a:latin typeface="Calibri"/>
                <a:ea typeface="Calibri"/>
                <a:cs typeface="Calibri"/>
                <a:sym typeface="Calibri"/>
              </a:rPr>
              <a:t>3  PRIORITISE</a:t>
            </a:r>
            <a:endParaRPr sz="1471"/>
          </a:p>
        </p:txBody>
      </p:sp>
      <p:sp>
        <p:nvSpPr>
          <p:cNvPr id="229" name="Google Shape;229;p6"/>
          <p:cNvSpPr/>
          <p:nvPr/>
        </p:nvSpPr>
        <p:spPr>
          <a:xfrm>
            <a:off x="6343650" y="5915025"/>
            <a:ext cx="2209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736D67"/>
                </a:solidFill>
                <a:latin typeface="Calibri"/>
                <a:ea typeface="Calibri"/>
                <a:cs typeface="Calibri"/>
                <a:sym typeface="Calibri"/>
              </a:rPr>
              <a:t>Surface food that matters now</a:t>
            </a:r>
            <a:endParaRPr/>
          </a:p>
        </p:txBody>
      </p:sp>
      <p:sp>
        <p:nvSpPr>
          <p:cNvPr id="230" name="Google Shape;230;p6"/>
          <p:cNvSpPr/>
          <p:nvPr/>
        </p:nvSpPr>
        <p:spPr>
          <a:xfrm>
            <a:off x="8808927" y="3121914"/>
            <a:ext cx="520500" cy="4005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2207">
                <a:solidFill>
                  <a:srgbClr val="FF6B2C"/>
                </a:solidFill>
                <a:latin typeface="Calibri"/>
                <a:ea typeface="Calibri"/>
                <a:cs typeface="Calibri"/>
                <a:sym typeface="Calibri"/>
              </a:rPr>
              <a:t>→</a:t>
            </a:r>
            <a:endParaRPr sz="1471"/>
          </a:p>
        </p:txBody>
      </p:sp>
      <p:sp>
        <p:nvSpPr>
          <p:cNvPr id="231" name="Google Shape;231;p6"/>
          <p:cNvSpPr/>
          <p:nvPr/>
        </p:nvSpPr>
        <p:spPr>
          <a:xfrm>
            <a:off x="9399452" y="1280275"/>
            <a:ext cx="2322000" cy="4143600"/>
          </a:xfrm>
          <a:prstGeom prst="roundRect">
            <a:avLst>
              <a:gd fmla="val 10345" name="adj"/>
            </a:avLst>
          </a:prstGeom>
          <a:solidFill>
            <a:srgbClr val="FFFFFF"/>
          </a:solidFill>
          <a:ln cap="flat" cmpd="sng" w="10000">
            <a:solidFill>
              <a:srgbClr val="E8DDD2"/>
            </a:solidFill>
            <a:prstDash val="solid"/>
            <a:round/>
            <a:headEnd len="sm" w="sm" type="none"/>
            <a:tailEnd len="sm" w="sm" type="none"/>
          </a:ln>
        </p:spPr>
        <p:txBody>
          <a:bodyPr anchorCtr="0" anchor="t" bIns="48025" lIns="96075" spcFirstLastPara="1" rIns="96075" wrap="square" tIns="48025">
            <a:noAutofit/>
          </a:bodyPr>
          <a:lstStyle/>
          <a:p>
            <a:pPr indent="0" lvl="0" marL="0" marR="0" rtl="0" algn="l">
              <a:spcBef>
                <a:spcPts val="0"/>
              </a:spcBef>
              <a:spcAft>
                <a:spcPts val="0"/>
              </a:spcAft>
              <a:buNone/>
            </a:pPr>
            <a:r>
              <a:t/>
            </a:r>
            <a:endParaRPr sz="1891">
              <a:solidFill>
                <a:schemeClr val="dk1"/>
              </a:solidFill>
              <a:latin typeface="Calibri"/>
              <a:ea typeface="Calibri"/>
              <a:cs typeface="Calibri"/>
              <a:sym typeface="Calibri"/>
            </a:endParaRPr>
          </a:p>
        </p:txBody>
      </p:sp>
      <p:pic>
        <p:nvPicPr>
          <p:cNvPr id="232" name="Google Shape;232;p6"/>
          <p:cNvPicPr preferRelativeResize="0"/>
          <p:nvPr/>
        </p:nvPicPr>
        <p:blipFill rotWithShape="1">
          <a:blip r:embed="rId6">
            <a:alphaModFix/>
          </a:blip>
          <a:srcRect b="0" l="0" r="0" t="0"/>
          <a:stretch/>
        </p:blipFill>
        <p:spPr>
          <a:xfrm>
            <a:off x="9604832" y="1280349"/>
            <a:ext cx="1911300" cy="4143600"/>
          </a:xfrm>
          <a:prstGeom prst="roundRect">
            <a:avLst>
              <a:gd fmla="val 9302" name="adj"/>
            </a:avLst>
          </a:prstGeom>
          <a:noFill/>
          <a:ln>
            <a:noFill/>
          </a:ln>
        </p:spPr>
      </p:pic>
      <p:sp>
        <p:nvSpPr>
          <p:cNvPr id="233" name="Google Shape;233;p6"/>
          <p:cNvSpPr/>
          <p:nvPr/>
        </p:nvSpPr>
        <p:spPr>
          <a:xfrm>
            <a:off x="9399452" y="5604124"/>
            <a:ext cx="2322000" cy="240300"/>
          </a:xfrm>
          <a:prstGeom prst="rect">
            <a:avLst/>
          </a:prstGeom>
          <a:noFill/>
          <a:ln>
            <a:noFill/>
          </a:ln>
        </p:spPr>
        <p:txBody>
          <a:bodyPr anchorCtr="0" anchor="t" bIns="48025" lIns="96075" spcFirstLastPara="1" rIns="96075" wrap="square" tIns="48025">
            <a:noAutofit/>
          </a:bodyPr>
          <a:lstStyle/>
          <a:p>
            <a:pPr indent="0" lvl="0" marL="0" marR="0" rtl="0" algn="ctr">
              <a:spcBef>
                <a:spcPts val="0"/>
              </a:spcBef>
              <a:spcAft>
                <a:spcPts val="0"/>
              </a:spcAft>
              <a:buNone/>
            </a:pPr>
            <a:r>
              <a:rPr b="1" i="0" lang="en-US" sz="1261">
                <a:solidFill>
                  <a:srgbClr val="D94C16"/>
                </a:solidFill>
                <a:latin typeface="Calibri"/>
                <a:ea typeface="Calibri"/>
                <a:cs typeface="Calibri"/>
                <a:sym typeface="Calibri"/>
              </a:rPr>
              <a:t>4  ACT</a:t>
            </a:r>
            <a:endParaRPr sz="1471"/>
          </a:p>
        </p:txBody>
      </p:sp>
      <p:sp>
        <p:nvSpPr>
          <p:cNvPr id="234" name="Google Shape;234;p6"/>
          <p:cNvSpPr/>
          <p:nvPr/>
        </p:nvSpPr>
        <p:spPr>
          <a:xfrm>
            <a:off x="9182100" y="5915025"/>
            <a:ext cx="2209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736D67"/>
                </a:solidFill>
                <a:latin typeface="Calibri"/>
                <a:ea typeface="Calibri"/>
                <a:cs typeface="Calibri"/>
                <a:sym typeface="Calibri"/>
              </a:rPr>
              <a:t>Start from ingredients on hand</a:t>
            </a:r>
            <a:endParaRPr/>
          </a:p>
        </p:txBody>
      </p:sp>
      <p:sp>
        <p:nvSpPr>
          <p:cNvPr id="235" name="Google Shape;235;p6"/>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6"/>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41" name="Shape 241"/>
        <p:cNvGrpSpPr/>
        <p:nvPr/>
      </p:nvGrpSpPr>
      <p:grpSpPr>
        <a:xfrm>
          <a:off x="0" y="0"/>
          <a:ext cx="0" cy="0"/>
          <a:chOff x="0" y="0"/>
          <a:chExt cx="0" cy="0"/>
        </a:xfrm>
      </p:grpSpPr>
      <p:sp>
        <p:nvSpPr>
          <p:cNvPr id="242" name="Google Shape;242;p7"/>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SYSTEM + OPEN DATA</a:t>
            </a:r>
            <a:endParaRPr/>
          </a:p>
        </p:txBody>
      </p:sp>
      <p:sp>
        <p:nvSpPr>
          <p:cNvPr id="243" name="Google Shape;243;p7"/>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A simple architecture keeps AI useful—and accountable</a:t>
            </a:r>
            <a:endParaRPr/>
          </a:p>
        </p:txBody>
      </p:sp>
      <p:sp>
        <p:nvSpPr>
          <p:cNvPr id="244" name="Google Shape;244;p7"/>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06</a:t>
            </a:r>
            <a:endParaRPr/>
          </a:p>
        </p:txBody>
      </p:sp>
      <p:sp>
        <p:nvSpPr>
          <p:cNvPr id="245" name="Google Shape;245;p7"/>
          <p:cNvSpPr/>
          <p:nvPr/>
        </p:nvSpPr>
        <p:spPr>
          <a:xfrm>
            <a:off x="609600" y="1695450"/>
            <a:ext cx="1714500" cy="2971800"/>
          </a:xfrm>
          <a:prstGeom prst="roundRect">
            <a:avLst>
              <a:gd fmla="val 13333" name="adj"/>
            </a:avLst>
          </a:prstGeom>
          <a:solidFill>
            <a:srgbClr val="FFE7D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7"/>
          <p:cNvSpPr/>
          <p:nvPr/>
        </p:nvSpPr>
        <p:spPr>
          <a:xfrm>
            <a:off x="781050" y="1924050"/>
            <a:ext cx="1371600" cy="419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50">
                <a:solidFill>
                  <a:srgbClr val="D94C16"/>
                </a:solidFill>
                <a:latin typeface="Calibri"/>
                <a:ea typeface="Calibri"/>
                <a:cs typeface="Calibri"/>
                <a:sym typeface="Calibri"/>
              </a:rPr>
              <a:t>INPUT</a:t>
            </a:r>
            <a:endParaRPr/>
          </a:p>
        </p:txBody>
      </p:sp>
      <p:sp>
        <p:nvSpPr>
          <p:cNvPr id="247" name="Google Shape;247;p7"/>
          <p:cNvSpPr/>
          <p:nvPr/>
        </p:nvSpPr>
        <p:spPr>
          <a:xfrm>
            <a:off x="781050" y="2590800"/>
            <a:ext cx="13716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8" name="Google Shape;248;p7"/>
          <p:cNvSpPr/>
          <p:nvPr/>
        </p:nvSpPr>
        <p:spPr>
          <a:xfrm>
            <a:off x="838200" y="2714625"/>
            <a:ext cx="12573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Barcode</a:t>
            </a:r>
            <a:endParaRPr/>
          </a:p>
        </p:txBody>
      </p:sp>
      <p:sp>
        <p:nvSpPr>
          <p:cNvPr id="249" name="Google Shape;249;p7"/>
          <p:cNvSpPr/>
          <p:nvPr/>
        </p:nvSpPr>
        <p:spPr>
          <a:xfrm>
            <a:off x="781050" y="3181350"/>
            <a:ext cx="13716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0" name="Google Shape;250;p7"/>
          <p:cNvSpPr/>
          <p:nvPr/>
        </p:nvSpPr>
        <p:spPr>
          <a:xfrm>
            <a:off x="838200" y="3305175"/>
            <a:ext cx="12573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Photo</a:t>
            </a:r>
            <a:endParaRPr/>
          </a:p>
        </p:txBody>
      </p:sp>
      <p:sp>
        <p:nvSpPr>
          <p:cNvPr id="251" name="Google Shape;251;p7"/>
          <p:cNvSpPr/>
          <p:nvPr/>
        </p:nvSpPr>
        <p:spPr>
          <a:xfrm>
            <a:off x="781050" y="3771900"/>
            <a:ext cx="13716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2" name="Google Shape;252;p7"/>
          <p:cNvSpPr/>
          <p:nvPr/>
        </p:nvSpPr>
        <p:spPr>
          <a:xfrm>
            <a:off x="838200" y="3895725"/>
            <a:ext cx="12573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Manual</a:t>
            </a:r>
            <a:endParaRPr/>
          </a:p>
        </p:txBody>
      </p:sp>
      <p:sp>
        <p:nvSpPr>
          <p:cNvPr id="253" name="Google Shape;253;p7"/>
          <p:cNvSpPr/>
          <p:nvPr/>
        </p:nvSpPr>
        <p:spPr>
          <a:xfrm>
            <a:off x="2381250" y="3028950"/>
            <a:ext cx="32385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00">
                <a:solidFill>
                  <a:srgbClr val="FF6B2C"/>
                </a:solidFill>
                <a:latin typeface="Calibri"/>
                <a:ea typeface="Calibri"/>
                <a:cs typeface="Calibri"/>
                <a:sym typeface="Calibri"/>
              </a:rPr>
              <a:t>→</a:t>
            </a:r>
            <a:endParaRPr/>
          </a:p>
        </p:txBody>
      </p:sp>
      <p:sp>
        <p:nvSpPr>
          <p:cNvPr id="254" name="Google Shape;254;p7"/>
          <p:cNvSpPr/>
          <p:nvPr/>
        </p:nvSpPr>
        <p:spPr>
          <a:xfrm>
            <a:off x="2762250" y="1695450"/>
            <a:ext cx="2000250" cy="2971800"/>
          </a:xfrm>
          <a:prstGeom prst="roundRect">
            <a:avLst>
              <a:gd fmla="val 11429" name="adj"/>
            </a:avLst>
          </a:prstGeom>
          <a:solidFill>
            <a:srgbClr val="FFF8EE"/>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7"/>
          <p:cNvSpPr/>
          <p:nvPr/>
        </p:nvSpPr>
        <p:spPr>
          <a:xfrm>
            <a:off x="2933700" y="1924050"/>
            <a:ext cx="1657350" cy="419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50">
                <a:solidFill>
                  <a:srgbClr val="211E1B"/>
                </a:solidFill>
                <a:latin typeface="Calibri"/>
                <a:ea typeface="Calibri"/>
                <a:cs typeface="Calibri"/>
                <a:sym typeface="Calibri"/>
              </a:rPr>
              <a:t>KITCHMEMO CLIENT</a:t>
            </a:r>
            <a:endParaRPr/>
          </a:p>
        </p:txBody>
      </p:sp>
      <p:sp>
        <p:nvSpPr>
          <p:cNvPr id="256" name="Google Shape;256;p7"/>
          <p:cNvSpPr/>
          <p:nvPr/>
        </p:nvSpPr>
        <p:spPr>
          <a:xfrm>
            <a:off x="2933700" y="259080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7" name="Google Shape;257;p7"/>
          <p:cNvSpPr/>
          <p:nvPr/>
        </p:nvSpPr>
        <p:spPr>
          <a:xfrm>
            <a:off x="2990850" y="271462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Confirm item</a:t>
            </a:r>
            <a:endParaRPr/>
          </a:p>
        </p:txBody>
      </p:sp>
      <p:sp>
        <p:nvSpPr>
          <p:cNvPr id="258" name="Google Shape;258;p7"/>
          <p:cNvSpPr/>
          <p:nvPr/>
        </p:nvSpPr>
        <p:spPr>
          <a:xfrm>
            <a:off x="2933700" y="318135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9" name="Google Shape;259;p7"/>
          <p:cNvSpPr/>
          <p:nvPr/>
        </p:nvSpPr>
        <p:spPr>
          <a:xfrm>
            <a:off x="2990850" y="330517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Inventory view</a:t>
            </a:r>
            <a:endParaRPr/>
          </a:p>
        </p:txBody>
      </p:sp>
      <p:sp>
        <p:nvSpPr>
          <p:cNvPr id="260" name="Google Shape;260;p7"/>
          <p:cNvSpPr/>
          <p:nvPr/>
        </p:nvSpPr>
        <p:spPr>
          <a:xfrm>
            <a:off x="2933700" y="377190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1" name="Google Shape;261;p7"/>
          <p:cNvSpPr/>
          <p:nvPr/>
        </p:nvSpPr>
        <p:spPr>
          <a:xfrm>
            <a:off x="2990850" y="389572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Use First</a:t>
            </a:r>
            <a:endParaRPr/>
          </a:p>
        </p:txBody>
      </p:sp>
      <p:sp>
        <p:nvSpPr>
          <p:cNvPr id="262" name="Google Shape;262;p7"/>
          <p:cNvSpPr/>
          <p:nvPr/>
        </p:nvSpPr>
        <p:spPr>
          <a:xfrm>
            <a:off x="4819650" y="3028950"/>
            <a:ext cx="32385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00">
                <a:solidFill>
                  <a:srgbClr val="FF6B2C"/>
                </a:solidFill>
                <a:latin typeface="Calibri"/>
                <a:ea typeface="Calibri"/>
                <a:cs typeface="Calibri"/>
                <a:sym typeface="Calibri"/>
              </a:rPr>
              <a:t>→</a:t>
            </a:r>
            <a:endParaRPr/>
          </a:p>
        </p:txBody>
      </p:sp>
      <p:sp>
        <p:nvSpPr>
          <p:cNvPr id="263" name="Google Shape;263;p7"/>
          <p:cNvSpPr/>
          <p:nvPr/>
        </p:nvSpPr>
        <p:spPr>
          <a:xfrm>
            <a:off x="5200650" y="1695450"/>
            <a:ext cx="2000250" cy="2971800"/>
          </a:xfrm>
          <a:prstGeom prst="roundRect">
            <a:avLst>
              <a:gd fmla="val 11429" name="adj"/>
            </a:avLst>
          </a:prstGeom>
          <a:solidFill>
            <a:srgbClr val="DDF5F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7"/>
          <p:cNvSpPr/>
          <p:nvPr/>
        </p:nvSpPr>
        <p:spPr>
          <a:xfrm>
            <a:off x="5372100" y="1924050"/>
            <a:ext cx="1657350" cy="419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50">
                <a:solidFill>
                  <a:srgbClr val="18BBD1"/>
                </a:solidFill>
                <a:latin typeface="Calibri"/>
                <a:ea typeface="Calibri"/>
                <a:cs typeface="Calibri"/>
                <a:sym typeface="Calibri"/>
              </a:rPr>
              <a:t>APPLICATION LAYER</a:t>
            </a:r>
            <a:endParaRPr/>
          </a:p>
        </p:txBody>
      </p:sp>
      <p:sp>
        <p:nvSpPr>
          <p:cNvPr id="265" name="Google Shape;265;p7"/>
          <p:cNvSpPr/>
          <p:nvPr/>
        </p:nvSpPr>
        <p:spPr>
          <a:xfrm>
            <a:off x="5372100" y="259080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6" name="Google Shape;266;p7"/>
          <p:cNvSpPr/>
          <p:nvPr/>
        </p:nvSpPr>
        <p:spPr>
          <a:xfrm>
            <a:off x="5429250" y="271462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Inventory API</a:t>
            </a:r>
            <a:endParaRPr/>
          </a:p>
        </p:txBody>
      </p:sp>
      <p:sp>
        <p:nvSpPr>
          <p:cNvPr id="267" name="Google Shape;267;p7"/>
          <p:cNvSpPr/>
          <p:nvPr/>
        </p:nvSpPr>
        <p:spPr>
          <a:xfrm>
            <a:off x="5372100" y="318135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8" name="Google Shape;268;p7"/>
          <p:cNvSpPr/>
          <p:nvPr/>
        </p:nvSpPr>
        <p:spPr>
          <a:xfrm>
            <a:off x="5429250" y="330517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Priority rules</a:t>
            </a:r>
            <a:endParaRPr/>
          </a:p>
        </p:txBody>
      </p:sp>
      <p:sp>
        <p:nvSpPr>
          <p:cNvPr id="269" name="Google Shape;269;p7"/>
          <p:cNvSpPr/>
          <p:nvPr/>
        </p:nvSpPr>
        <p:spPr>
          <a:xfrm>
            <a:off x="5372100" y="3771900"/>
            <a:ext cx="165735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0" name="Google Shape;270;p7"/>
          <p:cNvSpPr/>
          <p:nvPr/>
        </p:nvSpPr>
        <p:spPr>
          <a:xfrm>
            <a:off x="5429250" y="3895725"/>
            <a:ext cx="154305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User controls</a:t>
            </a:r>
            <a:endParaRPr/>
          </a:p>
        </p:txBody>
      </p:sp>
      <p:sp>
        <p:nvSpPr>
          <p:cNvPr id="271" name="Google Shape;271;p7"/>
          <p:cNvSpPr/>
          <p:nvPr/>
        </p:nvSpPr>
        <p:spPr>
          <a:xfrm>
            <a:off x="7258050" y="3028950"/>
            <a:ext cx="32385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00">
                <a:solidFill>
                  <a:srgbClr val="FF6B2C"/>
                </a:solidFill>
                <a:latin typeface="Calibri"/>
                <a:ea typeface="Calibri"/>
                <a:cs typeface="Calibri"/>
                <a:sym typeface="Calibri"/>
              </a:rPr>
              <a:t>→</a:t>
            </a:r>
            <a:endParaRPr/>
          </a:p>
        </p:txBody>
      </p:sp>
      <p:sp>
        <p:nvSpPr>
          <p:cNvPr id="272" name="Google Shape;272;p7"/>
          <p:cNvSpPr/>
          <p:nvPr/>
        </p:nvSpPr>
        <p:spPr>
          <a:xfrm>
            <a:off x="7639050" y="1695450"/>
            <a:ext cx="1866900" cy="2971800"/>
          </a:xfrm>
          <a:prstGeom prst="roundRect">
            <a:avLst>
              <a:gd fmla="val 12245" name="adj"/>
            </a:avLst>
          </a:prstGeom>
          <a:solidFill>
            <a:srgbClr val="DFF3E7"/>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7"/>
          <p:cNvSpPr/>
          <p:nvPr/>
        </p:nvSpPr>
        <p:spPr>
          <a:xfrm>
            <a:off x="7810500" y="1924050"/>
            <a:ext cx="1524000" cy="419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50">
                <a:solidFill>
                  <a:srgbClr val="2FA866"/>
                </a:solidFill>
                <a:latin typeface="Calibri"/>
                <a:ea typeface="Calibri"/>
                <a:cs typeface="Calibri"/>
                <a:sym typeface="Calibri"/>
              </a:rPr>
              <a:t>DATA</a:t>
            </a:r>
            <a:endParaRPr/>
          </a:p>
        </p:txBody>
      </p:sp>
      <p:sp>
        <p:nvSpPr>
          <p:cNvPr id="274" name="Google Shape;274;p7"/>
          <p:cNvSpPr/>
          <p:nvPr/>
        </p:nvSpPr>
        <p:spPr>
          <a:xfrm>
            <a:off x="7810500" y="2590800"/>
            <a:ext cx="15240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5" name="Google Shape;275;p7"/>
          <p:cNvSpPr/>
          <p:nvPr/>
        </p:nvSpPr>
        <p:spPr>
          <a:xfrm>
            <a:off x="7867650" y="2714625"/>
            <a:ext cx="14097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Inventory DB</a:t>
            </a:r>
            <a:endParaRPr/>
          </a:p>
        </p:txBody>
      </p:sp>
      <p:sp>
        <p:nvSpPr>
          <p:cNvPr id="276" name="Google Shape;276;p7"/>
          <p:cNvSpPr/>
          <p:nvPr/>
        </p:nvSpPr>
        <p:spPr>
          <a:xfrm>
            <a:off x="7810500" y="3181350"/>
            <a:ext cx="15240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7" name="Google Shape;277;p7"/>
          <p:cNvSpPr/>
          <p:nvPr/>
        </p:nvSpPr>
        <p:spPr>
          <a:xfrm>
            <a:off x="7867650" y="3305175"/>
            <a:ext cx="14097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Open Food Facts</a:t>
            </a:r>
            <a:endParaRPr/>
          </a:p>
        </p:txBody>
      </p:sp>
      <p:sp>
        <p:nvSpPr>
          <p:cNvPr id="278" name="Google Shape;278;p7"/>
          <p:cNvSpPr/>
          <p:nvPr/>
        </p:nvSpPr>
        <p:spPr>
          <a:xfrm>
            <a:off x="7810500" y="3771900"/>
            <a:ext cx="15240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9" name="Google Shape;279;p7"/>
          <p:cNvSpPr/>
          <p:nvPr/>
        </p:nvSpPr>
        <p:spPr>
          <a:xfrm>
            <a:off x="7867650" y="3895725"/>
            <a:ext cx="14097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FSANZ guidance</a:t>
            </a:r>
            <a:endParaRPr/>
          </a:p>
        </p:txBody>
      </p:sp>
      <p:sp>
        <p:nvSpPr>
          <p:cNvPr id="280" name="Google Shape;280;p7"/>
          <p:cNvSpPr/>
          <p:nvPr/>
        </p:nvSpPr>
        <p:spPr>
          <a:xfrm>
            <a:off x="9563100" y="3028950"/>
            <a:ext cx="32385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00">
                <a:solidFill>
                  <a:srgbClr val="FF6B2C"/>
                </a:solidFill>
                <a:latin typeface="Calibri"/>
                <a:ea typeface="Calibri"/>
                <a:cs typeface="Calibri"/>
                <a:sym typeface="Calibri"/>
              </a:rPr>
              <a:t>→</a:t>
            </a:r>
            <a:endParaRPr/>
          </a:p>
        </p:txBody>
      </p:sp>
      <p:sp>
        <p:nvSpPr>
          <p:cNvPr id="281" name="Google Shape;281;p7"/>
          <p:cNvSpPr/>
          <p:nvPr/>
        </p:nvSpPr>
        <p:spPr>
          <a:xfrm>
            <a:off x="9944100" y="1695450"/>
            <a:ext cx="1638300" cy="2971800"/>
          </a:xfrm>
          <a:prstGeom prst="roundRect">
            <a:avLst>
              <a:gd fmla="val 13953" name="adj"/>
            </a:avLst>
          </a:prstGeom>
          <a:solidFill>
            <a:srgbClr val="FFE9A8"/>
          </a:solidFill>
          <a:ln cap="flat" cmpd="sng" w="9525">
            <a:solidFill>
              <a:srgbClr val="E8D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7"/>
          <p:cNvSpPr/>
          <p:nvPr/>
        </p:nvSpPr>
        <p:spPr>
          <a:xfrm>
            <a:off x="10115550" y="1924050"/>
            <a:ext cx="1295400" cy="419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50">
                <a:solidFill>
                  <a:srgbClr val="D94C16"/>
                </a:solidFill>
                <a:latin typeface="Calibri"/>
                <a:ea typeface="Calibri"/>
                <a:cs typeface="Calibri"/>
                <a:sym typeface="Calibri"/>
              </a:rPr>
              <a:t>AI WORKSTREAM</a:t>
            </a:r>
            <a:endParaRPr/>
          </a:p>
        </p:txBody>
      </p:sp>
      <p:sp>
        <p:nvSpPr>
          <p:cNvPr id="283" name="Google Shape;283;p7"/>
          <p:cNvSpPr/>
          <p:nvPr/>
        </p:nvSpPr>
        <p:spPr>
          <a:xfrm>
            <a:off x="10115550" y="2590800"/>
            <a:ext cx="12954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84" name="Google Shape;284;p7"/>
          <p:cNvSpPr/>
          <p:nvPr/>
        </p:nvSpPr>
        <p:spPr>
          <a:xfrm>
            <a:off x="10172700" y="2714625"/>
            <a:ext cx="11811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Recipe1M+</a:t>
            </a:r>
            <a:endParaRPr/>
          </a:p>
        </p:txBody>
      </p:sp>
      <p:sp>
        <p:nvSpPr>
          <p:cNvPr id="285" name="Google Shape;285;p7"/>
          <p:cNvSpPr/>
          <p:nvPr/>
        </p:nvSpPr>
        <p:spPr>
          <a:xfrm>
            <a:off x="10115550" y="3181350"/>
            <a:ext cx="12954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86" name="Google Shape;286;p7"/>
          <p:cNvSpPr/>
          <p:nvPr/>
        </p:nvSpPr>
        <p:spPr>
          <a:xfrm>
            <a:off x="10172700" y="3305175"/>
            <a:ext cx="1181100" cy="2095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Offline training</a:t>
            </a:r>
            <a:endParaRPr/>
          </a:p>
        </p:txBody>
      </p:sp>
      <p:sp>
        <p:nvSpPr>
          <p:cNvPr id="287" name="Google Shape;287;p7"/>
          <p:cNvSpPr/>
          <p:nvPr/>
        </p:nvSpPr>
        <p:spPr>
          <a:xfrm>
            <a:off x="10115550" y="3771900"/>
            <a:ext cx="1295400" cy="438150"/>
          </a:xfrm>
          <a:prstGeom prst="roundRect">
            <a:avLst>
              <a:gd fmla="val 26087"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88" name="Google Shape;288;p7"/>
          <p:cNvSpPr/>
          <p:nvPr/>
        </p:nvSpPr>
        <p:spPr>
          <a:xfrm>
            <a:off x="10134600" y="3876675"/>
            <a:ext cx="12192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211E1B"/>
                </a:solidFill>
                <a:latin typeface="Calibri"/>
                <a:ea typeface="Calibri"/>
                <a:cs typeface="Calibri"/>
                <a:sym typeface="Calibri"/>
              </a:rPr>
              <a:t>Rank + evaluate</a:t>
            </a:r>
            <a:endParaRPr/>
          </a:p>
        </p:txBody>
      </p:sp>
      <p:sp>
        <p:nvSpPr>
          <p:cNvPr id="289" name="Google Shape;289;p7"/>
          <p:cNvSpPr/>
          <p:nvPr/>
        </p:nvSpPr>
        <p:spPr>
          <a:xfrm>
            <a:off x="609600" y="5029200"/>
            <a:ext cx="8896350" cy="952500"/>
          </a:xfrm>
          <a:prstGeom prst="roundRect">
            <a:avLst>
              <a:gd fmla="val 16000" name="adj"/>
            </a:avLst>
          </a:prstGeom>
          <a:solidFill>
            <a:srgbClr val="211E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7"/>
          <p:cNvSpPr/>
          <p:nvPr/>
        </p:nvSpPr>
        <p:spPr>
          <a:xfrm>
            <a:off x="847090" y="5166360"/>
            <a:ext cx="1714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FF8A45"/>
                </a:solidFill>
                <a:latin typeface="Calibri"/>
                <a:ea typeface="Calibri"/>
                <a:cs typeface="Calibri"/>
                <a:sym typeface="Calibri"/>
              </a:rPr>
              <a:t>SAFETY GUARDRAIL</a:t>
            </a:r>
            <a:endParaRPr/>
          </a:p>
        </p:txBody>
      </p:sp>
      <p:sp>
        <p:nvSpPr>
          <p:cNvPr id="291" name="Google Shape;291;p7"/>
          <p:cNvSpPr/>
          <p:nvPr/>
        </p:nvSpPr>
        <p:spPr>
          <a:xfrm>
            <a:off x="666750" y="5419725"/>
            <a:ext cx="90868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FFFFFF"/>
                </a:solidFill>
                <a:latin typeface="Calibri"/>
                <a:ea typeface="Calibri"/>
                <a:cs typeface="Calibri"/>
                <a:sym typeface="Calibri"/>
              </a:rPr>
              <a:t>Distinguish use-by from best-before. Always require confirmation. Never automate edibility decisions.</a:t>
            </a:r>
            <a:endParaRPr/>
          </a:p>
        </p:txBody>
      </p:sp>
      <p:sp>
        <p:nvSpPr>
          <p:cNvPr id="292" name="Google Shape;292;p7"/>
          <p:cNvSpPr/>
          <p:nvPr/>
        </p:nvSpPr>
        <p:spPr>
          <a:xfrm>
            <a:off x="9944100" y="5029200"/>
            <a:ext cx="1638300" cy="952500"/>
          </a:xfrm>
          <a:prstGeom prst="roundRect">
            <a:avLst>
              <a:gd fmla="val 16000"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7"/>
          <p:cNvSpPr/>
          <p:nvPr/>
        </p:nvSpPr>
        <p:spPr>
          <a:xfrm>
            <a:off x="10001250" y="5042535"/>
            <a:ext cx="3429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a:solidFill>
                  <a:srgbClr val="D94C16"/>
                </a:solidFill>
                <a:latin typeface="Calibri"/>
                <a:ea typeface="Calibri"/>
                <a:cs typeface="Calibri"/>
                <a:sym typeface="Calibri"/>
              </a:rPr>
              <a:t>I1</a:t>
            </a:r>
            <a:endParaRPr/>
          </a:p>
        </p:txBody>
      </p:sp>
      <p:sp>
        <p:nvSpPr>
          <p:cNvPr id="294" name="Google Shape;294;p7"/>
          <p:cNvSpPr/>
          <p:nvPr/>
        </p:nvSpPr>
        <p:spPr>
          <a:xfrm>
            <a:off x="10001250" y="5348605"/>
            <a:ext cx="163830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Train + evaluate</a:t>
            </a:r>
            <a:endParaRPr/>
          </a:p>
        </p:txBody>
      </p:sp>
      <p:sp>
        <p:nvSpPr>
          <p:cNvPr id="295" name="Google Shape;295;p7"/>
          <p:cNvSpPr/>
          <p:nvPr/>
        </p:nvSpPr>
        <p:spPr>
          <a:xfrm>
            <a:off x="10134600" y="5743575"/>
            <a:ext cx="12573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a:solidFill>
                  <a:srgbClr val="736D67"/>
                </a:solidFill>
                <a:latin typeface="Calibri"/>
                <a:ea typeface="Calibri"/>
                <a:cs typeface="Calibri"/>
                <a:sym typeface="Calibri"/>
              </a:rPr>
              <a:t>I2  user-facing</a:t>
            </a:r>
            <a:endParaRPr/>
          </a:p>
        </p:txBody>
      </p:sp>
      <p:sp>
        <p:nvSpPr>
          <p:cNvPr id="296" name="Google Shape;296;p7"/>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7"/>
          <p:cNvSpPr/>
          <p:nvPr/>
        </p:nvSpPr>
        <p:spPr>
          <a:xfrm>
            <a:off x="609600" y="6553200"/>
            <a:ext cx="10001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a:solidFill>
                  <a:srgbClr val="736D67"/>
                </a:solidFill>
                <a:latin typeface="Calibri"/>
                <a:ea typeface="Calibri"/>
                <a:cs typeface="Calibri"/>
                <a:sym typeface="Calibri"/>
              </a:rPr>
              <a:t>Sources: Open Food Facts API (ODbL); MIT Recipe1M+; FSANZ date marking guidance</a:t>
            </a:r>
            <a:endParaRPr/>
          </a:p>
        </p:txBody>
      </p:sp>
      <p:sp>
        <p:nvSpPr>
          <p:cNvPr id="298" name="Google Shape;298;p7"/>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E"/>
        </a:solidFill>
      </p:bgPr>
    </p:bg>
    <p:spTree>
      <p:nvGrpSpPr>
        <p:cNvPr id="303" name="Shape 303"/>
        <p:cNvGrpSpPr/>
        <p:nvPr/>
      </p:nvGrpSpPr>
      <p:grpSpPr>
        <a:xfrm>
          <a:off x="0" y="0"/>
          <a:ext cx="0" cy="0"/>
          <a:chOff x="0" y="0"/>
          <a:chExt cx="0" cy="0"/>
        </a:xfrm>
      </p:grpSpPr>
      <p:sp>
        <p:nvSpPr>
          <p:cNvPr id="304" name="Google Shape;304;p8"/>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ITERATIONS 1–3</a:t>
            </a:r>
            <a:endParaRPr/>
          </a:p>
        </p:txBody>
      </p:sp>
      <p:sp>
        <p:nvSpPr>
          <p:cNvPr id="305" name="Google Shape;305;p8"/>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Build the decision loop before scaling the intelligence</a:t>
            </a:r>
            <a:endParaRPr/>
          </a:p>
        </p:txBody>
      </p:sp>
      <p:sp>
        <p:nvSpPr>
          <p:cNvPr id="306" name="Google Shape;306;p8"/>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07</a:t>
            </a:r>
            <a:endParaRPr/>
          </a:p>
        </p:txBody>
      </p:sp>
      <p:sp>
        <p:nvSpPr>
          <p:cNvPr id="307" name="Google Shape;307;p8"/>
          <p:cNvSpPr/>
          <p:nvPr/>
        </p:nvSpPr>
        <p:spPr>
          <a:xfrm>
            <a:off x="609600" y="1581150"/>
            <a:ext cx="3638550" cy="3905250"/>
          </a:xfrm>
          <a:prstGeom prst="roundRect">
            <a:avLst>
              <a:gd fmla="val 6283"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08" name="Google Shape;308;p8"/>
          <p:cNvSpPr/>
          <p:nvPr/>
        </p:nvSpPr>
        <p:spPr>
          <a:xfrm>
            <a:off x="838200" y="1809750"/>
            <a:ext cx="31813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ITERATION 1</a:t>
            </a:r>
            <a:endParaRPr/>
          </a:p>
        </p:txBody>
      </p:sp>
      <p:sp>
        <p:nvSpPr>
          <p:cNvPr id="309" name="Google Shape;309;p8"/>
          <p:cNvSpPr/>
          <p:nvPr/>
        </p:nvSpPr>
        <p:spPr>
          <a:xfrm>
            <a:off x="838200" y="2209800"/>
            <a:ext cx="31813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200">
                <a:solidFill>
                  <a:srgbClr val="211E1B"/>
                </a:solidFill>
                <a:latin typeface="Calibri"/>
                <a:ea typeface="Calibri"/>
                <a:cs typeface="Calibri"/>
                <a:sym typeface="Calibri"/>
              </a:rPr>
              <a:t>Make inventory useful</a:t>
            </a:r>
            <a:endParaRPr sz="1500"/>
          </a:p>
        </p:txBody>
      </p:sp>
      <p:sp>
        <p:nvSpPr>
          <p:cNvPr id="310" name="Google Shape;310;p8"/>
          <p:cNvSpPr/>
          <p:nvPr/>
        </p:nvSpPr>
        <p:spPr>
          <a:xfrm>
            <a:off x="838200" y="3105150"/>
            <a:ext cx="31813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11" name="Google Shape;311;p8"/>
          <p:cNvSpPr/>
          <p:nvPr/>
        </p:nvSpPr>
        <p:spPr>
          <a:xfrm>
            <a:off x="971550" y="3219450"/>
            <a:ext cx="29146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E1  Barcode / photo / manual capture</a:t>
            </a:r>
            <a:endParaRPr sz="1500"/>
          </a:p>
        </p:txBody>
      </p:sp>
      <p:sp>
        <p:nvSpPr>
          <p:cNvPr id="312" name="Google Shape;312;p8"/>
          <p:cNvSpPr/>
          <p:nvPr/>
        </p:nvSpPr>
        <p:spPr>
          <a:xfrm>
            <a:off x="838200" y="3657600"/>
            <a:ext cx="31813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13" name="Google Shape;313;p8"/>
          <p:cNvSpPr/>
          <p:nvPr/>
        </p:nvSpPr>
        <p:spPr>
          <a:xfrm>
            <a:off x="971550" y="3771900"/>
            <a:ext cx="29146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E2  Inventory + date labels</a:t>
            </a:r>
            <a:endParaRPr sz="1500"/>
          </a:p>
        </p:txBody>
      </p:sp>
      <p:sp>
        <p:nvSpPr>
          <p:cNvPr id="314" name="Google Shape;314;p8"/>
          <p:cNvSpPr/>
          <p:nvPr/>
        </p:nvSpPr>
        <p:spPr>
          <a:xfrm>
            <a:off x="838200" y="4210050"/>
            <a:ext cx="31813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15" name="Google Shape;315;p8"/>
          <p:cNvSpPr/>
          <p:nvPr/>
        </p:nvSpPr>
        <p:spPr>
          <a:xfrm>
            <a:off x="971550" y="4324350"/>
            <a:ext cx="29146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E3  Use First + reminders</a:t>
            </a:r>
            <a:endParaRPr sz="1500"/>
          </a:p>
        </p:txBody>
      </p:sp>
      <p:sp>
        <p:nvSpPr>
          <p:cNvPr id="316" name="Google Shape;316;p8"/>
          <p:cNvSpPr/>
          <p:nvPr/>
        </p:nvSpPr>
        <p:spPr>
          <a:xfrm>
            <a:off x="838200" y="4762500"/>
            <a:ext cx="31813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17" name="Google Shape;317;p8"/>
          <p:cNvSpPr/>
          <p:nvPr/>
        </p:nvSpPr>
        <p:spPr>
          <a:xfrm>
            <a:off x="971550" y="4876800"/>
            <a:ext cx="29146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E4  Train recipe model offline</a:t>
            </a:r>
            <a:endParaRPr sz="1500"/>
          </a:p>
        </p:txBody>
      </p:sp>
      <p:sp>
        <p:nvSpPr>
          <p:cNvPr id="318" name="Google Shape;318;p8"/>
          <p:cNvSpPr/>
          <p:nvPr/>
        </p:nvSpPr>
        <p:spPr>
          <a:xfrm>
            <a:off x="4210050" y="3219450"/>
            <a:ext cx="2667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500">
                <a:solidFill>
                  <a:srgbClr val="FF6B2C"/>
                </a:solidFill>
                <a:latin typeface="Calibri"/>
                <a:ea typeface="Calibri"/>
                <a:cs typeface="Calibri"/>
                <a:sym typeface="Calibri"/>
              </a:rPr>
              <a:t>→</a:t>
            </a:r>
            <a:endParaRPr sz="1500"/>
          </a:p>
        </p:txBody>
      </p:sp>
      <p:sp>
        <p:nvSpPr>
          <p:cNvPr id="319" name="Google Shape;319;p8"/>
          <p:cNvSpPr/>
          <p:nvPr/>
        </p:nvSpPr>
        <p:spPr>
          <a:xfrm>
            <a:off x="4438650" y="1581150"/>
            <a:ext cx="3390900" cy="3905250"/>
          </a:xfrm>
          <a:prstGeom prst="roundRect">
            <a:avLst>
              <a:gd fmla="val 6742"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20" name="Google Shape;320;p8"/>
          <p:cNvSpPr/>
          <p:nvPr/>
        </p:nvSpPr>
        <p:spPr>
          <a:xfrm>
            <a:off x="4667250" y="1809750"/>
            <a:ext cx="29337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18BBD1"/>
                </a:solidFill>
                <a:latin typeface="Calibri"/>
                <a:ea typeface="Calibri"/>
                <a:cs typeface="Calibri"/>
                <a:sym typeface="Calibri"/>
              </a:rPr>
              <a:t>ITERATION 2</a:t>
            </a:r>
            <a:endParaRPr/>
          </a:p>
        </p:txBody>
      </p:sp>
      <p:sp>
        <p:nvSpPr>
          <p:cNvPr id="321" name="Google Shape;321;p8"/>
          <p:cNvSpPr/>
          <p:nvPr/>
        </p:nvSpPr>
        <p:spPr>
          <a:xfrm>
            <a:off x="4667250" y="2209800"/>
            <a:ext cx="29337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200">
                <a:solidFill>
                  <a:srgbClr val="211E1B"/>
                </a:solidFill>
                <a:latin typeface="Calibri"/>
                <a:ea typeface="Calibri"/>
                <a:cs typeface="Calibri"/>
                <a:sym typeface="Calibri"/>
              </a:rPr>
              <a:t>Turn priority into action</a:t>
            </a:r>
            <a:endParaRPr sz="1500"/>
          </a:p>
        </p:txBody>
      </p:sp>
      <p:sp>
        <p:nvSpPr>
          <p:cNvPr id="322" name="Google Shape;322;p8"/>
          <p:cNvSpPr/>
          <p:nvPr/>
        </p:nvSpPr>
        <p:spPr>
          <a:xfrm>
            <a:off x="4667250" y="3105150"/>
            <a:ext cx="293370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23" name="Google Shape;323;p8"/>
          <p:cNvSpPr/>
          <p:nvPr/>
        </p:nvSpPr>
        <p:spPr>
          <a:xfrm>
            <a:off x="4648125" y="3181275"/>
            <a:ext cx="35625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E5  User-triggered expiry-priority recipes</a:t>
            </a:r>
            <a:endParaRPr sz="1500"/>
          </a:p>
        </p:txBody>
      </p:sp>
      <p:sp>
        <p:nvSpPr>
          <p:cNvPr id="324" name="Google Shape;324;p8"/>
          <p:cNvSpPr/>
          <p:nvPr/>
        </p:nvSpPr>
        <p:spPr>
          <a:xfrm>
            <a:off x="4667250" y="3657600"/>
            <a:ext cx="293370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25" name="Google Shape;325;p8"/>
          <p:cNvSpPr/>
          <p:nvPr/>
        </p:nvSpPr>
        <p:spPr>
          <a:xfrm>
            <a:off x="4800600" y="3771900"/>
            <a:ext cx="2667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E6  Storage + date guidance</a:t>
            </a:r>
            <a:endParaRPr sz="1500"/>
          </a:p>
        </p:txBody>
      </p:sp>
      <p:sp>
        <p:nvSpPr>
          <p:cNvPr id="326" name="Google Shape;326;p8"/>
          <p:cNvSpPr/>
          <p:nvPr/>
        </p:nvSpPr>
        <p:spPr>
          <a:xfrm>
            <a:off x="4667250" y="4210050"/>
            <a:ext cx="293370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27" name="Google Shape;327;p8"/>
          <p:cNvSpPr/>
          <p:nvPr/>
        </p:nvSpPr>
        <p:spPr>
          <a:xfrm>
            <a:off x="4800600" y="4324350"/>
            <a:ext cx="26670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E7  Pre-shop decision support</a:t>
            </a:r>
            <a:endParaRPr sz="1500"/>
          </a:p>
        </p:txBody>
      </p:sp>
      <p:sp>
        <p:nvSpPr>
          <p:cNvPr id="328" name="Google Shape;328;p8"/>
          <p:cNvSpPr/>
          <p:nvPr/>
        </p:nvSpPr>
        <p:spPr>
          <a:xfrm>
            <a:off x="7791450" y="3219450"/>
            <a:ext cx="2667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500">
                <a:solidFill>
                  <a:srgbClr val="FF6B2C"/>
                </a:solidFill>
                <a:latin typeface="Calibri"/>
                <a:ea typeface="Calibri"/>
                <a:cs typeface="Calibri"/>
                <a:sym typeface="Calibri"/>
              </a:rPr>
              <a:t>→</a:t>
            </a:r>
            <a:endParaRPr sz="1500"/>
          </a:p>
        </p:txBody>
      </p:sp>
      <p:sp>
        <p:nvSpPr>
          <p:cNvPr id="329" name="Google Shape;329;p8"/>
          <p:cNvSpPr/>
          <p:nvPr/>
        </p:nvSpPr>
        <p:spPr>
          <a:xfrm>
            <a:off x="8020050" y="1581150"/>
            <a:ext cx="3562350" cy="3905250"/>
          </a:xfrm>
          <a:prstGeom prst="roundRect">
            <a:avLst>
              <a:gd fmla="val 6417"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30" name="Google Shape;330;p8"/>
          <p:cNvSpPr/>
          <p:nvPr/>
        </p:nvSpPr>
        <p:spPr>
          <a:xfrm>
            <a:off x="8248650" y="1809750"/>
            <a:ext cx="31051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2FA866"/>
                </a:solidFill>
                <a:latin typeface="Calibri"/>
                <a:ea typeface="Calibri"/>
                <a:cs typeface="Calibri"/>
                <a:sym typeface="Calibri"/>
              </a:rPr>
              <a:t>ITERATION 3</a:t>
            </a:r>
            <a:endParaRPr/>
          </a:p>
        </p:txBody>
      </p:sp>
      <p:sp>
        <p:nvSpPr>
          <p:cNvPr id="331" name="Google Shape;331;p8"/>
          <p:cNvSpPr/>
          <p:nvPr/>
        </p:nvSpPr>
        <p:spPr>
          <a:xfrm>
            <a:off x="8248650" y="2209800"/>
            <a:ext cx="31051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200">
                <a:solidFill>
                  <a:srgbClr val="211E1B"/>
                </a:solidFill>
                <a:latin typeface="Calibri"/>
                <a:ea typeface="Calibri"/>
                <a:cs typeface="Calibri"/>
                <a:sym typeface="Calibri"/>
              </a:rPr>
              <a:t>Learn and coordinate</a:t>
            </a:r>
            <a:endParaRPr sz="1500"/>
          </a:p>
        </p:txBody>
      </p:sp>
      <p:sp>
        <p:nvSpPr>
          <p:cNvPr id="332" name="Google Shape;332;p8"/>
          <p:cNvSpPr/>
          <p:nvPr/>
        </p:nvSpPr>
        <p:spPr>
          <a:xfrm>
            <a:off x="8248650" y="3105150"/>
            <a:ext cx="31051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33" name="Google Shape;333;p8"/>
          <p:cNvSpPr/>
          <p:nvPr/>
        </p:nvSpPr>
        <p:spPr>
          <a:xfrm>
            <a:off x="8382000" y="3219450"/>
            <a:ext cx="28384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E8  Shared household inventory</a:t>
            </a:r>
            <a:endParaRPr sz="1500"/>
          </a:p>
        </p:txBody>
      </p:sp>
      <p:sp>
        <p:nvSpPr>
          <p:cNvPr id="334" name="Google Shape;334;p8"/>
          <p:cNvSpPr/>
          <p:nvPr/>
        </p:nvSpPr>
        <p:spPr>
          <a:xfrm>
            <a:off x="8248650" y="3657600"/>
            <a:ext cx="31051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35" name="Google Shape;335;p8"/>
          <p:cNvSpPr/>
          <p:nvPr/>
        </p:nvSpPr>
        <p:spPr>
          <a:xfrm>
            <a:off x="8382000" y="3771900"/>
            <a:ext cx="28384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Personalisation from feedback</a:t>
            </a:r>
            <a:endParaRPr sz="1500"/>
          </a:p>
        </p:txBody>
      </p:sp>
      <p:sp>
        <p:nvSpPr>
          <p:cNvPr id="336" name="Google Shape;336;p8"/>
          <p:cNvSpPr/>
          <p:nvPr/>
        </p:nvSpPr>
        <p:spPr>
          <a:xfrm>
            <a:off x="8248650" y="4210050"/>
            <a:ext cx="3105150" cy="419100"/>
          </a:xfrm>
          <a:prstGeom prst="roundRect">
            <a:avLst>
              <a:gd fmla="val 27273"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
        <p:nvSpPr>
          <p:cNvPr id="337" name="Google Shape;337;p8"/>
          <p:cNvSpPr/>
          <p:nvPr/>
        </p:nvSpPr>
        <p:spPr>
          <a:xfrm>
            <a:off x="8382000" y="4324350"/>
            <a:ext cx="28384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a:solidFill>
                  <a:srgbClr val="211E1B"/>
                </a:solidFill>
                <a:latin typeface="Calibri"/>
                <a:ea typeface="Calibri"/>
                <a:cs typeface="Calibri"/>
                <a:sym typeface="Calibri"/>
              </a:rPr>
              <a:t>Validated behaviour / impact insights</a:t>
            </a:r>
            <a:endParaRPr sz="1500"/>
          </a:p>
        </p:txBody>
      </p:sp>
      <p:sp>
        <p:nvSpPr>
          <p:cNvPr id="338" name="Google Shape;338;p8"/>
          <p:cNvSpPr/>
          <p:nvPr/>
        </p:nvSpPr>
        <p:spPr>
          <a:xfrm>
            <a:off x="609600" y="5829300"/>
            <a:ext cx="13525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I1 exit evidence</a:t>
            </a:r>
            <a:endParaRPr/>
          </a:p>
        </p:txBody>
      </p:sp>
      <p:sp>
        <p:nvSpPr>
          <p:cNvPr id="339" name="Google Shape;339;p8"/>
          <p:cNvSpPr/>
          <p:nvPr/>
        </p:nvSpPr>
        <p:spPr>
          <a:xfrm>
            <a:off x="2095500" y="5772150"/>
            <a:ext cx="90487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211E1B"/>
                </a:solidFill>
                <a:latin typeface="Calibri"/>
                <a:ea typeface="Calibri"/>
                <a:cs typeface="Calibri"/>
                <a:sym typeface="Calibri"/>
              </a:rPr>
              <a:t>Users complete the loop: add → notice → update → check before shopping; model baseline is reproducible and evaluated.</a:t>
            </a:r>
            <a:endParaRPr/>
          </a:p>
        </p:txBody>
      </p:sp>
      <p:sp>
        <p:nvSpPr>
          <p:cNvPr id="340" name="Google Shape;340;p8"/>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8"/>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46" name="Shape 346"/>
        <p:cNvGrpSpPr/>
        <p:nvPr/>
      </p:nvGrpSpPr>
      <p:grpSpPr>
        <a:xfrm>
          <a:off x="0" y="0"/>
          <a:ext cx="0" cy="0"/>
          <a:chOff x="0" y="0"/>
          <a:chExt cx="0" cy="0"/>
        </a:xfrm>
      </p:grpSpPr>
      <p:sp>
        <p:nvSpPr>
          <p:cNvPr id="347" name="Google Shape;347;p9"/>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DELIVERY + TOP RISKS</a:t>
            </a:r>
            <a:endParaRPr/>
          </a:p>
        </p:txBody>
      </p:sp>
      <p:sp>
        <p:nvSpPr>
          <p:cNvPr id="348" name="Google Shape;348;p9"/>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Iteration 1 delivers a product proof and an AI proof</a:t>
            </a:r>
            <a:endParaRPr/>
          </a:p>
        </p:txBody>
      </p:sp>
      <p:sp>
        <p:nvSpPr>
          <p:cNvPr id="349" name="Google Shape;349;p9"/>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08</a:t>
            </a:r>
            <a:endParaRPr/>
          </a:p>
        </p:txBody>
      </p:sp>
      <p:sp>
        <p:nvSpPr>
          <p:cNvPr id="350" name="Google Shape;350;p9"/>
          <p:cNvSpPr/>
          <p:nvPr/>
        </p:nvSpPr>
        <p:spPr>
          <a:xfrm>
            <a:off x="609600" y="1524000"/>
            <a:ext cx="5181600" cy="1809750"/>
          </a:xfrm>
          <a:prstGeom prst="roundRect">
            <a:avLst>
              <a:gd fmla="val 12632" name="adj"/>
            </a:avLst>
          </a:prstGeom>
          <a:solidFill>
            <a:srgbClr val="FFE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9"/>
          <p:cNvSpPr/>
          <p:nvPr/>
        </p:nvSpPr>
        <p:spPr>
          <a:xfrm>
            <a:off x="876300" y="1752600"/>
            <a:ext cx="1714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PRODUCT TRACK</a:t>
            </a:r>
            <a:endParaRPr/>
          </a:p>
        </p:txBody>
      </p:sp>
      <p:sp>
        <p:nvSpPr>
          <p:cNvPr id="352" name="Google Shape;352;p9"/>
          <p:cNvSpPr/>
          <p:nvPr/>
        </p:nvSpPr>
        <p:spPr>
          <a:xfrm>
            <a:off x="876300" y="2152650"/>
            <a:ext cx="40957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100">
                <a:solidFill>
                  <a:srgbClr val="211E1B"/>
                </a:solidFill>
                <a:latin typeface="Calibri"/>
                <a:ea typeface="Calibri"/>
                <a:cs typeface="Calibri"/>
                <a:sym typeface="Calibri"/>
              </a:rPr>
              <a:t>End-to-end inventory loop</a:t>
            </a:r>
            <a:endParaRPr/>
          </a:p>
        </p:txBody>
      </p:sp>
      <p:sp>
        <p:nvSpPr>
          <p:cNvPr id="353" name="Google Shape;353;p9"/>
          <p:cNvSpPr/>
          <p:nvPr/>
        </p:nvSpPr>
        <p:spPr>
          <a:xfrm>
            <a:off x="876300" y="2647950"/>
            <a:ext cx="428625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211E1B"/>
                </a:solidFill>
                <a:latin typeface="Calibri"/>
                <a:ea typeface="Calibri"/>
                <a:cs typeface="Calibri"/>
                <a:sym typeface="Calibri"/>
              </a:rPr>
              <a:t>Capture → confirm → store → prioritise → update → pre-shop check</a:t>
            </a:r>
            <a:endParaRPr/>
          </a:p>
        </p:txBody>
      </p:sp>
      <p:sp>
        <p:nvSpPr>
          <p:cNvPr id="354" name="Google Shape;354;p9"/>
          <p:cNvSpPr/>
          <p:nvPr/>
        </p:nvSpPr>
        <p:spPr>
          <a:xfrm>
            <a:off x="6019800" y="1524000"/>
            <a:ext cx="5562600" cy="1809750"/>
          </a:xfrm>
          <a:prstGeom prst="roundRect">
            <a:avLst>
              <a:gd fmla="val 12632" name="adj"/>
            </a:avLst>
          </a:prstGeom>
          <a:solidFill>
            <a:srgbClr val="DDF5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9"/>
          <p:cNvSpPr/>
          <p:nvPr/>
        </p:nvSpPr>
        <p:spPr>
          <a:xfrm>
            <a:off x="6286500" y="1752600"/>
            <a:ext cx="1714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18BBD1"/>
                </a:solidFill>
                <a:latin typeface="Calibri"/>
                <a:ea typeface="Calibri"/>
                <a:cs typeface="Calibri"/>
                <a:sym typeface="Calibri"/>
              </a:rPr>
              <a:t>AI TRACK</a:t>
            </a:r>
            <a:endParaRPr/>
          </a:p>
        </p:txBody>
      </p:sp>
      <p:sp>
        <p:nvSpPr>
          <p:cNvPr id="356" name="Google Shape;356;p9"/>
          <p:cNvSpPr/>
          <p:nvPr/>
        </p:nvSpPr>
        <p:spPr>
          <a:xfrm>
            <a:off x="6286500" y="2152650"/>
            <a:ext cx="4762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100">
                <a:solidFill>
                  <a:srgbClr val="211E1B"/>
                </a:solidFill>
                <a:latin typeface="Calibri"/>
                <a:ea typeface="Calibri"/>
                <a:cs typeface="Calibri"/>
                <a:sym typeface="Calibri"/>
              </a:rPr>
              <a:t>Reproducible recommendation baseline</a:t>
            </a:r>
            <a:endParaRPr/>
          </a:p>
        </p:txBody>
      </p:sp>
      <p:sp>
        <p:nvSpPr>
          <p:cNvPr id="357" name="Google Shape;357;p9"/>
          <p:cNvSpPr/>
          <p:nvPr/>
        </p:nvSpPr>
        <p:spPr>
          <a:xfrm>
            <a:off x="6286500" y="2647950"/>
            <a:ext cx="4762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211E1B"/>
                </a:solidFill>
                <a:latin typeface="Calibri"/>
                <a:ea typeface="Calibri"/>
                <a:cs typeface="Calibri"/>
                <a:sym typeface="Calibri"/>
              </a:rPr>
              <a:t>Clean public recipe data → train → evaluate ingredient relevance → document limits</a:t>
            </a:r>
            <a:endParaRPr/>
          </a:p>
        </p:txBody>
      </p:sp>
      <p:sp>
        <p:nvSpPr>
          <p:cNvPr id="358" name="Google Shape;358;p9"/>
          <p:cNvSpPr/>
          <p:nvPr/>
        </p:nvSpPr>
        <p:spPr>
          <a:xfrm>
            <a:off x="876300" y="3724275"/>
            <a:ext cx="5905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211E1B"/>
                </a:solidFill>
                <a:latin typeface="Calibri"/>
                <a:ea typeface="Calibri"/>
                <a:cs typeface="Calibri"/>
                <a:sym typeface="Calibri"/>
              </a:rPr>
              <a:t>Top risks—and the response designed into I1</a:t>
            </a:r>
            <a:endParaRPr/>
          </a:p>
        </p:txBody>
      </p:sp>
      <p:sp>
        <p:nvSpPr>
          <p:cNvPr id="359" name="Google Shape;359;p9"/>
          <p:cNvSpPr/>
          <p:nvPr/>
        </p:nvSpPr>
        <p:spPr>
          <a:xfrm>
            <a:off x="876300" y="4295775"/>
            <a:ext cx="21526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D94C16"/>
                </a:solidFill>
                <a:latin typeface="Calibri"/>
                <a:ea typeface="Calibri"/>
                <a:cs typeface="Calibri"/>
                <a:sym typeface="Calibri"/>
              </a:rPr>
              <a:t>ENTRY BURDEN</a:t>
            </a:r>
            <a:endParaRPr/>
          </a:p>
        </p:txBody>
      </p:sp>
      <p:sp>
        <p:nvSpPr>
          <p:cNvPr id="360" name="Google Shape;360;p9"/>
          <p:cNvSpPr/>
          <p:nvPr/>
        </p:nvSpPr>
        <p:spPr>
          <a:xfrm>
            <a:off x="3048000" y="4391025"/>
            <a:ext cx="457200" cy="19050"/>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9"/>
          <p:cNvSpPr/>
          <p:nvPr/>
        </p:nvSpPr>
        <p:spPr>
          <a:xfrm>
            <a:off x="3695700" y="4257675"/>
            <a:ext cx="7810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Minimum required fields + smart defaults</a:t>
            </a:r>
            <a:endParaRPr/>
          </a:p>
        </p:txBody>
      </p:sp>
      <p:sp>
        <p:nvSpPr>
          <p:cNvPr id="362" name="Google Shape;362;p9"/>
          <p:cNvSpPr/>
          <p:nvPr/>
        </p:nvSpPr>
        <p:spPr>
          <a:xfrm>
            <a:off x="876300" y="4752975"/>
            <a:ext cx="21526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18BBD1"/>
                </a:solidFill>
                <a:latin typeface="Calibri"/>
                <a:ea typeface="Calibri"/>
                <a:cs typeface="Calibri"/>
                <a:sym typeface="Calibri"/>
              </a:rPr>
              <a:t>SCAN / DATA ERRORS</a:t>
            </a:r>
            <a:endParaRPr/>
          </a:p>
        </p:txBody>
      </p:sp>
      <p:sp>
        <p:nvSpPr>
          <p:cNvPr id="363" name="Google Shape;363;p9"/>
          <p:cNvSpPr/>
          <p:nvPr/>
        </p:nvSpPr>
        <p:spPr>
          <a:xfrm>
            <a:off x="3048000" y="4848225"/>
            <a:ext cx="457200" cy="19050"/>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9"/>
          <p:cNvSpPr/>
          <p:nvPr/>
        </p:nvSpPr>
        <p:spPr>
          <a:xfrm>
            <a:off x="3695700" y="4714875"/>
            <a:ext cx="7810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Mandatory confirmation + manual fallback</a:t>
            </a:r>
            <a:endParaRPr/>
          </a:p>
        </p:txBody>
      </p:sp>
      <p:sp>
        <p:nvSpPr>
          <p:cNvPr id="365" name="Google Shape;365;p9"/>
          <p:cNvSpPr/>
          <p:nvPr/>
        </p:nvSpPr>
        <p:spPr>
          <a:xfrm>
            <a:off x="876300" y="5210175"/>
            <a:ext cx="21526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2FA866"/>
                </a:solidFill>
                <a:latin typeface="Calibri"/>
                <a:ea typeface="Calibri"/>
                <a:cs typeface="Calibri"/>
                <a:sym typeface="Calibri"/>
              </a:rPr>
              <a:t>RECIPE RELEVANCE</a:t>
            </a:r>
            <a:endParaRPr/>
          </a:p>
        </p:txBody>
      </p:sp>
      <p:sp>
        <p:nvSpPr>
          <p:cNvPr id="366" name="Google Shape;366;p9"/>
          <p:cNvSpPr/>
          <p:nvPr/>
        </p:nvSpPr>
        <p:spPr>
          <a:xfrm>
            <a:off x="3048000" y="5305425"/>
            <a:ext cx="457200" cy="19050"/>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9"/>
          <p:cNvSpPr/>
          <p:nvPr/>
        </p:nvSpPr>
        <p:spPr>
          <a:xfrm>
            <a:off x="3695700" y="5172075"/>
            <a:ext cx="7810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Offline metrics + scenario review before release</a:t>
            </a:r>
            <a:endParaRPr/>
          </a:p>
        </p:txBody>
      </p:sp>
      <p:sp>
        <p:nvSpPr>
          <p:cNvPr id="368" name="Google Shape;368;p9"/>
          <p:cNvSpPr/>
          <p:nvPr/>
        </p:nvSpPr>
        <p:spPr>
          <a:xfrm>
            <a:off x="876300" y="5667375"/>
            <a:ext cx="21526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a:solidFill>
                  <a:srgbClr val="E94D54"/>
                </a:solidFill>
                <a:latin typeface="Calibri"/>
                <a:ea typeface="Calibri"/>
                <a:cs typeface="Calibri"/>
                <a:sym typeface="Calibri"/>
              </a:rPr>
              <a:t>DATE / SAFETY CONFUSION</a:t>
            </a:r>
            <a:endParaRPr/>
          </a:p>
        </p:txBody>
      </p:sp>
      <p:sp>
        <p:nvSpPr>
          <p:cNvPr id="369" name="Google Shape;369;p9"/>
          <p:cNvSpPr/>
          <p:nvPr/>
        </p:nvSpPr>
        <p:spPr>
          <a:xfrm>
            <a:off x="3048000" y="5762625"/>
            <a:ext cx="457200" cy="19050"/>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9"/>
          <p:cNvSpPr/>
          <p:nvPr/>
        </p:nvSpPr>
        <p:spPr>
          <a:xfrm>
            <a:off x="3695700" y="5629275"/>
            <a:ext cx="7810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Label-aware language; no edibility decision</a:t>
            </a:r>
            <a:endParaRPr/>
          </a:p>
        </p:txBody>
      </p:sp>
      <p:sp>
        <p:nvSpPr>
          <p:cNvPr id="371" name="Google Shape;371;p9"/>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9"/>
          <p:cNvSpPr/>
          <p:nvPr/>
        </p:nvSpPr>
        <p:spPr>
          <a:xfrm>
            <a:off x="609600" y="6553200"/>
            <a:ext cx="10001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a:solidFill>
                  <a:srgbClr val="736D67"/>
                </a:solidFill>
                <a:latin typeface="Calibri"/>
                <a:ea typeface="Calibri"/>
                <a:cs typeface="Calibri"/>
                <a:sym typeface="Calibri"/>
              </a:rPr>
              <a:t>Sources: FSANZ date guidance; MIT Recipe1M+; </a:t>
            </a:r>
            <a:endParaRPr/>
          </a:p>
        </p:txBody>
      </p:sp>
      <p:sp>
        <p:nvSpPr>
          <p:cNvPr id="373" name="Google Shape;373;p9"/>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E"/>
        </a:solidFill>
      </p:bgPr>
    </p:bg>
    <p:spTree>
      <p:nvGrpSpPr>
        <p:cNvPr id="378" name="Shape 378"/>
        <p:cNvGrpSpPr/>
        <p:nvPr/>
      </p:nvGrpSpPr>
      <p:grpSpPr>
        <a:xfrm>
          <a:off x="0" y="0"/>
          <a:ext cx="0" cy="0"/>
          <a:chOff x="0" y="0"/>
          <a:chExt cx="0" cy="0"/>
        </a:xfrm>
      </p:grpSpPr>
      <p:sp>
        <p:nvSpPr>
          <p:cNvPr id="379" name="Google Shape;379;p10"/>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POTENTIAL SPONSORS + MENTOR ASK</a:t>
            </a:r>
            <a:endParaRPr/>
          </a:p>
        </p:txBody>
      </p:sp>
      <p:sp>
        <p:nvSpPr>
          <p:cNvPr id="380" name="Google Shape;380;p10"/>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We want partners who can challenge the behaviour—not just the build</a:t>
            </a:r>
            <a:endParaRPr/>
          </a:p>
        </p:txBody>
      </p:sp>
      <p:sp>
        <p:nvSpPr>
          <p:cNvPr id="381" name="Google Shape;381;p10"/>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09</a:t>
            </a:r>
            <a:endParaRPr/>
          </a:p>
        </p:txBody>
      </p:sp>
      <p:sp>
        <p:nvSpPr>
          <p:cNvPr id="382" name="Google Shape;382;p10"/>
          <p:cNvSpPr/>
          <p:nvPr/>
        </p:nvSpPr>
        <p:spPr>
          <a:xfrm>
            <a:off x="609600" y="150495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725">
                <a:solidFill>
                  <a:srgbClr val="211E1B"/>
                </a:solidFill>
                <a:latin typeface="Calibri"/>
                <a:ea typeface="Calibri"/>
                <a:cs typeface="Calibri"/>
                <a:sym typeface="Calibri"/>
              </a:rPr>
              <a:t>Potential partners</a:t>
            </a:r>
            <a:endParaRPr/>
          </a:p>
        </p:txBody>
      </p:sp>
      <p:sp>
        <p:nvSpPr>
          <p:cNvPr id="383" name="Google Shape;383;p10"/>
          <p:cNvSpPr/>
          <p:nvPr/>
        </p:nvSpPr>
        <p:spPr>
          <a:xfrm>
            <a:off x="609600" y="2188375"/>
            <a:ext cx="6785400" cy="1524000"/>
          </a:xfrm>
          <a:prstGeom prst="roundRect">
            <a:avLst>
              <a:gd fmla="val 15000" name="adj"/>
            </a:avLst>
          </a:prstGeom>
          <a:solidFill>
            <a:srgbClr val="FFE9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84" name="Google Shape;384;p10"/>
          <p:cNvSpPr/>
          <p:nvPr/>
        </p:nvSpPr>
        <p:spPr>
          <a:xfrm>
            <a:off x="876300" y="2397925"/>
            <a:ext cx="2095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900">
                <a:solidFill>
                  <a:srgbClr val="211E1B"/>
                </a:solidFill>
                <a:latin typeface="Calibri"/>
                <a:ea typeface="Calibri"/>
                <a:cs typeface="Calibri"/>
                <a:sym typeface="Calibri"/>
              </a:rPr>
              <a:t>OzHarvest</a:t>
            </a:r>
            <a:endParaRPr b="1" i="0" sz="2900">
              <a:solidFill>
                <a:srgbClr val="211E1B"/>
              </a:solidFill>
              <a:latin typeface="Calibri"/>
              <a:ea typeface="Calibri"/>
              <a:cs typeface="Calibri"/>
              <a:sym typeface="Calibri"/>
            </a:endParaRPr>
          </a:p>
        </p:txBody>
      </p:sp>
      <p:sp>
        <p:nvSpPr>
          <p:cNvPr id="385" name="Google Shape;385;p10"/>
          <p:cNvSpPr/>
          <p:nvPr/>
        </p:nvSpPr>
        <p:spPr>
          <a:xfrm>
            <a:off x="876300" y="2874175"/>
            <a:ext cx="60558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211E1B"/>
                </a:solidFill>
                <a:latin typeface="Calibri"/>
                <a:ea typeface="Calibri"/>
                <a:cs typeface="Calibri"/>
                <a:sym typeface="Calibri"/>
              </a:rPr>
              <a:t>Household behaviour expertise · Use It Up campaign · access to practical education and validation contexts</a:t>
            </a:r>
            <a:endParaRPr sz="1500"/>
          </a:p>
        </p:txBody>
      </p:sp>
      <p:sp>
        <p:nvSpPr>
          <p:cNvPr id="386" name="Google Shape;386;p10"/>
          <p:cNvSpPr/>
          <p:nvPr/>
        </p:nvSpPr>
        <p:spPr>
          <a:xfrm>
            <a:off x="4691550" y="4110038"/>
            <a:ext cx="6871800" cy="1524000"/>
          </a:xfrm>
          <a:prstGeom prst="roundRect">
            <a:avLst>
              <a:gd fmla="val 15000" name="adj"/>
            </a:avLst>
          </a:prstGeom>
          <a:solidFill>
            <a:srgbClr val="DFF3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87" name="Google Shape;387;p10"/>
          <p:cNvSpPr/>
          <p:nvPr/>
        </p:nvSpPr>
        <p:spPr>
          <a:xfrm>
            <a:off x="5068820" y="4319588"/>
            <a:ext cx="5524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500">
                <a:solidFill>
                  <a:srgbClr val="211E1B"/>
                </a:solidFill>
                <a:latin typeface="Calibri"/>
                <a:ea typeface="Calibri"/>
                <a:cs typeface="Calibri"/>
                <a:sym typeface="Calibri"/>
              </a:rPr>
              <a:t>End Food Waste Australia</a:t>
            </a:r>
            <a:endParaRPr sz="1500"/>
          </a:p>
        </p:txBody>
      </p:sp>
      <p:sp>
        <p:nvSpPr>
          <p:cNvPr id="388" name="Google Shape;388;p10"/>
          <p:cNvSpPr/>
          <p:nvPr/>
        </p:nvSpPr>
        <p:spPr>
          <a:xfrm>
            <a:off x="5068820" y="4795838"/>
            <a:ext cx="57942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211E1B"/>
                </a:solidFill>
                <a:latin typeface="Calibri"/>
                <a:ea typeface="Calibri"/>
                <a:cs typeface="Calibri"/>
                <a:sym typeface="Calibri"/>
              </a:rPr>
              <a:t>National strategy delivery · research + industry network · alignment with halving food waste by 2030</a:t>
            </a:r>
            <a:endParaRPr sz="1500"/>
          </a:p>
        </p:txBody>
      </p:sp>
      <p:sp>
        <p:nvSpPr>
          <p:cNvPr id="389" name="Google Shape;389;p10"/>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0"/>
          <p:cNvSpPr/>
          <p:nvPr/>
        </p:nvSpPr>
        <p:spPr>
          <a:xfrm>
            <a:off x="609600" y="6553200"/>
            <a:ext cx="10001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a:solidFill>
                  <a:srgbClr val="736D67"/>
                </a:solidFill>
                <a:latin typeface="Calibri"/>
                <a:ea typeface="Calibri"/>
                <a:cs typeface="Calibri"/>
                <a:sym typeface="Calibri"/>
              </a:rPr>
              <a:t>Sources: DCCEEW—End Food Waste Australia; OzHarvest Use It Up</a:t>
            </a:r>
            <a:endParaRPr/>
          </a:p>
        </p:txBody>
      </p:sp>
      <p:sp>
        <p:nvSpPr>
          <p:cNvPr id="391" name="Google Shape;391;p10"/>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96" name="Shape 396"/>
        <p:cNvGrpSpPr/>
        <p:nvPr/>
      </p:nvGrpSpPr>
      <p:grpSpPr>
        <a:xfrm>
          <a:off x="0" y="0"/>
          <a:ext cx="0" cy="0"/>
          <a:chOff x="0" y="0"/>
          <a:chExt cx="0" cy="0"/>
        </a:xfrm>
      </p:grpSpPr>
      <p:sp>
        <p:nvSpPr>
          <p:cNvPr id="397" name="Google Shape;397;p11"/>
          <p:cNvSpPr/>
          <p:nvPr/>
        </p:nvSpPr>
        <p:spPr>
          <a:xfrm>
            <a:off x="609600" y="323850"/>
            <a:ext cx="476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975">
                <a:solidFill>
                  <a:srgbClr val="D94C16"/>
                </a:solidFill>
                <a:latin typeface="Calibri"/>
                <a:ea typeface="Calibri"/>
                <a:cs typeface="Calibri"/>
                <a:sym typeface="Calibri"/>
              </a:rPr>
              <a:t>BACKUP</a:t>
            </a:r>
            <a:endParaRPr/>
          </a:p>
        </p:txBody>
      </p:sp>
      <p:sp>
        <p:nvSpPr>
          <p:cNvPr id="398" name="Google Shape;398;p11"/>
          <p:cNvSpPr/>
          <p:nvPr/>
        </p:nvSpPr>
        <p:spPr>
          <a:xfrm>
            <a:off x="609600" y="628650"/>
            <a:ext cx="10953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00">
                <a:solidFill>
                  <a:srgbClr val="211E1B"/>
                </a:solidFill>
                <a:latin typeface="Calibri"/>
                <a:ea typeface="Calibri"/>
                <a:cs typeface="Calibri"/>
                <a:sym typeface="Calibri"/>
              </a:rPr>
              <a:t>Evidence and data sources</a:t>
            </a:r>
            <a:endParaRPr/>
          </a:p>
        </p:txBody>
      </p:sp>
      <p:sp>
        <p:nvSpPr>
          <p:cNvPr id="399" name="Google Shape;399;p11"/>
          <p:cNvSpPr/>
          <p:nvPr/>
        </p:nvSpPr>
        <p:spPr>
          <a:xfrm>
            <a:off x="11239500" y="361950"/>
            <a:ext cx="342900" cy="2095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975">
                <a:solidFill>
                  <a:srgbClr val="736D67"/>
                </a:solidFill>
                <a:latin typeface="Calibri"/>
                <a:ea typeface="Calibri"/>
                <a:cs typeface="Calibri"/>
                <a:sym typeface="Calibri"/>
              </a:rPr>
              <a:t>10</a:t>
            </a:r>
            <a:endParaRPr/>
          </a:p>
        </p:txBody>
      </p:sp>
      <p:sp>
        <p:nvSpPr>
          <p:cNvPr id="400" name="Google Shape;400;p11"/>
          <p:cNvSpPr/>
          <p:nvPr/>
        </p:nvSpPr>
        <p:spPr>
          <a:xfrm>
            <a:off x="609600" y="15811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AUSTRALIAN SCALE</a:t>
            </a:r>
            <a:endParaRPr/>
          </a:p>
        </p:txBody>
      </p:sp>
      <p:sp>
        <p:nvSpPr>
          <p:cNvPr id="401" name="Google Shape;401;p11"/>
          <p:cNvSpPr/>
          <p:nvPr/>
        </p:nvSpPr>
        <p:spPr>
          <a:xfrm>
            <a:off x="609600" y="19050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DCCEEW — Reducing Australia’s food waste (2025)</a:t>
            </a:r>
            <a:endParaRPr/>
          </a:p>
        </p:txBody>
      </p:sp>
      <p:sp>
        <p:nvSpPr>
          <p:cNvPr id="402" name="Google Shape;402;p11"/>
          <p:cNvSpPr/>
          <p:nvPr/>
        </p:nvSpPr>
        <p:spPr>
          <a:xfrm>
            <a:off x="609600" y="24574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3" name="Google Shape;403;p11"/>
          <p:cNvSpPr/>
          <p:nvPr/>
        </p:nvSpPr>
        <p:spPr>
          <a:xfrm>
            <a:off x="609600" y="26860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TARGET GROUP</a:t>
            </a:r>
            <a:endParaRPr/>
          </a:p>
        </p:txBody>
      </p:sp>
      <p:sp>
        <p:nvSpPr>
          <p:cNvPr id="404" name="Google Shape;404;p11"/>
          <p:cNvSpPr/>
          <p:nvPr/>
        </p:nvSpPr>
        <p:spPr>
          <a:xfrm>
            <a:off x="609600" y="30099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OzHarvest — Half Eaten: Household Food Waste Research (2025)</a:t>
            </a:r>
            <a:endParaRPr/>
          </a:p>
        </p:txBody>
      </p:sp>
      <p:sp>
        <p:nvSpPr>
          <p:cNvPr id="405" name="Google Shape;405;p11"/>
          <p:cNvSpPr/>
          <p:nvPr/>
        </p:nvSpPr>
        <p:spPr>
          <a:xfrm>
            <a:off x="609600" y="35623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6" name="Google Shape;406;p11"/>
          <p:cNvSpPr/>
          <p:nvPr/>
        </p:nvSpPr>
        <p:spPr>
          <a:xfrm>
            <a:off x="609600" y="37909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NEWS</a:t>
            </a:r>
            <a:endParaRPr/>
          </a:p>
        </p:txBody>
      </p:sp>
      <p:sp>
        <p:nvSpPr>
          <p:cNvPr id="407" name="Google Shape;407;p11"/>
          <p:cNvSpPr/>
          <p:nvPr/>
        </p:nvSpPr>
        <p:spPr>
          <a:xfrm>
            <a:off x="609600" y="41148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ABC RN — Australians throw out $1,500 of food each year (2025)</a:t>
            </a:r>
            <a:endParaRPr/>
          </a:p>
        </p:txBody>
      </p:sp>
      <p:sp>
        <p:nvSpPr>
          <p:cNvPr id="408" name="Google Shape;408;p11"/>
          <p:cNvSpPr/>
          <p:nvPr/>
        </p:nvSpPr>
        <p:spPr>
          <a:xfrm>
            <a:off x="609600" y="46672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9" name="Google Shape;409;p11"/>
          <p:cNvSpPr/>
          <p:nvPr/>
        </p:nvSpPr>
        <p:spPr>
          <a:xfrm>
            <a:off x="609600" y="48958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BEHAVIOUR</a:t>
            </a:r>
            <a:endParaRPr/>
          </a:p>
        </p:txBody>
      </p:sp>
      <p:sp>
        <p:nvSpPr>
          <p:cNvPr id="410" name="Google Shape;410;p11"/>
          <p:cNvSpPr/>
          <p:nvPr/>
        </p:nvSpPr>
        <p:spPr>
          <a:xfrm>
            <a:off x="609600" y="52197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End Food Waste Australia — The Great Unwaste research</a:t>
            </a:r>
            <a:endParaRPr/>
          </a:p>
        </p:txBody>
      </p:sp>
      <p:sp>
        <p:nvSpPr>
          <p:cNvPr id="411" name="Google Shape;411;p11"/>
          <p:cNvSpPr/>
          <p:nvPr/>
        </p:nvSpPr>
        <p:spPr>
          <a:xfrm>
            <a:off x="609600" y="57721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2" name="Google Shape;412;p11"/>
          <p:cNvSpPr/>
          <p:nvPr/>
        </p:nvSpPr>
        <p:spPr>
          <a:xfrm>
            <a:off x="6286500" y="15811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LABELS</a:t>
            </a:r>
            <a:endParaRPr/>
          </a:p>
        </p:txBody>
      </p:sp>
      <p:sp>
        <p:nvSpPr>
          <p:cNvPr id="413" name="Google Shape;413;p11"/>
          <p:cNvSpPr/>
          <p:nvPr/>
        </p:nvSpPr>
        <p:spPr>
          <a:xfrm>
            <a:off x="6286500" y="19050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RMIT + EFWA date-labelling research; FSANZ guidance (2025)</a:t>
            </a:r>
            <a:endParaRPr/>
          </a:p>
        </p:txBody>
      </p:sp>
      <p:sp>
        <p:nvSpPr>
          <p:cNvPr id="414" name="Google Shape;414;p11"/>
          <p:cNvSpPr/>
          <p:nvPr/>
        </p:nvSpPr>
        <p:spPr>
          <a:xfrm>
            <a:off x="6286500" y="24574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5" name="Google Shape;415;p11"/>
          <p:cNvSpPr/>
          <p:nvPr/>
        </p:nvSpPr>
        <p:spPr>
          <a:xfrm>
            <a:off x="6286500" y="26860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STRATEGY</a:t>
            </a:r>
            <a:endParaRPr/>
          </a:p>
        </p:txBody>
      </p:sp>
      <p:sp>
        <p:nvSpPr>
          <p:cNvPr id="416" name="Google Shape;416;p11"/>
          <p:cNvSpPr/>
          <p:nvPr/>
        </p:nvSpPr>
        <p:spPr>
          <a:xfrm>
            <a:off x="6286500" y="30099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National Food Waste Strategy; UN SDG target 12.3</a:t>
            </a:r>
            <a:endParaRPr/>
          </a:p>
        </p:txBody>
      </p:sp>
      <p:sp>
        <p:nvSpPr>
          <p:cNvPr id="417" name="Google Shape;417;p11"/>
          <p:cNvSpPr/>
          <p:nvPr/>
        </p:nvSpPr>
        <p:spPr>
          <a:xfrm>
            <a:off x="6286500" y="35623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8" name="Google Shape;418;p11"/>
          <p:cNvSpPr/>
          <p:nvPr/>
        </p:nvSpPr>
        <p:spPr>
          <a:xfrm>
            <a:off x="6286500" y="37909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OPEN DATA</a:t>
            </a:r>
            <a:endParaRPr/>
          </a:p>
        </p:txBody>
      </p:sp>
      <p:sp>
        <p:nvSpPr>
          <p:cNvPr id="419" name="Google Shape;419;p11"/>
          <p:cNvSpPr/>
          <p:nvPr/>
        </p:nvSpPr>
        <p:spPr>
          <a:xfrm>
            <a:off x="6286500" y="41148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Open Food Facts API (ODbL)</a:t>
            </a:r>
            <a:endParaRPr/>
          </a:p>
        </p:txBody>
      </p:sp>
      <p:sp>
        <p:nvSpPr>
          <p:cNvPr id="420" name="Google Shape;420;p11"/>
          <p:cNvSpPr/>
          <p:nvPr/>
        </p:nvSpPr>
        <p:spPr>
          <a:xfrm>
            <a:off x="6286500" y="46672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1" name="Google Shape;421;p11"/>
          <p:cNvSpPr/>
          <p:nvPr/>
        </p:nvSpPr>
        <p:spPr>
          <a:xfrm>
            <a:off x="6286500" y="4895850"/>
            <a:ext cx="15621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D94C16"/>
                </a:solidFill>
                <a:latin typeface="Calibri"/>
                <a:ea typeface="Calibri"/>
                <a:cs typeface="Calibri"/>
                <a:sym typeface="Calibri"/>
              </a:rPr>
              <a:t>AI DATA</a:t>
            </a:r>
            <a:endParaRPr/>
          </a:p>
        </p:txBody>
      </p:sp>
      <p:sp>
        <p:nvSpPr>
          <p:cNvPr id="422" name="Google Shape;422;p11"/>
          <p:cNvSpPr/>
          <p:nvPr/>
        </p:nvSpPr>
        <p:spPr>
          <a:xfrm>
            <a:off x="6286500" y="5219700"/>
            <a:ext cx="4762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a:solidFill>
                  <a:srgbClr val="211E1B"/>
                </a:solidFill>
                <a:latin typeface="Calibri"/>
                <a:ea typeface="Calibri"/>
                <a:cs typeface="Calibri"/>
                <a:sym typeface="Calibri"/>
              </a:rPr>
              <a:t>MIT Recipe1M+; UCSD Food.com recipe interactions</a:t>
            </a:r>
            <a:endParaRPr/>
          </a:p>
        </p:txBody>
      </p:sp>
      <p:sp>
        <p:nvSpPr>
          <p:cNvPr id="423" name="Google Shape;423;p11"/>
          <p:cNvSpPr/>
          <p:nvPr/>
        </p:nvSpPr>
        <p:spPr>
          <a:xfrm>
            <a:off x="6286500" y="5772150"/>
            <a:ext cx="47625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4" name="Google Shape;424;p11"/>
          <p:cNvSpPr/>
          <p:nvPr/>
        </p:nvSpPr>
        <p:spPr>
          <a:xfrm>
            <a:off x="609600" y="6486525"/>
            <a:ext cx="10972800" cy="9525"/>
          </a:xfrm>
          <a:prstGeom prst="rect">
            <a:avLst/>
          </a:prstGeom>
          <a:solidFill>
            <a:srgbClr val="E8DDD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1"/>
          <p:cNvSpPr/>
          <p:nvPr/>
        </p:nvSpPr>
        <p:spPr>
          <a:xfrm>
            <a:off x="11182350" y="6553200"/>
            <a:ext cx="40005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750">
                <a:solidFill>
                  <a:srgbClr val="736D67"/>
                </a:solidFill>
                <a:latin typeface="Calibri"/>
                <a:ea typeface="Calibri"/>
                <a:cs typeface="Calibri"/>
                <a:sym typeface="Calibri"/>
              </a:rPr>
              <a:t>10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2026-08-19T17:17:26Z</dcterms:created>
  <dc:creator>Walnut Exporter</dc:creator>
</cp:coreProperties>
</file>