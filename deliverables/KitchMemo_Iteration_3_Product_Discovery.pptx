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bb5b9acad5465a" /><Relationship Type="http://schemas.openxmlformats.org/officeDocument/2006/relationships/extended-properties" Target="/docProps/app.xml" Id="Rf018fe1cddea4eaa" /><Relationship Type="http://schemas.openxmlformats.org/officeDocument/2006/relationships/officeDocument" Target="/ppt/presentation.xml" Id="R7dd6ba32dc504c7b" /></Relationships>
</file>

<file path=ppt/presentation.xml><?xml version="1.0" encoding="utf-8"?>
<p:presentation xmlns:p="http://schemas.openxmlformats.org/presentationml/2006/main">
  <p:sldMasterIdLst>
    <p:sldMasterId xmlns:r="http://schemas.openxmlformats.org/officeDocument/2006/relationships" id="2147483648" r:id="R3dde8fdca9324e67"/>
  </p:sldMasterIdLst>
  <p:notesMasterIdLst>
    <p:notesMasterId xmlns:r="http://schemas.openxmlformats.org/officeDocument/2006/relationships" r:id="R8e3c8996dd5d4834"/>
  </p:notesMasterIdLst>
  <p:sldIdLst>
    <p:sldId xmlns:r="http://schemas.openxmlformats.org/officeDocument/2006/relationships" id="256" r:id="Ra1afb3b68b7f4a79"/>
    <p:sldId xmlns:r="http://schemas.openxmlformats.org/officeDocument/2006/relationships" id="257" r:id="R9abb6b2c86d441f0"/>
    <p:sldId xmlns:r="http://schemas.openxmlformats.org/officeDocument/2006/relationships" id="258" r:id="R1d68c836a6044bb0"/>
    <p:sldId xmlns:r="http://schemas.openxmlformats.org/officeDocument/2006/relationships" id="259" r:id="Rd24bebd850834f92"/>
    <p:sldId xmlns:r="http://schemas.openxmlformats.org/officeDocument/2006/relationships" id="260" r:id="Rb830f1f7c79245bb"/>
    <p:sldId xmlns:r="http://schemas.openxmlformats.org/officeDocument/2006/relationships" id="261" r:id="R7ddcf5e4e9784410"/>
    <p:sldId xmlns:r="http://schemas.openxmlformats.org/officeDocument/2006/relationships" id="262" r:id="R65a46a01987141d2"/>
    <p:sldId xmlns:r="http://schemas.openxmlformats.org/officeDocument/2006/relationships" id="263" r:id="Re0ddd207a3694d79"/>
    <p:sldId xmlns:r="http://schemas.openxmlformats.org/officeDocument/2006/relationships" id="264" r:id="Rd3875fd716ca412f"/>
    <p:sldId xmlns:r="http://schemas.openxmlformats.org/officeDocument/2006/relationships" id="265" r:id="Rf6e44be4e76047c1"/>
    <p:sldId xmlns:r="http://schemas.openxmlformats.org/officeDocument/2006/relationships" id="266" r:id="R33738b82a4fa48a0"/>
    <p:sldId xmlns:r="http://schemas.openxmlformats.org/officeDocument/2006/relationships" id="267" r:id="R2cf0e4f3c9d443f6"/>
    <p:sldId xmlns:r="http://schemas.openxmlformats.org/officeDocument/2006/relationships" id="268" r:id="Rd24a5622345f4fa6"/>
    <p:sldId xmlns:r="http://schemas.openxmlformats.org/officeDocument/2006/relationships" id="269" r:id="R762b3f7034b740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d95b54f2f24c5b" /><Relationship Type="http://schemas.openxmlformats.org/officeDocument/2006/relationships/slideMaster" Target="/ppt/slideMasters/slideMaster1.xml" Id="R3dde8fdca9324e67" /><Relationship Type="http://schemas.openxmlformats.org/officeDocument/2006/relationships/notesMaster" Target="/ppt/notesMasters/notesMaster1.xml" Id="R8e3c8996dd5d4834" /><Relationship Type="http://schemas.openxmlformats.org/officeDocument/2006/relationships/presProps" Target="/ppt/presProps.xml" Id="R88cb8708eece4b8c" /><Relationship Type="http://schemas.openxmlformats.org/officeDocument/2006/relationships/tableStyles" Target="/ppt/tableStyles.xml" Id="R06702be79a754517" /><Relationship Type="http://schemas.openxmlformats.org/officeDocument/2006/relationships/slide" Target="/ppt/slides/slide1.xml" Id="Ra1afb3b68b7f4a79" /><Relationship Type="http://schemas.openxmlformats.org/officeDocument/2006/relationships/slide" Target="/ppt/slides/slide2.xml" Id="R9abb6b2c86d441f0" /><Relationship Type="http://schemas.openxmlformats.org/officeDocument/2006/relationships/slide" Target="/ppt/slides/slide3.xml" Id="R1d68c836a6044bb0" /><Relationship Type="http://schemas.openxmlformats.org/officeDocument/2006/relationships/slide" Target="/ppt/slides/slide4.xml" Id="Rd24bebd850834f92" /><Relationship Type="http://schemas.openxmlformats.org/officeDocument/2006/relationships/slide" Target="/ppt/slides/slide5.xml" Id="Rb830f1f7c79245bb" /><Relationship Type="http://schemas.openxmlformats.org/officeDocument/2006/relationships/slide" Target="/ppt/slides/slide6.xml" Id="R7ddcf5e4e9784410" /><Relationship Type="http://schemas.openxmlformats.org/officeDocument/2006/relationships/slide" Target="/ppt/slides/slide7.xml" Id="R65a46a01987141d2" /><Relationship Type="http://schemas.openxmlformats.org/officeDocument/2006/relationships/slide" Target="/ppt/slides/slide8.xml" Id="Re0ddd207a3694d79" /><Relationship Type="http://schemas.openxmlformats.org/officeDocument/2006/relationships/slide" Target="/ppt/slides/slide9.xml" Id="Rd3875fd716ca412f" /><Relationship Type="http://schemas.openxmlformats.org/officeDocument/2006/relationships/slide" Target="/ppt/slides/slide10.xml" Id="Rf6e44be4e76047c1" /><Relationship Type="http://schemas.openxmlformats.org/officeDocument/2006/relationships/slide" Target="/ppt/slides/slide11.xml" Id="R33738b82a4fa48a0" /><Relationship Type="http://schemas.openxmlformats.org/officeDocument/2006/relationships/slide" Target="/ppt/slides/slide12.xml" Id="R2cf0e4f3c9d443f6" /><Relationship Type="http://schemas.openxmlformats.org/officeDocument/2006/relationships/slide" Target="/ppt/slides/slide13.xml" Id="Rd24a5622345f4fa6" /><Relationship Type="http://schemas.openxmlformats.org/officeDocument/2006/relationships/slide" Target="/ppt/slides/slide14.xml" Id="R762b3f7034b740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aad383926149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itchMemo Warm Kitchen">
      <a:dk1>
        <a:srgbClr val="000000"/>
      </a:dk1>
      <a:lt1>
        <a:srgbClr val="FFFFFF"/>
      </a:lt1>
      <a:dk2>
        <a:srgbClr val="173D31"/>
      </a:dk2>
      <a:lt2>
        <a:srgbClr val="F3EFE6"/>
      </a:lt2>
      <a:accent1>
        <a:srgbClr val="173D31"/>
      </a:accent1>
      <a:accent2>
        <a:srgbClr val="2A8A61"/>
      </a:accent2>
      <a:accent3>
        <a:srgbClr val="D47B21"/>
      </a:accent3>
      <a:accent4>
        <a:srgbClr val="C96E5A"/>
      </a:accent4>
      <a:accent5>
        <a:srgbClr val="647C68"/>
      </a:accent5>
      <a:accent6>
        <a:srgbClr val="789087"/>
      </a:accent6>
      <a:hlink>
        <a:srgbClr val="2A8A61"/>
      </a:hlink>
      <a:folHlink>
        <a:srgbClr val="647C68"/>
      </a:folHlink>
    </a:clrScheme>
    <a:fontScheme name="Office">
      <a:majorFont>
        <a:latin typeface="Calibri Light"/>
        <a:ea typeface="Calibri Light"/>
        <a:cs typeface="Calibri Light"/>
      </a:majorFont>
      <a:minorFont>
        <a:latin typeface="Calibri"/>
        <a:ea typeface="Calibri"/>
        <a:cs typeface="Calibri"/>
      </a:minorFont>
    </a:fontScheme>
    <a:fmtScheme name="KitchMemo Warm Kitch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d0817a15914fa3" /><Relationship Type="http://schemas.openxmlformats.org/officeDocument/2006/relationships/notesMaster" Target="/ppt/notesMasters/notesMaster1.xml" Id="R26245ecc4ddc43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8b50bee27642d6" /><Relationship Type="http://schemas.openxmlformats.org/officeDocument/2006/relationships/notesMaster" Target="/ppt/notesMasters/notesMaster1.xml" Id="Ra3ff365d777745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0b965e7e6c4123" /><Relationship Type="http://schemas.openxmlformats.org/officeDocument/2006/relationships/notesMaster" Target="/ppt/notesMasters/notesMaster1.xml" Id="R20dc584dc9d546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405cee849240ac" /><Relationship Type="http://schemas.openxmlformats.org/officeDocument/2006/relationships/notesMaster" Target="/ppt/notesMasters/notesMaster1.xml" Id="R0a2923607e2041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5021b873594989" /><Relationship Type="http://schemas.openxmlformats.org/officeDocument/2006/relationships/notesMaster" Target="/ppt/notesMasters/notesMaster1.xml" Id="R7f2ac545ae2c4e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80eb991bfe4a29" /><Relationship Type="http://schemas.openxmlformats.org/officeDocument/2006/relationships/notesMaster" Target="/ppt/notesMasters/notesMaster1.xml" Id="Rdf287c64871241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c4cdf462014296" /><Relationship Type="http://schemas.openxmlformats.org/officeDocument/2006/relationships/notesMaster" Target="/ppt/notesMasters/notesMaster1.xml" Id="R0d785b66582140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38755a35514a39" /><Relationship Type="http://schemas.openxmlformats.org/officeDocument/2006/relationships/notesMaster" Target="/ppt/notesMasters/notesMaster1.xml" Id="R8f15a4d0190c4a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43811e5c134042" /><Relationship Type="http://schemas.openxmlformats.org/officeDocument/2006/relationships/notesMaster" Target="/ppt/notesMasters/notesMaster1.xml" Id="Rfa7e5fced3674b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97d9449d794e84" /><Relationship Type="http://schemas.openxmlformats.org/officeDocument/2006/relationships/notesMaster" Target="/ppt/notesMasters/notesMaster1.xml" Id="R148a6e2a6def47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fc6a9af177413b" /><Relationship Type="http://schemas.openxmlformats.org/officeDocument/2006/relationships/notesMaster" Target="/ppt/notesMasters/notesMaster1.xml" Id="R9bfdc8abcfab451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3bb832ee96458c" /><Relationship Type="http://schemas.openxmlformats.org/officeDocument/2006/relationships/notesMaster" Target="/ppt/notesMasters/notesMaster1.xml" Id="R5f7124e191bf4c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5b67c4f71f4e9d" /><Relationship Type="http://schemas.openxmlformats.org/officeDocument/2006/relationships/notesMaster" Target="/ppt/notesMasters/notesMaster1.xml" Id="Rbd7b9294c8c1418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dc1078e239d447b" /><Relationship Type="http://schemas.openxmlformats.org/officeDocument/2006/relationships/notesMaster" Target="/ppt/notesMasters/notesMaster1.xml" Id="Reacf703909b04e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Elevator pitch: KitchMemo helps young households see what food is already at home, decide what to use first and make shopping decisions with the household in mind. This presentation focuses on planned Iteration 3 work and the evidence behind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OzHarvest, Half Eaten: Australian Household Food Waste Research Report (2025). Figures describe surveyed households with at least one member under 35; they are household estimates, not per-person measurements or KitchMemo user outcomes. Source: https://www.ozharvest.org/app/uploads/2025/08/Half-Eaten-Australian-Household-Food-Waste-Research-Report-2025.pdf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paths checked: FridgeAssistantScreen.tsx, assistantApi.ts, assistantOrchestrator.js and reviewed RAG knowledge; AchievementStageReport.tsx, achievementApi.ts and /api/achievements/report; ShoppingScreen.tsx, cartApi.ts, AchievementsScreen.tsx and achievement components. This slide describes current code paths, not a claim that every planned Iteration 3 item is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Feedback statements and sources were supplied by the team. Animation and game are existing roadmap work intended to help users understand the meaning behind KitchMemo and encourage continued use. Do not present retention or behaviour change as an achieved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new features and four improvement areas follow the Iteration 3 scope supplied by the team. Detailed user journeys and implementation paths are expanded in the following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docs/art-direction/food-waste-animation/kitchmemo-food-waste-visual.mp4 and src/components/FoodWasteStory.tsx. The 36-second animatic shows shopping, forgotten food, an OzHarvest estimate and a next-time action. People and events are teaching scenarios, not observed KitchMemo user behaviour. Source: OzHarvest, Half Eaten (2025), https://www.ozharvest.org/app/uploads/2025/08/Half-Eaten-Australian-Household-Food-Waste-Research-Report-2025.pdf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Game scenarios are instructional simulations, not real user outcomes. Behavioural topics follow End Food Waste Australia household intervention guidance: check existing supplies, buy appropriate quantities, use suitable items that need attention first and plan for changing schedules. Date-label safety follows Food Standards Australia New Zealand: https://www.foodstandards.gov.au/consumer/labelling/dates. Project research: docs/research/FOOD_WASTE_ANIMATION_GAME_DATA.md.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report implementation is in src/components/achievement/AchievementStageReport.tsx and src/services/achievementApi.ts, backed by GET /api/achievements/report and get_fridge_stage_report. It displays a stage period, completed and discarded batches, price coverage, trends, reasons, categories and upcoming items. User-event logs are not complete proof of real-world waste reduction. Do not convert counts into environmental savings without an approved factor and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Iteration 3 scope supplied by the team. Current implementation paths include SharedFridgeFlowModal.tsx, FridgeSpaceMenu.tsx, sharingApi.ts and server/src/routes/sharing.js. The modal supports create, share, join and manage flows, including QR/invite-code paths. This slide frames the feature as an Iteration 3 feature as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page-length feedback came from a mentor; the request for a more metallic badge appearance came from user testing. Current related code is in AchievementsScreen.tsx, AchievementQuestSection.tsx, AchievementStageReport.tsx and badgePresentation.ts. Displayed medal artwork comes from existing project assets and illustrates the intended material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shopping implementation includes a cart list, quantity controls, inventory peek and checkout review in src/components/shopping/ShoppingScreen.tsx and adjacent components. The proposed UI focus is inferred from the existing flow; the team has not supplied a separate user-testing quote for this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Mentor feedback supplied by the team. The current assistant supports RAG citations, linked inventory batches, four quick prompts, suggested actions and explicit confirmation for write-like actions, according to docs/ai-assistant/KITCHMEMO_AI_ASSISTANT_IMPLEMENTATION_CONTEXT.md and src/components/fridge/FridgeAssistantScreen.tsx. Iteration 3 can improve presentation and discoverability; quick actions are already represented in the current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assistant design in docs/ai-assistant/KITCHMEMO_AI_ASSISTANT_IMPLEMENTATION_CONTEXT.md uses one user-level GPT-5.6 Luna orchestration call with tool selection, read-only tools, RAG, server validation and confirmation-gated actions; it deliberately has no separate intent classifier. Jev is TypeSafe AI’s System One decision model, launched in early access on 15 September 2026. The company describes typed decision outputs and gives up string generation. A serial call can increase latency; task-specific workflow evaluation must show whether fewer tool rounds or safe short-circuits offset it. Sources: https://typesafe.ai/blog/introducing-system-one-models-and-jev and https://api.typesafe.ai/docs. Vendor speed/cost claims are not KitchMemo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are proposed candidates, not approved targets. Establish baselines from the current product before setting thresholds. For AI, evaluate task completion, retrieval relevance, answer grounding, citation accuracy, tool selection, safety behaviour, turns, p50/p95 latency, fallback rate and cost per successfully resolved task. Do not treat thumbs-up rate, conversion or game completion alone as proof of answer quality or real-world food-waste reduction. Keep Jev only if measured workflow efficiency improves without unacceptable quality or safety loss.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0a503eadf940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61239f12c344f5" /><Relationship Type="http://schemas.openxmlformats.org/officeDocument/2006/relationships/slideLayout" Target="/ppt/slideLayouts/slideLayout1.xml" Id="R7af483b99f2244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f483b99f2244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itchMemo Warm Kitchen">
      <a:dk1>
        <a:srgbClr val="000000"/>
      </a:dk1>
      <a:lt1>
        <a:srgbClr val="FFFFFF"/>
      </a:lt1>
      <a:dk2>
        <a:srgbClr val="173D31"/>
      </a:dk2>
      <a:lt2>
        <a:srgbClr val="F3EFE6"/>
      </a:lt2>
      <a:accent1>
        <a:srgbClr val="173D31"/>
      </a:accent1>
      <a:accent2>
        <a:srgbClr val="2A8A61"/>
      </a:accent2>
      <a:accent3>
        <a:srgbClr val="D47B21"/>
      </a:accent3>
      <a:accent4>
        <a:srgbClr val="C96E5A"/>
      </a:accent4>
      <a:accent5>
        <a:srgbClr val="647C68"/>
      </a:accent5>
      <a:accent6>
        <a:srgbClr val="789087"/>
      </a:accent6>
      <a:hlink>
        <a:srgbClr val="2A8A61"/>
      </a:hlink>
      <a:folHlink>
        <a:srgbClr val="647C68"/>
      </a:folHlink>
    </a:clrScheme>
    <a:fontScheme name="Office">
      <a:majorFont>
        <a:latin typeface="Calibri Light"/>
        <a:ea typeface="Calibri Light"/>
        <a:cs typeface="Calibri Light"/>
      </a:majorFont>
      <a:minorFont>
        <a:latin typeface="Calibri"/>
        <a:ea typeface="Calibri"/>
        <a:cs typeface="Calibri"/>
      </a:minorFont>
    </a:fontScheme>
    <a:fmtScheme name="KitchMemo Warm Kitch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919e071e4204a97" /><Relationship Type="http://schemas.openxmlformats.org/officeDocument/2006/relationships/image" Target="/ppt/media/image.png" Id="Rc2d9cd36cf9f4bdf" /><Relationship Type="http://schemas.openxmlformats.org/officeDocument/2006/relationships/notesSlide" Target="/ppt/notesSlides/notesSlide1.xml" Id="Rfd6bdab750784a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643fb861fb4ccd" /><Relationship Type="http://schemas.openxmlformats.org/officeDocument/2006/relationships/notesSlide" Target="/ppt/notesSlides/notesSlide2.xml" Id="R5efe9d3f3e824c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889927838941f8" /><Relationship Type="http://schemas.openxmlformats.org/officeDocument/2006/relationships/notesSlide" Target="/ppt/notesSlides/notesSlide3.xml" Id="Rd50027a1a7cb46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6f67f3a47604626" /><Relationship Type="http://schemas.openxmlformats.org/officeDocument/2006/relationships/notesSlide" Target="/ppt/notesSlides/notesSlide4.xml" Id="R32a88056d3d148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eb8e8b8197486f" /><Relationship Type="http://schemas.openxmlformats.org/officeDocument/2006/relationships/notesSlide" Target="/ppt/notesSlides/notesSlide5.xml" Id="Rd019a32e1bb349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1e1a48396f427e" /><Relationship Type="http://schemas.openxmlformats.org/officeDocument/2006/relationships/image" Target="/ppt/media/image2.png" Id="Rf6fe0e9e204f4faa" /><Relationship Type="http://schemas.openxmlformats.org/officeDocument/2006/relationships/notesSlide" Target="/ppt/notesSlides/notesSlide6.xml" Id="R4730c4e9ab4146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5f612b3fd44530" /><Relationship Type="http://schemas.openxmlformats.org/officeDocument/2006/relationships/image" Target="/ppt/media/image3.png" Id="R4ca6c08307f84e21" /><Relationship Type="http://schemas.openxmlformats.org/officeDocument/2006/relationships/notesSlide" Target="/ppt/notesSlides/notesSlide7.xml" Id="R09f1c9ad7a074b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47881763544968" /><Relationship Type="http://schemas.openxmlformats.org/officeDocument/2006/relationships/notesSlide" Target="/ppt/notesSlides/notesSlide8.xml" Id="R91a1ef5a3be54e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606855bf6c74fb3" /><Relationship Type="http://schemas.openxmlformats.org/officeDocument/2006/relationships/notesSlide" Target="/ppt/notesSlides/notesSlide9.xml" Id="R5a00d3c2d6d640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0aa65217ef74b1f" /><Relationship Type="http://schemas.openxmlformats.org/officeDocument/2006/relationships/image" Target="/ppt/media/image4.png" Id="Rd41cf7f2d1c54d99" /><Relationship Type="http://schemas.openxmlformats.org/officeDocument/2006/relationships/image" Target="/ppt/media/image5.png" Id="R0c83fd26e0b34069" /><Relationship Type="http://schemas.openxmlformats.org/officeDocument/2006/relationships/notesSlide" Target="/ppt/notesSlides/notesSlide10.xml" Id="Radbfd1401f6847d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649c4909ce94730" /><Relationship Type="http://schemas.openxmlformats.org/officeDocument/2006/relationships/notesSlide" Target="/ppt/notesSlides/notesSlide11.xml" Id="R79c46c6a397149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58b90597c45458a" /><Relationship Type="http://schemas.openxmlformats.org/officeDocument/2006/relationships/notesSlide" Target="/ppt/notesSlides/notesSlide12.xml" Id="Rb5e72706bb8b4e6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8c7b7820c3040a7" /><Relationship Type="http://schemas.openxmlformats.org/officeDocument/2006/relationships/notesSlide" Target="/ppt/notesSlides/notesSlide13.xml" Id="Ra491bfff6d0b47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8d3dda7850a4620" /><Relationship Type="http://schemas.openxmlformats.org/officeDocument/2006/relationships/notesSlide" Target="/ppt/notesSlides/notesSlide14.xml" Id="R3271155e6fd34853" /></Relationships>
</file>

<file path=ppt/slides/slide1.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2d9cd36cf9f4bdf"/>
          <a:srcRect xmlns:a="http://schemas.openxmlformats.org/drawingml/2006/main" l="0" t="8651" r="0" b="8651"/>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cover-section">
            <a:extLst xmlns:a="http://schemas.openxmlformats.org/drawingml/2006/main">
              <a:ext uri="{FF2B5EF4-FFF2-40B4-BE49-F238E27FC236}">
                <a16:creationId xmlns:a16="http://schemas.microsoft.com/office/drawing/2014/main" id="{B87335B9-C918-43F0-9451-D4A56F81D92E}"/>
              </a:ext>
            </a:extLst>
          </p:cNvPr>
          <p:cNvSpPr>
            <a:spLocks xmlns:a="http://schemas.openxmlformats.org/drawingml/2006/main" noGrp="1"/>
          </p:cNvSpPr>
          <p:nvPr/>
        </p:nvSpPr>
        <p:spPr>
          <a:xfrm xmlns:a="http://schemas.openxmlformats.org/drawingml/2006/main">
            <a:off x="685800" y="9906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647C68"/>
                </a:solidFill>
                <a:latin typeface="Arial"/>
                <a:ea typeface="Arial"/>
                <a:cs typeface="Arial"/>
              </a:defRPr>
            </a:pPr>
            <a:r>
              <a:rPr sz="900" b="1">
                <a:solidFill>
                  <a:srgbClr val="647C68"/>
                </a:solidFill>
                <a:latin typeface="Arial"/>
                <a:ea typeface="Arial"/>
                <a:cs typeface="Arial"/>
              </a:rPr>
              <a:t>ITERATION 3</a:t>
            </a:r>
          </a:p>
        </p:txBody>
      </p:sp>
      <p:sp>
        <p:nvSpPr>
          <p:cNvPr id="3" name="cover-title">
            <a:extLst xmlns:a="http://schemas.openxmlformats.org/drawingml/2006/main">
              <a:ext uri="{FF2B5EF4-FFF2-40B4-BE49-F238E27FC236}">
                <a16:creationId xmlns:a16="http://schemas.microsoft.com/office/drawing/2014/main" id="{28FC8A4B-0818-410F-B100-B2BA5AB07855}"/>
              </a:ext>
            </a:extLst>
          </p:cNvPr>
          <p:cNvSpPr>
            <a:spLocks xmlns:a="http://schemas.openxmlformats.org/drawingml/2006/main" noGrp="1"/>
          </p:cNvSpPr>
          <p:nvPr/>
        </p:nvSpPr>
        <p:spPr>
          <a:xfrm xmlns:a="http://schemas.openxmlformats.org/drawingml/2006/main">
            <a:off x="685800" y="1362075"/>
            <a:ext cx="6286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350" b="1">
                <a:solidFill>
                  <a:srgbClr val="173D31"/>
                </a:solidFill>
                <a:latin typeface="Arial"/>
                <a:ea typeface="Arial"/>
                <a:cs typeface="Arial"/>
              </a:defRPr>
            </a:pPr>
            <a:r>
              <a:rPr sz="4350" b="1">
                <a:solidFill>
                  <a:srgbClr val="173D31"/>
                </a:solidFill>
                <a:latin typeface="Arial"/>
                <a:ea typeface="Arial"/>
                <a:cs typeface="Arial"/>
              </a:rPr>
              <a:t>Product</a:t>
            </a:r>
          </a:p>
          <a:p xmlns:a="http://schemas.openxmlformats.org/drawingml/2006/main">
            <a:pPr algn="l">
              <a:lnSpc>
                <a:spcPct val="92000"/>
              </a:lnSpc>
              <a:buNone/>
              <a:defRPr sz="4350" b="1">
                <a:solidFill>
                  <a:srgbClr val="173D31"/>
                </a:solidFill>
                <a:latin typeface="Arial"/>
                <a:ea typeface="Arial"/>
                <a:cs typeface="Arial"/>
              </a:defRPr>
            </a:pPr>
            <a:r>
              <a:rPr sz="4350" b="1">
                <a:solidFill>
                  <a:srgbClr val="173D31"/>
                </a:solidFill>
                <a:latin typeface="Arial"/>
                <a:ea typeface="Arial"/>
                <a:cs typeface="Arial"/>
              </a:rPr>
              <a:t>Discovery</a:t>
            </a:r>
          </a:p>
        </p:txBody>
      </p:sp>
      <p:sp>
        <p:nvSpPr>
          <p:cNvPr id="4" name="cover-pitch">
            <a:extLst xmlns:a="http://schemas.openxmlformats.org/drawingml/2006/main">
              <a:ext uri="{FF2B5EF4-FFF2-40B4-BE49-F238E27FC236}">
                <a16:creationId xmlns:a16="http://schemas.microsoft.com/office/drawing/2014/main" id="{B8E2DD75-C403-4B90-B4B4-6770F5B75EFD}"/>
              </a:ext>
            </a:extLst>
          </p:cNvPr>
          <p:cNvSpPr>
            <a:spLocks xmlns:a="http://schemas.openxmlformats.org/drawingml/2006/main" noGrp="1"/>
          </p:cNvSpPr>
          <p:nvPr/>
        </p:nvSpPr>
        <p:spPr>
          <a:xfrm xmlns:a="http://schemas.openxmlformats.org/drawingml/2006/main">
            <a:off x="704850" y="3000375"/>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0">
                <a:solidFill>
                  <a:srgbClr val="61766D"/>
                </a:solidFill>
                <a:latin typeface="Arial"/>
                <a:ea typeface="Arial"/>
                <a:cs typeface="Arial"/>
              </a:defRPr>
            </a:pPr>
            <a:r>
              <a:rPr sz="1800" b="0">
                <a:solidFill>
                  <a:srgbClr val="61766D"/>
                </a:solidFill>
                <a:latin typeface="Arial"/>
                <a:ea typeface="Arial"/>
                <a:cs typeface="Arial"/>
              </a:rPr>
              <a:t>Planned features for food-waste learning,</a:t>
            </a:r>
          </a:p>
          <a:p xmlns:a="http://schemas.openxmlformats.org/drawingml/2006/main">
            <a:pPr algn="l">
              <a:lnSpc>
                <a:spcPct val="102000"/>
              </a:lnSpc>
              <a:buNone/>
              <a:defRPr sz="1800" b="0">
                <a:solidFill>
                  <a:srgbClr val="61766D"/>
                </a:solidFill>
                <a:latin typeface="Arial"/>
                <a:ea typeface="Arial"/>
                <a:cs typeface="Arial"/>
              </a:defRPr>
            </a:pPr>
            <a:r>
              <a:rPr sz="1800" b="0">
                <a:solidFill>
                  <a:srgbClr val="61766D"/>
                </a:solidFill>
                <a:latin typeface="Arial"/>
                <a:ea typeface="Arial"/>
                <a:cs typeface="Arial"/>
              </a:rPr>
              <a:t>shared household decisions and easier everyday use.</a:t>
            </a:r>
          </a:p>
        </p:txBody>
      </p:sp>
      <p:sp>
        <p:nvSpPr>
          <p:cNvPr id="5" name="cover-rule">
            <a:extLst xmlns:a="http://schemas.openxmlformats.org/drawingml/2006/main">
              <a:ext uri="{FF2B5EF4-FFF2-40B4-BE49-F238E27FC236}">
                <a16:creationId xmlns:a16="http://schemas.microsoft.com/office/drawing/2014/main" id="{7FC3C768-EB5D-436C-B34F-723D658C075B}"/>
              </a:ext>
            </a:extLst>
          </p:cNvPr>
          <p:cNvSpPr>
            <a:spLocks xmlns:a="http://schemas.openxmlformats.org/drawingml/2006/main" noGrp="1"/>
          </p:cNvSpPr>
          <p:nvPr/>
        </p:nvSpPr>
        <p:spPr>
          <a:xfrm xmlns:a="http://schemas.openxmlformats.org/drawingml/2006/main">
            <a:off x="685800" y="4095750"/>
            <a:ext cx="409575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6" name="course-line">
            <a:extLst xmlns:a="http://schemas.openxmlformats.org/drawingml/2006/main">
              <a:ext uri="{FF2B5EF4-FFF2-40B4-BE49-F238E27FC236}">
                <a16:creationId xmlns:a16="http://schemas.microsoft.com/office/drawing/2014/main" id="{0EAA2F88-4990-46B0-8E13-2596A137E293}"/>
              </a:ext>
            </a:extLst>
          </p:cNvPr>
          <p:cNvSpPr>
            <a:spLocks xmlns:a="http://schemas.openxmlformats.org/drawingml/2006/main" noGrp="1"/>
          </p:cNvSpPr>
          <p:nvPr/>
        </p:nvSpPr>
        <p:spPr>
          <a:xfrm xmlns:a="http://schemas.openxmlformats.org/drawingml/2006/main">
            <a:off x="704850" y="42767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a:solidFill>
                  <a:srgbClr val="61766D"/>
                </a:solidFill>
                <a:latin typeface="Arial"/>
                <a:ea typeface="Arial"/>
                <a:cs typeface="Arial"/>
              </a:defRPr>
            </a:pPr>
            <a:r>
              <a:rPr sz="1125" b="0">
                <a:solidFill>
                  <a:srgbClr val="61766D"/>
                </a:solidFill>
                <a:latin typeface="Arial"/>
                <a:ea typeface="Arial"/>
                <a:cs typeface="Arial"/>
              </a:rPr>
              <a:t>KitchMemo     FIT5120     2026 Semester 2</a:t>
            </a:r>
          </a:p>
        </p:txBody>
      </p:sp>
      <p:sp>
        <p:nvSpPr>
          <p:cNvPr id="7" name="team-names">
            <a:extLst xmlns:a="http://schemas.openxmlformats.org/drawingml/2006/main">
              <a:ext uri="{FF2B5EF4-FFF2-40B4-BE49-F238E27FC236}">
                <a16:creationId xmlns:a16="http://schemas.microsoft.com/office/drawing/2014/main" id="{628B7769-879F-4FFF-9BAB-B766D4736772}"/>
              </a:ext>
            </a:extLst>
          </p:cNvPr>
          <p:cNvSpPr>
            <a:spLocks xmlns:a="http://schemas.openxmlformats.org/drawingml/2006/main" noGrp="1"/>
          </p:cNvSpPr>
          <p:nvPr/>
        </p:nvSpPr>
        <p:spPr>
          <a:xfrm xmlns:a="http://schemas.openxmlformats.org/drawingml/2006/main">
            <a:off x="704850" y="4686300"/>
            <a:ext cx="4286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61766D"/>
                </a:solidFill>
                <a:latin typeface="Arial"/>
                <a:ea typeface="Arial"/>
                <a:cs typeface="Arial"/>
              </a:defRPr>
            </a:pPr>
            <a:r>
              <a:rPr sz="1125" b="0">
                <a:solidFill>
                  <a:srgbClr val="61766D"/>
                </a:solidFill>
                <a:latin typeface="Arial"/>
                <a:ea typeface="Arial"/>
                <a:cs typeface="Arial"/>
              </a:rPr>
              <a:t>Haoxuan Sun   MBIS</a:t>
            </a:r>
          </a:p>
          <a:p xmlns:a="http://schemas.openxmlformats.org/drawingml/2006/main">
            <a:pPr algn="l">
              <a:lnSpc>
                <a:spcPct val="105000"/>
              </a:lnSpc>
              <a:buNone/>
              <a:defRPr sz="1125" b="0">
                <a:solidFill>
                  <a:srgbClr val="61766D"/>
                </a:solidFill>
                <a:latin typeface="Arial"/>
                <a:ea typeface="Arial"/>
                <a:cs typeface="Arial"/>
              </a:defRPr>
            </a:pPr>
            <a:r>
              <a:rPr sz="1125" b="0">
                <a:solidFill>
                  <a:srgbClr val="61766D"/>
                </a:solidFill>
                <a:latin typeface="Arial"/>
                <a:ea typeface="Arial"/>
                <a:cs typeface="Arial"/>
              </a:rPr>
              <a:t>Chang Lei   MCS</a:t>
            </a:r>
          </a:p>
          <a:p xmlns:a="http://schemas.openxmlformats.org/drawingml/2006/main">
            <a:pPr algn="l">
              <a:lnSpc>
                <a:spcPct val="105000"/>
              </a:lnSpc>
              <a:buNone/>
              <a:defRPr sz="1125" b="0">
                <a:solidFill>
                  <a:srgbClr val="61766D"/>
                </a:solidFill>
                <a:latin typeface="Arial"/>
                <a:ea typeface="Arial"/>
                <a:cs typeface="Arial"/>
              </a:defRPr>
            </a:pPr>
            <a:r>
              <a:rPr sz="1125" b="0">
                <a:solidFill>
                  <a:srgbClr val="61766D"/>
                </a:solidFill>
                <a:latin typeface="Arial"/>
                <a:ea typeface="Arial"/>
                <a:cs typeface="Arial"/>
              </a:rPr>
              <a:t>Guanxin Wu   MIT</a:t>
            </a:r>
          </a:p>
          <a:p xmlns:a="http://schemas.openxmlformats.org/drawingml/2006/main">
            <a:pPr algn="l">
              <a:lnSpc>
                <a:spcPct val="105000"/>
              </a:lnSpc>
              <a:buNone/>
              <a:defRPr sz="1125" b="0">
                <a:solidFill>
                  <a:srgbClr val="61766D"/>
                </a:solidFill>
                <a:latin typeface="Arial"/>
                <a:ea typeface="Arial"/>
                <a:cs typeface="Arial"/>
              </a:defRPr>
            </a:pPr>
            <a:r>
              <a:rPr sz="1125" b="0">
                <a:solidFill>
                  <a:srgbClr val="61766D"/>
                </a:solidFill>
                <a:latin typeface="Arial"/>
                <a:ea typeface="Arial"/>
                <a:cs typeface="Arial"/>
              </a:rPr>
              <a:t>Jingduo Zhang   MIT</a:t>
            </a:r>
          </a:p>
          <a:p xmlns:a="http://schemas.openxmlformats.org/drawingml/2006/main">
            <a:pPr algn="l">
              <a:lnSpc>
                <a:spcPct val="105000"/>
              </a:lnSpc>
              <a:buNone/>
              <a:defRPr sz="1125" b="0">
                <a:solidFill>
                  <a:srgbClr val="61766D"/>
                </a:solidFill>
                <a:latin typeface="Arial"/>
                <a:ea typeface="Arial"/>
                <a:cs typeface="Arial"/>
              </a:defRPr>
            </a:pPr>
            <a:r>
              <a:rPr sz="1125" b="0">
                <a:solidFill>
                  <a:srgbClr val="61766D"/>
                </a:solidFill>
                <a:latin typeface="Arial"/>
                <a:ea typeface="Arial"/>
                <a:cs typeface="Arial"/>
              </a:rPr>
              <a:t>Qiao Yang   MDS</a:t>
            </a:r>
          </a:p>
        </p:txBody>
      </p:sp>
    </p:spTree>
    <p:extLst>
      <p:ext uri="{BB962C8B-B14F-4D97-AF65-F5344CB8AC3E}">
        <p14:creationId xmlns:p14="http://schemas.microsoft.com/office/powerpoint/2010/main" val="430249413"/>
      </p:ext>
    </p:extLst>
  </p:cSld>
</p:sld>
</file>

<file path=ppt/slides/slide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18" name="section">
            <a:extLst xmlns:a="http://schemas.openxmlformats.org/drawingml/2006/main">
              <a:ext uri="{FF2B5EF4-FFF2-40B4-BE49-F238E27FC236}">
                <a16:creationId xmlns:a16="http://schemas.microsoft.com/office/drawing/2014/main" id="{6A6C6097-1E91-4831-923C-68553CB61361}"/>
              </a:ext>
            </a:extLst>
          </p:cNvPr>
          <p:cNvSpPr>
            <a:spLocks xmlns:a="http://schemas.openxmlformats.org/drawingml/2006/main" noGrp="1"/>
          </p:cNvSpPr>
          <p:nvPr/>
        </p:nvSpPr>
        <p:spPr>
          <a:xfrm xmlns:a="http://schemas.openxmlformats.org/drawingml/2006/main">
            <a:off x="685800" y="276225"/>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647C68"/>
                </a:solidFill>
                <a:latin typeface="Arial"/>
                <a:ea typeface="Arial"/>
                <a:cs typeface="Arial"/>
              </a:defRPr>
            </a:pPr>
            <a:r>
              <a:rPr sz="975" b="1">
                <a:solidFill>
                  <a:srgbClr val="647C68"/>
                </a:solidFill>
                <a:latin typeface="Arial"/>
                <a:ea typeface="Arial"/>
                <a:cs typeface="Arial"/>
              </a:rPr>
              <a:t>ELEVATOR PITCH</a:t>
            </a:r>
          </a:p>
        </p:txBody>
      </p:sp>
      <p:sp>
        <p:nvSpPr>
          <p:cNvPr id="2" name="page">
            <a:extLst xmlns:a="http://schemas.openxmlformats.org/drawingml/2006/main">
              <a:ext uri="{FF2B5EF4-FFF2-40B4-BE49-F238E27FC236}">
                <a16:creationId xmlns:a16="http://schemas.microsoft.com/office/drawing/2014/main" id="{0A4B3ADB-8367-460A-989A-2A3A72924AC6}"/>
              </a:ext>
            </a:extLst>
          </p:cNvPr>
          <p:cNvSpPr>
            <a:spLocks xmlns:a="http://schemas.openxmlformats.org/drawingml/2006/main" noGrp="1"/>
          </p:cNvSpPr>
          <p:nvPr/>
        </p:nvSpPr>
        <p:spPr>
          <a:xfrm xmlns:a="http://schemas.openxmlformats.org/drawingml/2006/main">
            <a:off x="11144250" y="2762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975" b="0">
                <a:solidFill>
                  <a:srgbClr val="61766D"/>
                </a:solidFill>
                <a:latin typeface="Arial"/>
                <a:ea typeface="Arial"/>
                <a:cs typeface="Arial"/>
              </a:defRPr>
            </a:pPr>
            <a:r>
              <a:rPr sz="975" b="0">
                <a:solidFill>
                  <a:srgbClr val="61766D"/>
                </a:solidFill>
                <a:latin typeface="Arial"/>
                <a:ea typeface="Arial"/>
                <a:cs typeface="Arial"/>
              </a:rPr>
              <a:t>02</a:t>
            </a:r>
          </a:p>
        </p:txBody>
      </p:sp>
      <p:sp>
        <p:nvSpPr>
          <p:cNvPr id="3" name="title">
            <a:extLst xmlns:a="http://schemas.openxmlformats.org/drawingml/2006/main">
              <a:ext uri="{FF2B5EF4-FFF2-40B4-BE49-F238E27FC236}">
                <a16:creationId xmlns:a16="http://schemas.microsoft.com/office/drawing/2014/main" id="{7B05A0C6-C1D4-4011-A975-12B5EA5B3F01}"/>
              </a:ext>
            </a:extLst>
          </p:cNvPr>
          <p:cNvSpPr>
            <a:spLocks xmlns:a="http://schemas.openxmlformats.org/drawingml/2006/main" noGrp="1"/>
          </p:cNvSpPr>
          <p:nvPr/>
        </p:nvSpPr>
        <p:spPr>
          <a:xfrm xmlns:a="http://schemas.openxmlformats.org/drawingml/2006/main">
            <a:off x="685800" y="600075"/>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78"/>
          </a:bodyPr>
          <a:lstStyle xmlns:a="http://schemas.openxmlformats.org/drawingml/2006/main"/>
          <a:p xmlns:a="http://schemas.openxmlformats.org/drawingml/2006/main">
            <a:pPr algn="l">
              <a:lnSpc>
                <a:spcPct val="96000"/>
              </a:lnSpc>
              <a:buNone/>
              <a:defRPr sz="2925" b="1">
                <a:solidFill>
                  <a:srgbClr val="173D31"/>
                </a:solidFill>
                <a:latin typeface="Arial"/>
                <a:ea typeface="Arial"/>
                <a:cs typeface="Arial"/>
              </a:defRPr>
            </a:pPr>
            <a:r>
              <a:rPr sz="2925" b="1">
                <a:solidFill>
                  <a:srgbClr val="173D31"/>
                </a:solidFill>
                <a:latin typeface="Arial"/>
                <a:ea typeface="Arial"/>
                <a:cs typeface="Arial"/>
              </a:rPr>
              <a:t>KitchMemo helps households act on the food they already have</a:t>
            </a:r>
          </a:p>
        </p:txBody>
      </p:sp>
      <p:sp>
        <p:nvSpPr>
          <p:cNvPr id="4" name="subtitle">
            <a:extLst xmlns:a="http://schemas.openxmlformats.org/drawingml/2006/main">
              <a:ext uri="{FF2B5EF4-FFF2-40B4-BE49-F238E27FC236}">
                <a16:creationId xmlns:a16="http://schemas.microsoft.com/office/drawing/2014/main" id="{E9CC8082-C212-4306-A2FE-266A79AD731A}"/>
              </a:ext>
            </a:extLst>
          </p:cNvPr>
          <p:cNvSpPr>
            <a:spLocks xmlns:a="http://schemas.openxmlformats.org/drawingml/2006/main" noGrp="1"/>
          </p:cNvSpPr>
          <p:nvPr/>
        </p:nvSpPr>
        <p:spPr>
          <a:xfrm xmlns:a="http://schemas.openxmlformats.org/drawingml/2006/main">
            <a:off x="685800" y="11811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A simple stock view can support better decisions before food is forgotten.</a:t>
            </a:r>
          </a:p>
        </p:txBody>
      </p:sp>
      <p:sp>
        <p:nvSpPr>
          <p:cNvPr id="5" name="pitch-panel">
            <a:extLst xmlns:a="http://schemas.openxmlformats.org/drawingml/2006/main">
              <a:ext uri="{FF2B5EF4-FFF2-40B4-BE49-F238E27FC236}">
                <a16:creationId xmlns:a16="http://schemas.microsoft.com/office/drawing/2014/main" id="{EBDF4A3A-7017-4644-A897-386840BE9769}"/>
              </a:ext>
            </a:extLst>
          </p:cNvPr>
          <p:cNvSpPr>
            <a:spLocks xmlns:a="http://schemas.openxmlformats.org/drawingml/2006/main" noGrp="1"/>
          </p:cNvSpPr>
          <p:nvPr/>
        </p:nvSpPr>
        <p:spPr>
          <a:xfrm xmlns:a="http://schemas.openxmlformats.org/drawingml/2006/main">
            <a:off x="685800" y="1809750"/>
            <a:ext cx="5762625" cy="3810000"/>
          </a:xfrm>
          <a:prstGeom xmlns:a="http://schemas.openxmlformats.org/drawingml/2006/main" prst="roundRect">
            <a:avLst>
              <a:gd name="adj" fmla="val 4500"/>
            </a:avLst>
          </a:prstGeom>
          <a:solidFill xmlns:a="http://schemas.openxmlformats.org/drawingml/2006/main">
            <a:srgbClr val="647C68"/>
          </a:solidFill>
          <a:ln xmlns:a="http://schemas.openxmlformats.org/drawingml/2006/main" w="0">
            <a:noFill/>
            <a:prstDash val="solid"/>
          </a:ln>
        </p:spPr>
      </p:sp>
      <p:sp>
        <p:nvSpPr>
          <p:cNvPr id="6" name="promise-label">
            <a:extLst xmlns:a="http://schemas.openxmlformats.org/drawingml/2006/main">
              <a:ext uri="{FF2B5EF4-FFF2-40B4-BE49-F238E27FC236}">
                <a16:creationId xmlns:a16="http://schemas.microsoft.com/office/drawing/2014/main" id="{862222E0-A380-4F33-A754-DB6E97112ACA}"/>
              </a:ext>
            </a:extLst>
          </p:cNvPr>
          <p:cNvSpPr>
            <a:spLocks xmlns:a="http://schemas.openxmlformats.org/drawingml/2006/main" noGrp="1"/>
          </p:cNvSpPr>
          <p:nvPr/>
        </p:nvSpPr>
        <p:spPr>
          <a:xfrm xmlns:a="http://schemas.openxmlformats.org/drawingml/2006/main">
            <a:off x="990600" y="21145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E4EFE5"/>
                </a:solidFill>
                <a:latin typeface="Arial"/>
                <a:ea typeface="Arial"/>
                <a:cs typeface="Arial"/>
              </a:defRPr>
            </a:pPr>
            <a:r>
              <a:rPr sz="900" b="1">
                <a:solidFill>
                  <a:srgbClr val="E4EFE5"/>
                </a:solidFill>
                <a:latin typeface="Arial"/>
                <a:ea typeface="Arial"/>
                <a:cs typeface="Arial"/>
              </a:rPr>
              <a:t>PRODUCT PROMISE</a:t>
            </a:r>
          </a:p>
        </p:txBody>
      </p:sp>
      <p:sp>
        <p:nvSpPr>
          <p:cNvPr id="7" name="pitch-statement">
            <a:extLst xmlns:a="http://schemas.openxmlformats.org/drawingml/2006/main">
              <a:ext uri="{FF2B5EF4-FFF2-40B4-BE49-F238E27FC236}">
                <a16:creationId xmlns:a16="http://schemas.microsoft.com/office/drawing/2014/main" id="{230B55B0-2EAB-4718-803F-567269E0C40C}"/>
              </a:ext>
            </a:extLst>
          </p:cNvPr>
          <p:cNvSpPr>
            <a:spLocks xmlns:a="http://schemas.openxmlformats.org/drawingml/2006/main" noGrp="1"/>
          </p:cNvSpPr>
          <p:nvPr/>
        </p:nvSpPr>
        <p:spPr>
          <a:xfrm xmlns:a="http://schemas.openxmlformats.org/drawingml/2006/main">
            <a:off x="990600" y="2495550"/>
            <a:ext cx="49530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a:solidFill>
                  <a:srgbClr val="FFFFFF"/>
                </a:solidFill>
                <a:latin typeface="Arial"/>
                <a:ea typeface="Arial"/>
                <a:cs typeface="Arial"/>
              </a:defRPr>
            </a:pPr>
            <a:r>
              <a:rPr sz="2550" b="1">
                <a:solidFill>
                  <a:srgbClr val="FFFFFF"/>
                </a:solidFill>
                <a:latin typeface="Arial"/>
                <a:ea typeface="Arial"/>
                <a:cs typeface="Arial"/>
              </a:rPr>
              <a:t>See what is at home.</a:t>
            </a:r>
          </a:p>
          <a:p xmlns:a="http://schemas.openxmlformats.org/drawingml/2006/main">
            <a:pPr algn="l">
              <a:lnSpc>
                <a:spcPct val="108000"/>
              </a:lnSpc>
              <a:buNone/>
              <a:defRPr sz="2550" b="1">
                <a:solidFill>
                  <a:srgbClr val="FFFFFF"/>
                </a:solidFill>
                <a:latin typeface="Arial"/>
                <a:ea typeface="Arial"/>
                <a:cs typeface="Arial"/>
              </a:defRPr>
            </a:pPr>
            <a:r>
              <a:rPr sz="2550" b="1">
                <a:solidFill>
                  <a:srgbClr val="FFFFFF"/>
                </a:solidFill>
                <a:latin typeface="Arial"/>
                <a:ea typeface="Arial"/>
                <a:cs typeface="Arial"/>
              </a:rPr>
              <a:t>Know what needs attention.</a:t>
            </a:r>
          </a:p>
          <a:p xmlns:a="http://schemas.openxmlformats.org/drawingml/2006/main">
            <a:pPr algn="l">
              <a:lnSpc>
                <a:spcPct val="108000"/>
              </a:lnSpc>
              <a:buNone/>
              <a:defRPr sz="2550" b="1">
                <a:solidFill>
                  <a:srgbClr val="FFFFFF"/>
                </a:solidFill>
                <a:latin typeface="Arial"/>
                <a:ea typeface="Arial"/>
                <a:cs typeface="Arial"/>
              </a:defRPr>
            </a:pPr>
            <a:r>
              <a:rPr sz="2550" b="1">
                <a:solidFill>
                  <a:srgbClr val="FFFFFF"/>
                </a:solidFill>
                <a:latin typeface="Arial"/>
                <a:ea typeface="Arial"/>
                <a:cs typeface="Arial"/>
              </a:rPr>
              <a:t>Shop with the household in mind.</a:t>
            </a:r>
          </a:p>
        </p:txBody>
      </p:sp>
      <p:sp>
        <p:nvSpPr>
          <p:cNvPr id="8" name="pitch-support">
            <a:extLst xmlns:a="http://schemas.openxmlformats.org/drawingml/2006/main">
              <a:ext uri="{FF2B5EF4-FFF2-40B4-BE49-F238E27FC236}">
                <a16:creationId xmlns:a16="http://schemas.microsoft.com/office/drawing/2014/main" id="{2EC4050A-69B9-49EB-BCC3-5C13FB20710D}"/>
              </a:ext>
            </a:extLst>
          </p:cNvPr>
          <p:cNvSpPr>
            <a:spLocks xmlns:a="http://schemas.openxmlformats.org/drawingml/2006/main" noGrp="1"/>
          </p:cNvSpPr>
          <p:nvPr/>
        </p:nvSpPr>
        <p:spPr>
          <a:xfrm xmlns:a="http://schemas.openxmlformats.org/drawingml/2006/main">
            <a:off x="990600" y="4562475"/>
            <a:ext cx="4876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0">
                <a:solidFill>
                  <a:srgbClr val="E8EEE8"/>
                </a:solidFill>
                <a:latin typeface="Arial"/>
                <a:ea typeface="Arial"/>
                <a:cs typeface="Arial"/>
              </a:defRPr>
            </a:pPr>
            <a:r>
              <a:rPr sz="1500" b="0">
                <a:solidFill>
                  <a:srgbClr val="E8EEE8"/>
                </a:solidFill>
                <a:latin typeface="Arial"/>
                <a:ea typeface="Arial"/>
                <a:cs typeface="Arial"/>
              </a:rPr>
              <a:t>KitchMemo connects inventory, freshness guidance and shopping decisions in one shared kitchen experience.</a:t>
            </a:r>
          </a:p>
        </p:txBody>
      </p:sp>
      <p:sp>
        <p:nvSpPr>
          <p:cNvPr id="9" name="research-label">
            <a:extLst xmlns:a="http://schemas.openxmlformats.org/drawingml/2006/main">
              <a:ext uri="{FF2B5EF4-FFF2-40B4-BE49-F238E27FC236}">
                <a16:creationId xmlns:a16="http://schemas.microsoft.com/office/drawing/2014/main" id="{BB247CF7-F865-49D6-BD81-CDA03B03EF52}"/>
              </a:ext>
            </a:extLst>
          </p:cNvPr>
          <p:cNvSpPr>
            <a:spLocks xmlns:a="http://schemas.openxmlformats.org/drawingml/2006/main" noGrp="1"/>
          </p:cNvSpPr>
          <p:nvPr/>
        </p:nvSpPr>
        <p:spPr>
          <a:xfrm xmlns:a="http://schemas.openxmlformats.org/drawingml/2006/main">
            <a:off x="6953250" y="2009775"/>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647C68"/>
                </a:solidFill>
                <a:latin typeface="Arial"/>
                <a:ea typeface="Arial"/>
                <a:cs typeface="Arial"/>
              </a:defRPr>
            </a:pPr>
            <a:r>
              <a:rPr sz="900" b="1">
                <a:solidFill>
                  <a:srgbClr val="647C68"/>
                </a:solidFill>
                <a:latin typeface="Arial"/>
                <a:ea typeface="Arial"/>
                <a:cs typeface="Arial"/>
              </a:rPr>
              <a:t>RESEARCH CONTEXT</a:t>
            </a:r>
          </a:p>
        </p:txBody>
      </p:sp>
      <p:sp>
        <p:nvSpPr>
          <p:cNvPr id="10" name="stat-kg">
            <a:extLst xmlns:a="http://schemas.openxmlformats.org/drawingml/2006/main">
              <a:ext uri="{FF2B5EF4-FFF2-40B4-BE49-F238E27FC236}">
                <a16:creationId xmlns:a16="http://schemas.microsoft.com/office/drawing/2014/main" id="{8EED811D-0FEB-43E1-8CD5-190D3CD20FDF}"/>
              </a:ext>
            </a:extLst>
          </p:cNvPr>
          <p:cNvSpPr>
            <a:spLocks xmlns:a="http://schemas.openxmlformats.org/drawingml/2006/main" noGrp="1"/>
          </p:cNvSpPr>
          <p:nvPr/>
        </p:nvSpPr>
        <p:spPr>
          <a:xfrm xmlns:a="http://schemas.openxmlformats.org/drawingml/2006/main">
            <a:off x="6953250" y="2409825"/>
            <a:ext cx="4476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4650" b="1">
                <a:solidFill>
                  <a:srgbClr val="C96E5A"/>
                </a:solidFill>
                <a:latin typeface="Arial"/>
                <a:ea typeface="Arial"/>
                <a:cs typeface="Arial"/>
              </a:defRPr>
            </a:pPr>
            <a:r>
              <a:rPr sz="4650" b="1">
                <a:solidFill>
                  <a:srgbClr val="C96E5A"/>
                </a:solidFill>
                <a:latin typeface="Arial"/>
                <a:ea typeface="Arial"/>
                <a:cs typeface="Arial"/>
              </a:rPr>
              <a:t>113 kg</a:t>
            </a:r>
          </a:p>
        </p:txBody>
      </p:sp>
      <p:sp>
        <p:nvSpPr>
          <p:cNvPr id="11" name="stat-kg-caption">
            <a:extLst xmlns:a="http://schemas.openxmlformats.org/drawingml/2006/main">
              <a:ext uri="{FF2B5EF4-FFF2-40B4-BE49-F238E27FC236}">
                <a16:creationId xmlns:a16="http://schemas.microsoft.com/office/drawing/2014/main" id="{FAC8C291-8C9A-4CD0-ABA4-FA47EBB293CB}"/>
              </a:ext>
            </a:extLst>
          </p:cNvPr>
          <p:cNvSpPr>
            <a:spLocks xmlns:a="http://schemas.openxmlformats.org/drawingml/2006/main" noGrp="1"/>
          </p:cNvSpPr>
          <p:nvPr/>
        </p:nvSpPr>
        <p:spPr>
          <a:xfrm xmlns:a="http://schemas.openxmlformats.org/drawingml/2006/main">
            <a:off x="6953250" y="3190875"/>
            <a:ext cx="4343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0">
                <a:solidFill>
                  <a:srgbClr val="173D31"/>
                </a:solidFill>
                <a:latin typeface="Arial"/>
                <a:ea typeface="Arial"/>
                <a:cs typeface="Arial"/>
              </a:defRPr>
            </a:pPr>
            <a:r>
              <a:rPr sz="1500" b="0">
                <a:solidFill>
                  <a:srgbClr val="173D31"/>
                </a:solidFill>
                <a:latin typeface="Arial"/>
                <a:ea typeface="Arial"/>
                <a:cs typeface="Arial"/>
              </a:rPr>
              <a:t>Estimated food discarded each year by households with a member under 35</a:t>
            </a:r>
          </a:p>
        </p:txBody>
      </p:sp>
      <p:sp>
        <p:nvSpPr>
          <p:cNvPr id="12" name="stat-aud">
            <a:extLst xmlns:a="http://schemas.openxmlformats.org/drawingml/2006/main">
              <a:ext uri="{FF2B5EF4-FFF2-40B4-BE49-F238E27FC236}">
                <a16:creationId xmlns:a16="http://schemas.microsoft.com/office/drawing/2014/main" id="{20844EAB-F560-4789-833C-4DC0D37F8338}"/>
              </a:ext>
            </a:extLst>
          </p:cNvPr>
          <p:cNvSpPr>
            <a:spLocks xmlns:a="http://schemas.openxmlformats.org/drawingml/2006/main" noGrp="1"/>
          </p:cNvSpPr>
          <p:nvPr/>
        </p:nvSpPr>
        <p:spPr>
          <a:xfrm xmlns:a="http://schemas.openxmlformats.org/drawingml/2006/main">
            <a:off x="6953250" y="4057650"/>
            <a:ext cx="4476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900" b="1">
                <a:solidFill>
                  <a:srgbClr val="D47B21"/>
                </a:solidFill>
                <a:latin typeface="Arial"/>
                <a:ea typeface="Arial"/>
                <a:cs typeface="Arial"/>
              </a:defRPr>
            </a:pPr>
            <a:r>
              <a:rPr sz="3900" b="1">
                <a:solidFill>
                  <a:srgbClr val="D47B21"/>
                </a:solidFill>
                <a:latin typeface="Arial"/>
                <a:ea typeface="Arial"/>
                <a:cs typeface="Arial"/>
              </a:rPr>
              <a:t>A$1,503</a:t>
            </a:r>
          </a:p>
        </p:txBody>
      </p:sp>
      <p:sp>
        <p:nvSpPr>
          <p:cNvPr id="13" name="stat-aud-caption">
            <a:extLst xmlns:a="http://schemas.openxmlformats.org/drawingml/2006/main">
              <a:ext uri="{FF2B5EF4-FFF2-40B4-BE49-F238E27FC236}">
                <a16:creationId xmlns:a16="http://schemas.microsoft.com/office/drawing/2014/main" id="{6095793C-C4D9-4E1F-953B-A19559F5A36E}"/>
              </a:ext>
            </a:extLst>
          </p:cNvPr>
          <p:cNvSpPr>
            <a:spLocks xmlns:a="http://schemas.openxmlformats.org/drawingml/2006/main" noGrp="1"/>
          </p:cNvSpPr>
          <p:nvPr/>
        </p:nvSpPr>
        <p:spPr>
          <a:xfrm xmlns:a="http://schemas.openxmlformats.org/drawingml/2006/main">
            <a:off x="6953250" y="4810125"/>
            <a:ext cx="4343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77"/>
          </a:bodyPr>
          <a:lstStyle xmlns:a="http://schemas.openxmlformats.org/drawingml/2006/main"/>
          <a:p xmlns:a="http://schemas.openxmlformats.org/drawingml/2006/main">
            <a:pPr algn="l">
              <a:lnSpc>
                <a:spcPct val="102000"/>
              </a:lnSpc>
              <a:buNone/>
              <a:defRPr sz="1500" b="0">
                <a:solidFill>
                  <a:srgbClr val="173D31"/>
                </a:solidFill>
                <a:latin typeface="Arial"/>
                <a:ea typeface="Arial"/>
                <a:cs typeface="Arial"/>
              </a:defRPr>
            </a:pPr>
            <a:r>
              <a:rPr sz="1500" b="0">
                <a:solidFill>
                  <a:srgbClr val="173D31"/>
                </a:solidFill>
                <a:latin typeface="Arial"/>
                <a:ea typeface="Arial"/>
                <a:cs typeface="Arial"/>
              </a:rPr>
              <a:t>Estimated annual value lost in the same survey group</a:t>
            </a:r>
          </a:p>
        </p:txBody>
      </p:sp>
      <p:sp>
        <p:nvSpPr>
          <p:cNvPr id="14" name="stat-caveat">
            <a:extLst xmlns:a="http://schemas.openxmlformats.org/drawingml/2006/main">
              <a:ext uri="{FF2B5EF4-FFF2-40B4-BE49-F238E27FC236}">
                <a16:creationId xmlns:a16="http://schemas.microsoft.com/office/drawing/2014/main" id="{DA6B88CD-453B-4151-9F96-B9BDED6A0F83}"/>
              </a:ext>
            </a:extLst>
          </p:cNvPr>
          <p:cNvSpPr>
            <a:spLocks xmlns:a="http://schemas.openxmlformats.org/drawingml/2006/main" noGrp="1"/>
          </p:cNvSpPr>
          <p:nvPr/>
        </p:nvSpPr>
        <p:spPr>
          <a:xfrm xmlns:a="http://schemas.openxmlformats.org/drawingml/2006/main">
            <a:off x="6953250" y="53149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0">
                <a:solidFill>
                  <a:srgbClr val="61766D"/>
                </a:solidFill>
                <a:latin typeface="Arial"/>
                <a:ea typeface="Arial"/>
                <a:cs typeface="Arial"/>
              </a:defRPr>
            </a:pPr>
            <a:r>
              <a:rPr sz="1050" b="0">
                <a:solidFill>
                  <a:srgbClr val="61766D"/>
                </a:solidFill>
                <a:latin typeface="Arial"/>
                <a:ea typeface="Arial"/>
                <a:cs typeface="Arial"/>
              </a:rPr>
              <a:t>Household survey estimate, not a per-person measure.</a:t>
            </a:r>
          </a:p>
        </p:txBody>
      </p:sp>
      <p:sp>
        <p:nvSpPr>
          <p:cNvPr id="15" name="footer-rule">
            <a:extLst xmlns:a="http://schemas.openxmlformats.org/drawingml/2006/main">
              <a:ext uri="{FF2B5EF4-FFF2-40B4-BE49-F238E27FC236}">
                <a16:creationId xmlns:a16="http://schemas.microsoft.com/office/drawing/2014/main" id="{1F5C6371-7AE2-4A09-84A8-3945F5015CD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16" name="footer-label">
            <a:extLst xmlns:a="http://schemas.openxmlformats.org/drawingml/2006/main">
              <a:ext uri="{FF2B5EF4-FFF2-40B4-BE49-F238E27FC236}">
                <a16:creationId xmlns:a16="http://schemas.microsoft.com/office/drawing/2014/main" id="{122A025B-CE70-4292-BB95-51AE2071D923}"/>
              </a:ext>
            </a:extLst>
          </p:cNvPr>
          <p:cNvSpPr>
            <a:spLocks xmlns:a="http://schemas.openxmlformats.org/drawingml/2006/main" noGrp="1"/>
          </p:cNvSpPr>
          <p:nvPr/>
        </p:nvSpPr>
        <p:spPr>
          <a:xfrm xmlns:a="http://schemas.openxmlformats.org/drawingml/2006/main">
            <a:off x="685800" y="6543675"/>
            <a:ext cx="581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KitchMemo  |  Iteration 3 Product Discovery</a:t>
            </a:r>
          </a:p>
        </p:txBody>
      </p:sp>
      <p:sp>
        <p:nvSpPr>
          <p:cNvPr id="17" name="footer-number">
            <a:extLst xmlns:a="http://schemas.openxmlformats.org/drawingml/2006/main">
              <a:ext uri="{FF2B5EF4-FFF2-40B4-BE49-F238E27FC236}">
                <a16:creationId xmlns:a16="http://schemas.microsoft.com/office/drawing/2014/main" id="{5649DA07-572D-4249-B68B-27F55B667CED}"/>
              </a:ext>
            </a:extLst>
          </p:cNvPr>
          <p:cNvSpPr>
            <a:spLocks xmlns:a="http://schemas.openxmlformats.org/drawingml/2006/main" noGrp="1"/>
          </p:cNvSpPr>
          <p:nvPr/>
        </p:nvSpPr>
        <p:spPr>
          <a:xfrm xmlns:a="http://schemas.openxmlformats.org/drawingml/2006/main">
            <a:off x="1114425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02</a:t>
            </a:r>
          </a:p>
        </p:txBody>
      </p:sp>
    </p:spTree>
    <p:extLst>
      <p:ext uri="{BB962C8B-B14F-4D97-AF65-F5344CB8AC3E}">
        <p14:creationId xmlns:p14="http://schemas.microsoft.com/office/powerpoint/2010/main" val="1905401365"/>
      </p:ext>
    </p:extLst>
  </p:cSld>
</p:sld>
</file>

<file path=ppt/slides/slide3.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18" name="section">
            <a:extLst xmlns:a="http://schemas.openxmlformats.org/drawingml/2006/main">
              <a:ext uri="{FF2B5EF4-FFF2-40B4-BE49-F238E27FC236}">
                <a16:creationId xmlns:a16="http://schemas.microsoft.com/office/drawing/2014/main" id="{F08877F9-ED92-4B58-B625-6845F15C9550}"/>
              </a:ext>
            </a:extLst>
          </p:cNvPr>
          <p:cNvSpPr>
            <a:spLocks xmlns:a="http://schemas.openxmlformats.org/drawingml/2006/main" noGrp="1"/>
          </p:cNvSpPr>
          <p:nvPr/>
        </p:nvSpPr>
        <p:spPr>
          <a:xfrm xmlns:a="http://schemas.openxmlformats.org/drawingml/2006/main">
            <a:off x="685800" y="276225"/>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647C68"/>
                </a:solidFill>
                <a:latin typeface="Arial"/>
                <a:ea typeface="Arial"/>
                <a:cs typeface="Arial"/>
              </a:defRPr>
            </a:pPr>
            <a:r>
              <a:rPr sz="975" b="1">
                <a:solidFill>
                  <a:srgbClr val="647C68"/>
                </a:solidFill>
                <a:latin typeface="Arial"/>
                <a:ea typeface="Arial"/>
                <a:cs typeface="Arial"/>
              </a:rPr>
              <a:t>PROGRESS UPDATE</a:t>
            </a:r>
          </a:p>
        </p:txBody>
      </p:sp>
      <p:sp>
        <p:nvSpPr>
          <p:cNvPr id="2" name="page">
            <a:extLst xmlns:a="http://schemas.openxmlformats.org/drawingml/2006/main">
              <a:ext uri="{FF2B5EF4-FFF2-40B4-BE49-F238E27FC236}">
                <a16:creationId xmlns:a16="http://schemas.microsoft.com/office/drawing/2014/main" id="{6EE4B0D0-E214-410D-9940-BBAC165E6BF7}"/>
              </a:ext>
            </a:extLst>
          </p:cNvPr>
          <p:cNvSpPr>
            <a:spLocks xmlns:a="http://schemas.openxmlformats.org/drawingml/2006/main" noGrp="1"/>
          </p:cNvSpPr>
          <p:nvPr/>
        </p:nvSpPr>
        <p:spPr>
          <a:xfrm xmlns:a="http://schemas.openxmlformats.org/drawingml/2006/main">
            <a:off x="11144250" y="2762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975" b="0">
                <a:solidFill>
                  <a:srgbClr val="61766D"/>
                </a:solidFill>
                <a:latin typeface="Arial"/>
                <a:ea typeface="Arial"/>
                <a:cs typeface="Arial"/>
              </a:defRPr>
            </a:pPr>
            <a:r>
              <a:rPr sz="975" b="0">
                <a:solidFill>
                  <a:srgbClr val="61766D"/>
                </a:solidFill>
                <a:latin typeface="Arial"/>
                <a:ea typeface="Arial"/>
                <a:cs typeface="Arial"/>
              </a:rPr>
              <a:t>03</a:t>
            </a:r>
          </a:p>
        </p:txBody>
      </p:sp>
      <p:sp>
        <p:nvSpPr>
          <p:cNvPr id="3" name="title">
            <a:extLst xmlns:a="http://schemas.openxmlformats.org/drawingml/2006/main">
              <a:ext uri="{FF2B5EF4-FFF2-40B4-BE49-F238E27FC236}">
                <a16:creationId xmlns:a16="http://schemas.microsoft.com/office/drawing/2014/main" id="{81934702-3A94-4FFB-BCF4-6AA6D3CCAA0C}"/>
              </a:ext>
            </a:extLst>
          </p:cNvPr>
          <p:cNvSpPr>
            <a:spLocks xmlns:a="http://schemas.openxmlformats.org/drawingml/2006/main" noGrp="1"/>
          </p:cNvSpPr>
          <p:nvPr/>
        </p:nvSpPr>
        <p:spPr>
          <a:xfrm xmlns:a="http://schemas.openxmlformats.org/drawingml/2006/main">
            <a:off x="685800" y="600075"/>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925" b="1">
                <a:solidFill>
                  <a:srgbClr val="173D31"/>
                </a:solidFill>
                <a:latin typeface="Arial"/>
                <a:ea typeface="Arial"/>
                <a:cs typeface="Arial"/>
              </a:defRPr>
            </a:pPr>
            <a:r>
              <a:rPr sz="2925" b="1">
                <a:solidFill>
                  <a:srgbClr val="173D31"/>
                </a:solidFill>
                <a:latin typeface="Arial"/>
                <a:ea typeface="Arial"/>
                <a:cs typeface="Arial"/>
              </a:rPr>
              <a:t>Existing workflows give Iteration 3 a strong foundation</a:t>
            </a:r>
          </a:p>
        </p:txBody>
      </p:sp>
      <p:sp>
        <p:nvSpPr>
          <p:cNvPr id="4" name="subtitle">
            <a:extLst xmlns:a="http://schemas.openxmlformats.org/drawingml/2006/main">
              <a:ext uri="{FF2B5EF4-FFF2-40B4-BE49-F238E27FC236}">
                <a16:creationId xmlns:a16="http://schemas.microsoft.com/office/drawing/2014/main" id="{2FCC923D-CE76-42E6-954F-9F11631914C9}"/>
              </a:ext>
            </a:extLst>
          </p:cNvPr>
          <p:cNvSpPr>
            <a:spLocks xmlns:a="http://schemas.openxmlformats.org/drawingml/2006/main" noGrp="1"/>
          </p:cNvSpPr>
          <p:nvPr/>
        </p:nvSpPr>
        <p:spPr>
          <a:xfrm xmlns:a="http://schemas.openxmlformats.org/drawingml/2006/main">
            <a:off x="685800" y="11811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The codebase already contains connected workflows that the next iteration can extend.</a:t>
            </a:r>
          </a:p>
        </p:txBody>
      </p:sp>
      <p:sp>
        <p:nvSpPr>
          <p:cNvPr id="5" name="progress-row-0">
            <a:extLst xmlns:a="http://schemas.openxmlformats.org/drawingml/2006/main">
              <a:ext uri="{FF2B5EF4-FFF2-40B4-BE49-F238E27FC236}">
                <a16:creationId xmlns:a16="http://schemas.microsoft.com/office/drawing/2014/main" id="{4FBC5D70-56F1-4A95-B6C0-BCC2534D7C7C}"/>
              </a:ext>
            </a:extLst>
          </p:cNvPr>
          <p:cNvSpPr>
            <a:spLocks xmlns:a="http://schemas.openxmlformats.org/drawingml/2006/main" noGrp="1"/>
          </p:cNvSpPr>
          <p:nvPr/>
        </p:nvSpPr>
        <p:spPr>
          <a:xfrm xmlns:a="http://schemas.openxmlformats.org/drawingml/2006/main">
            <a:off x="685800" y="1809750"/>
            <a:ext cx="10820400" cy="1066800"/>
          </a:xfrm>
          <a:prstGeom xmlns:a="http://schemas.openxmlformats.org/drawingml/2006/main" prst="roundRect">
            <a:avLst>
              <a:gd name="adj" fmla="val 12500"/>
            </a:avLst>
          </a:prstGeom>
          <a:solidFill xmlns:a="http://schemas.openxmlformats.org/drawingml/2006/main">
            <a:srgbClr val="DDECE6"/>
          </a:solidFill>
          <a:ln xmlns:a="http://schemas.openxmlformats.org/drawingml/2006/main" w="0">
            <a:noFill/>
            <a:prstDash val="solid"/>
          </a:ln>
        </p:spPr>
      </p:sp>
      <p:sp>
        <p:nvSpPr>
          <p:cNvPr id="6" name="progress-head-0">
            <a:extLst xmlns:a="http://schemas.openxmlformats.org/drawingml/2006/main">
              <a:ext uri="{FF2B5EF4-FFF2-40B4-BE49-F238E27FC236}">
                <a16:creationId xmlns:a16="http://schemas.microsoft.com/office/drawing/2014/main" id="{A923956E-0BDB-45D8-ABE1-9B0BD3B46ACB}"/>
              </a:ext>
            </a:extLst>
          </p:cNvPr>
          <p:cNvSpPr>
            <a:spLocks xmlns:a="http://schemas.openxmlformats.org/drawingml/2006/main" noGrp="1"/>
          </p:cNvSpPr>
          <p:nvPr/>
        </p:nvSpPr>
        <p:spPr>
          <a:xfrm xmlns:a="http://schemas.openxmlformats.org/drawingml/2006/main">
            <a:off x="933450" y="20193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73D31"/>
                </a:solidFill>
                <a:latin typeface="Arial"/>
                <a:ea typeface="Arial"/>
                <a:cs typeface="Arial"/>
              </a:defRPr>
            </a:pPr>
            <a:r>
              <a:rPr sz="1725" b="1">
                <a:solidFill>
                  <a:srgbClr val="173D31"/>
                </a:solidFill>
                <a:latin typeface="Arial"/>
                <a:ea typeface="Arial"/>
                <a:cs typeface="Arial"/>
              </a:rPr>
              <a:t>AI assistant</a:t>
            </a:r>
          </a:p>
        </p:txBody>
      </p:sp>
      <p:sp>
        <p:nvSpPr>
          <p:cNvPr id="7" name="progress-body-0">
            <a:extLst xmlns:a="http://schemas.openxmlformats.org/drawingml/2006/main">
              <a:ext uri="{FF2B5EF4-FFF2-40B4-BE49-F238E27FC236}">
                <a16:creationId xmlns:a16="http://schemas.microsoft.com/office/drawing/2014/main" id="{6D7980E1-29F7-44FF-85AC-8EB5E2061B01}"/>
              </a:ext>
            </a:extLst>
          </p:cNvPr>
          <p:cNvSpPr>
            <a:spLocks xmlns:a="http://schemas.openxmlformats.org/drawingml/2006/main" noGrp="1"/>
          </p:cNvSpPr>
          <p:nvPr/>
        </p:nvSpPr>
        <p:spPr>
          <a:xfrm xmlns:a="http://schemas.openxmlformats.org/drawingml/2006/main">
            <a:off x="3495675" y="1981200"/>
            <a:ext cx="7524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500" b="0">
                <a:solidFill>
                  <a:srgbClr val="61766D"/>
                </a:solidFill>
                <a:latin typeface="Arial"/>
                <a:ea typeface="Arial"/>
                <a:cs typeface="Arial"/>
              </a:defRPr>
            </a:pPr>
            <a:r>
              <a:rPr sz="1500" b="0">
                <a:solidFill>
                  <a:srgbClr val="61766D"/>
                </a:solidFill>
                <a:latin typeface="Arial"/>
                <a:ea typeface="Arial"/>
                <a:cs typeface="Arial"/>
              </a:rPr>
              <a:t>Reviewed knowledge retrieval, inventory tools, citations, quick prompts and suggested follow-up actions.</a:t>
            </a:r>
          </a:p>
        </p:txBody>
      </p:sp>
      <p:sp>
        <p:nvSpPr>
          <p:cNvPr id="8" name="progress-row-1">
            <a:extLst xmlns:a="http://schemas.openxmlformats.org/drawingml/2006/main">
              <a:ext uri="{FF2B5EF4-FFF2-40B4-BE49-F238E27FC236}">
                <a16:creationId xmlns:a16="http://schemas.microsoft.com/office/drawing/2014/main" id="{3EA6AF31-D6D6-473F-A7B3-A6EB25BDF164}"/>
              </a:ext>
            </a:extLst>
          </p:cNvPr>
          <p:cNvSpPr>
            <a:spLocks xmlns:a="http://schemas.openxmlformats.org/drawingml/2006/main" noGrp="1"/>
          </p:cNvSpPr>
          <p:nvPr/>
        </p:nvSpPr>
        <p:spPr>
          <a:xfrm xmlns:a="http://schemas.openxmlformats.org/drawingml/2006/main">
            <a:off x="685800" y="3114675"/>
            <a:ext cx="10820400" cy="1066800"/>
          </a:xfrm>
          <a:prstGeom xmlns:a="http://schemas.openxmlformats.org/drawingml/2006/main" prst="roundRect">
            <a:avLst>
              <a:gd name="adj" fmla="val 12500"/>
            </a:avLst>
          </a:prstGeom>
          <a:solidFill xmlns:a="http://schemas.openxmlformats.org/drawingml/2006/main">
            <a:srgbClr val="F3EFE6"/>
          </a:solidFill>
          <a:ln xmlns:a="http://schemas.openxmlformats.org/drawingml/2006/main" w="0">
            <a:noFill/>
            <a:prstDash val="solid"/>
          </a:ln>
        </p:spPr>
      </p:sp>
      <p:sp>
        <p:nvSpPr>
          <p:cNvPr id="9" name="progress-head-1">
            <a:extLst xmlns:a="http://schemas.openxmlformats.org/drawingml/2006/main">
              <a:ext uri="{FF2B5EF4-FFF2-40B4-BE49-F238E27FC236}">
                <a16:creationId xmlns:a16="http://schemas.microsoft.com/office/drawing/2014/main" id="{95B96B3C-03CD-40BB-9A3B-89AA9DC320F3}"/>
              </a:ext>
            </a:extLst>
          </p:cNvPr>
          <p:cNvSpPr>
            <a:spLocks xmlns:a="http://schemas.openxmlformats.org/drawingml/2006/main" noGrp="1"/>
          </p:cNvSpPr>
          <p:nvPr/>
        </p:nvSpPr>
        <p:spPr>
          <a:xfrm xmlns:a="http://schemas.openxmlformats.org/drawingml/2006/main">
            <a:off x="933450" y="33242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73D31"/>
                </a:solidFill>
                <a:latin typeface="Arial"/>
                <a:ea typeface="Arial"/>
                <a:cs typeface="Arial"/>
              </a:defRPr>
            </a:pPr>
            <a:r>
              <a:rPr sz="1725" b="1">
                <a:solidFill>
                  <a:srgbClr val="173D31"/>
                </a:solidFill>
                <a:latin typeface="Arial"/>
                <a:ea typeface="Arial"/>
                <a:cs typeface="Arial"/>
              </a:rPr>
              <a:t>Usage insight</a:t>
            </a:r>
          </a:p>
        </p:txBody>
      </p:sp>
      <p:sp>
        <p:nvSpPr>
          <p:cNvPr id="10" name="progress-body-1">
            <a:extLst xmlns:a="http://schemas.openxmlformats.org/drawingml/2006/main">
              <a:ext uri="{FF2B5EF4-FFF2-40B4-BE49-F238E27FC236}">
                <a16:creationId xmlns:a16="http://schemas.microsoft.com/office/drawing/2014/main" id="{A301362E-58F5-4D7A-8318-1D76802D0206}"/>
              </a:ext>
            </a:extLst>
          </p:cNvPr>
          <p:cNvSpPr>
            <a:spLocks xmlns:a="http://schemas.openxmlformats.org/drawingml/2006/main" noGrp="1"/>
          </p:cNvSpPr>
          <p:nvPr/>
        </p:nvSpPr>
        <p:spPr>
          <a:xfrm xmlns:a="http://schemas.openxmlformats.org/drawingml/2006/main">
            <a:off x="3495675" y="3286125"/>
            <a:ext cx="7524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500" b="0">
                <a:solidFill>
                  <a:srgbClr val="61766D"/>
                </a:solidFill>
                <a:latin typeface="Arial"/>
                <a:ea typeface="Arial"/>
                <a:cs typeface="Arial"/>
              </a:defRPr>
            </a:pPr>
            <a:r>
              <a:rPr sz="1500" b="0">
                <a:solidFill>
                  <a:srgbClr val="61766D"/>
                </a:solidFill>
                <a:latin typeface="Arial"/>
                <a:ea typeface="Arial"/>
                <a:cs typeface="Arial"/>
              </a:rPr>
              <a:t>A stage report tracks used and discarded records, trends, reasons, categories and upcoming items.</a:t>
            </a:r>
          </a:p>
        </p:txBody>
      </p:sp>
      <p:sp>
        <p:nvSpPr>
          <p:cNvPr id="11" name="progress-row-2">
            <a:extLst xmlns:a="http://schemas.openxmlformats.org/drawingml/2006/main">
              <a:ext uri="{FF2B5EF4-FFF2-40B4-BE49-F238E27FC236}">
                <a16:creationId xmlns:a16="http://schemas.microsoft.com/office/drawing/2014/main" id="{81A639D1-CDA8-4205-8723-0D737A59F3AE}"/>
              </a:ext>
            </a:extLst>
          </p:cNvPr>
          <p:cNvSpPr>
            <a:spLocks xmlns:a="http://schemas.openxmlformats.org/drawingml/2006/main" noGrp="1"/>
          </p:cNvSpPr>
          <p:nvPr/>
        </p:nvSpPr>
        <p:spPr>
          <a:xfrm xmlns:a="http://schemas.openxmlformats.org/drawingml/2006/main">
            <a:off x="685800" y="4419600"/>
            <a:ext cx="10820400" cy="1066800"/>
          </a:xfrm>
          <a:prstGeom xmlns:a="http://schemas.openxmlformats.org/drawingml/2006/main" prst="roundRect">
            <a:avLst>
              <a:gd name="adj" fmla="val 12500"/>
            </a:avLst>
          </a:prstGeom>
          <a:solidFill xmlns:a="http://schemas.openxmlformats.org/drawingml/2006/main">
            <a:srgbClr val="FFF1E3"/>
          </a:solidFill>
          <a:ln xmlns:a="http://schemas.openxmlformats.org/drawingml/2006/main" w="0">
            <a:noFill/>
            <a:prstDash val="solid"/>
          </a:ln>
        </p:spPr>
      </p:sp>
      <p:sp>
        <p:nvSpPr>
          <p:cNvPr id="12" name="progress-head-2">
            <a:extLst xmlns:a="http://schemas.openxmlformats.org/drawingml/2006/main">
              <a:ext uri="{FF2B5EF4-FFF2-40B4-BE49-F238E27FC236}">
                <a16:creationId xmlns:a16="http://schemas.microsoft.com/office/drawing/2014/main" id="{7A6E2B02-F4A2-4D4D-A8E8-80D476AD2F46}"/>
              </a:ext>
            </a:extLst>
          </p:cNvPr>
          <p:cNvSpPr>
            <a:spLocks xmlns:a="http://schemas.openxmlformats.org/drawingml/2006/main" noGrp="1"/>
          </p:cNvSpPr>
          <p:nvPr/>
        </p:nvSpPr>
        <p:spPr>
          <a:xfrm xmlns:a="http://schemas.openxmlformats.org/drawingml/2006/main">
            <a:off x="933450" y="46291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73D31"/>
                </a:solidFill>
                <a:latin typeface="Arial"/>
                <a:ea typeface="Arial"/>
                <a:cs typeface="Arial"/>
              </a:defRPr>
            </a:pPr>
            <a:r>
              <a:rPr sz="1725" b="1">
                <a:solidFill>
                  <a:srgbClr val="173D31"/>
                </a:solidFill>
                <a:latin typeface="Arial"/>
                <a:ea typeface="Arial"/>
                <a:cs typeface="Arial"/>
              </a:rPr>
              <a:t>Shopping and rewards</a:t>
            </a:r>
          </a:p>
        </p:txBody>
      </p:sp>
      <p:sp>
        <p:nvSpPr>
          <p:cNvPr id="13" name="progress-body-2">
            <a:extLst xmlns:a="http://schemas.openxmlformats.org/drawingml/2006/main">
              <a:ext uri="{FF2B5EF4-FFF2-40B4-BE49-F238E27FC236}">
                <a16:creationId xmlns:a16="http://schemas.microsoft.com/office/drawing/2014/main" id="{6DCEF5D6-C091-4097-B74C-599BFE88A309}"/>
              </a:ext>
            </a:extLst>
          </p:cNvPr>
          <p:cNvSpPr>
            <a:spLocks xmlns:a="http://schemas.openxmlformats.org/drawingml/2006/main" noGrp="1"/>
          </p:cNvSpPr>
          <p:nvPr/>
        </p:nvSpPr>
        <p:spPr>
          <a:xfrm xmlns:a="http://schemas.openxmlformats.org/drawingml/2006/main">
            <a:off x="3495675" y="4591050"/>
            <a:ext cx="7524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500" b="0">
                <a:solidFill>
                  <a:srgbClr val="61766D"/>
                </a:solidFill>
                <a:latin typeface="Arial"/>
                <a:ea typeface="Arial"/>
                <a:cs typeface="Arial"/>
              </a:defRPr>
            </a:pPr>
            <a:r>
              <a:rPr sz="1500" b="0">
                <a:solidFill>
                  <a:srgbClr val="61766D"/>
                </a:solidFill>
                <a:latin typeface="Arial"/>
                <a:ea typeface="Arial"/>
                <a:cs typeface="Arial"/>
              </a:rPr>
              <a:t>Shopping cart, restock suggestions, checkout review, achievements and quests are present in the app.</a:t>
            </a:r>
          </a:p>
        </p:txBody>
      </p:sp>
      <p:sp>
        <p:nvSpPr>
          <p:cNvPr id="14" name="progress-note">
            <a:extLst xmlns:a="http://schemas.openxmlformats.org/drawingml/2006/main">
              <a:ext uri="{FF2B5EF4-FFF2-40B4-BE49-F238E27FC236}">
                <a16:creationId xmlns:a16="http://schemas.microsoft.com/office/drawing/2014/main" id="{F831578B-5F6E-4806-A8F9-19ADFD5580AE}"/>
              </a:ext>
            </a:extLst>
          </p:cNvPr>
          <p:cNvSpPr>
            <a:spLocks xmlns:a="http://schemas.openxmlformats.org/drawingml/2006/main" noGrp="1"/>
          </p:cNvSpPr>
          <p:nvPr/>
        </p:nvSpPr>
        <p:spPr>
          <a:xfrm xmlns:a="http://schemas.openxmlformats.org/drawingml/2006/main">
            <a:off x="685800" y="5953125"/>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647C68"/>
                </a:solidFill>
                <a:latin typeface="Arial"/>
                <a:ea typeface="Arial"/>
                <a:cs typeface="Arial"/>
              </a:defRPr>
            </a:pPr>
            <a:r>
              <a:rPr sz="1350" b="1">
                <a:solidFill>
                  <a:srgbClr val="647C68"/>
                </a:solidFill>
                <a:latin typeface="Arial"/>
                <a:ea typeface="Arial"/>
                <a:cs typeface="Arial"/>
              </a:rPr>
              <a:t>Iteration 3 extends these workflows and reduces friction across the household journey.</a:t>
            </a:r>
          </a:p>
        </p:txBody>
      </p:sp>
      <p:sp>
        <p:nvSpPr>
          <p:cNvPr id="15" name="footer-rule">
            <a:extLst xmlns:a="http://schemas.openxmlformats.org/drawingml/2006/main">
              <a:ext uri="{FF2B5EF4-FFF2-40B4-BE49-F238E27FC236}">
                <a16:creationId xmlns:a16="http://schemas.microsoft.com/office/drawing/2014/main" id="{D18045C8-5CF1-4CAA-8A8C-2A3C8B31B8B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16" name="footer-label">
            <a:extLst xmlns:a="http://schemas.openxmlformats.org/drawingml/2006/main">
              <a:ext uri="{FF2B5EF4-FFF2-40B4-BE49-F238E27FC236}">
                <a16:creationId xmlns:a16="http://schemas.microsoft.com/office/drawing/2014/main" id="{7F3E7555-EB7B-406D-8A53-11031E8CC48B}"/>
              </a:ext>
            </a:extLst>
          </p:cNvPr>
          <p:cNvSpPr>
            <a:spLocks xmlns:a="http://schemas.openxmlformats.org/drawingml/2006/main" noGrp="1"/>
          </p:cNvSpPr>
          <p:nvPr/>
        </p:nvSpPr>
        <p:spPr>
          <a:xfrm xmlns:a="http://schemas.openxmlformats.org/drawingml/2006/main">
            <a:off x="685800" y="6543675"/>
            <a:ext cx="581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KitchMemo  |  Iteration 3 Product Discovery</a:t>
            </a:r>
          </a:p>
        </p:txBody>
      </p:sp>
      <p:sp>
        <p:nvSpPr>
          <p:cNvPr id="17" name="footer-number">
            <a:extLst xmlns:a="http://schemas.openxmlformats.org/drawingml/2006/main">
              <a:ext uri="{FF2B5EF4-FFF2-40B4-BE49-F238E27FC236}">
                <a16:creationId xmlns:a16="http://schemas.microsoft.com/office/drawing/2014/main" id="{6FD6CB27-13CF-46E7-95E5-3E38CE714760}"/>
              </a:ext>
            </a:extLst>
          </p:cNvPr>
          <p:cNvSpPr>
            <a:spLocks xmlns:a="http://schemas.openxmlformats.org/drawingml/2006/main" noGrp="1"/>
          </p:cNvSpPr>
          <p:nvPr/>
        </p:nvSpPr>
        <p:spPr>
          <a:xfrm xmlns:a="http://schemas.openxmlformats.org/drawingml/2006/main">
            <a:off x="1114425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03</a:t>
            </a:r>
          </a:p>
        </p:txBody>
      </p:sp>
    </p:spTree>
    <p:extLst>
      <p:ext uri="{BB962C8B-B14F-4D97-AF65-F5344CB8AC3E}">
        <p14:creationId xmlns:p14="http://schemas.microsoft.com/office/powerpoint/2010/main" val="1123382100"/>
      </p:ext>
    </p:extLst>
  </p:cSld>
</p:sld>
</file>

<file path=ppt/slides/slide4.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24" name="section">
            <a:extLst xmlns:a="http://schemas.openxmlformats.org/drawingml/2006/main">
              <a:ext uri="{FF2B5EF4-FFF2-40B4-BE49-F238E27FC236}">
                <a16:creationId xmlns:a16="http://schemas.microsoft.com/office/drawing/2014/main" id="{3BD1E275-3996-427E-8070-69953FD84202}"/>
              </a:ext>
            </a:extLst>
          </p:cNvPr>
          <p:cNvSpPr>
            <a:spLocks xmlns:a="http://schemas.openxmlformats.org/drawingml/2006/main" noGrp="1"/>
          </p:cNvSpPr>
          <p:nvPr/>
        </p:nvSpPr>
        <p:spPr>
          <a:xfrm xmlns:a="http://schemas.openxmlformats.org/drawingml/2006/main">
            <a:off x="685800" y="276225"/>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647C68"/>
                </a:solidFill>
                <a:latin typeface="Arial"/>
                <a:ea typeface="Arial"/>
                <a:cs typeface="Arial"/>
              </a:defRPr>
            </a:pPr>
            <a:r>
              <a:rPr sz="975" b="1">
                <a:solidFill>
                  <a:srgbClr val="647C68"/>
                </a:solidFill>
                <a:latin typeface="Arial"/>
                <a:ea typeface="Arial"/>
                <a:cs typeface="Arial"/>
              </a:rPr>
              <a:t>PROGRESS UPDATE</a:t>
            </a:r>
          </a:p>
        </p:txBody>
      </p:sp>
      <p:sp>
        <p:nvSpPr>
          <p:cNvPr id="2" name="page">
            <a:extLst xmlns:a="http://schemas.openxmlformats.org/drawingml/2006/main">
              <a:ext uri="{FF2B5EF4-FFF2-40B4-BE49-F238E27FC236}">
                <a16:creationId xmlns:a16="http://schemas.microsoft.com/office/drawing/2014/main" id="{CD962C36-CFC0-438B-BF2F-89261D4FC278}"/>
              </a:ext>
            </a:extLst>
          </p:cNvPr>
          <p:cNvSpPr>
            <a:spLocks xmlns:a="http://schemas.openxmlformats.org/drawingml/2006/main" noGrp="1"/>
          </p:cNvSpPr>
          <p:nvPr/>
        </p:nvSpPr>
        <p:spPr>
          <a:xfrm xmlns:a="http://schemas.openxmlformats.org/drawingml/2006/main">
            <a:off x="11144250" y="2762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975" b="0">
                <a:solidFill>
                  <a:srgbClr val="61766D"/>
                </a:solidFill>
                <a:latin typeface="Arial"/>
                <a:ea typeface="Arial"/>
                <a:cs typeface="Arial"/>
              </a:defRPr>
            </a:pPr>
            <a:r>
              <a:rPr sz="975" b="0">
                <a:solidFill>
                  <a:srgbClr val="61766D"/>
                </a:solidFill>
                <a:latin typeface="Arial"/>
                <a:ea typeface="Arial"/>
                <a:cs typeface="Arial"/>
              </a:rPr>
              <a:t>04</a:t>
            </a:r>
          </a:p>
        </p:txBody>
      </p:sp>
      <p:sp>
        <p:nvSpPr>
          <p:cNvPr id="3" name="title">
            <a:extLst xmlns:a="http://schemas.openxmlformats.org/drawingml/2006/main">
              <a:ext uri="{FF2B5EF4-FFF2-40B4-BE49-F238E27FC236}">
                <a16:creationId xmlns:a16="http://schemas.microsoft.com/office/drawing/2014/main" id="{78920D99-D1C6-4532-A35D-6BD09134B05A}"/>
              </a:ext>
            </a:extLst>
          </p:cNvPr>
          <p:cNvSpPr>
            <a:spLocks xmlns:a="http://schemas.openxmlformats.org/drawingml/2006/main" noGrp="1"/>
          </p:cNvSpPr>
          <p:nvPr/>
        </p:nvSpPr>
        <p:spPr>
          <a:xfrm xmlns:a="http://schemas.openxmlformats.org/drawingml/2006/main">
            <a:off x="685800" y="600075"/>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925" b="1">
                <a:solidFill>
                  <a:srgbClr val="173D31"/>
                </a:solidFill>
                <a:latin typeface="Arial"/>
                <a:ea typeface="Arial"/>
                <a:cs typeface="Arial"/>
              </a:defRPr>
            </a:pPr>
            <a:r>
              <a:rPr sz="2925" b="1">
                <a:solidFill>
                  <a:srgbClr val="173D31"/>
                </a:solidFill>
                <a:latin typeface="Arial"/>
                <a:ea typeface="Arial"/>
                <a:cs typeface="Arial"/>
              </a:rPr>
              <a:t>Feedback turns into specific product changes</a:t>
            </a:r>
          </a:p>
        </p:txBody>
      </p:sp>
      <p:sp>
        <p:nvSpPr>
          <p:cNvPr id="4" name="subtitle">
            <a:extLst xmlns:a="http://schemas.openxmlformats.org/drawingml/2006/main">
              <a:ext uri="{FF2B5EF4-FFF2-40B4-BE49-F238E27FC236}">
                <a16:creationId xmlns:a16="http://schemas.microsoft.com/office/drawing/2014/main" id="{1286743F-4DAE-47DC-BD4B-0B18E41DD090}"/>
              </a:ext>
            </a:extLst>
          </p:cNvPr>
          <p:cNvSpPr>
            <a:spLocks xmlns:a="http://schemas.openxmlformats.org/drawingml/2006/main" noGrp="1"/>
          </p:cNvSpPr>
          <p:nvPr/>
        </p:nvSpPr>
        <p:spPr>
          <a:xfrm xmlns:a="http://schemas.openxmlformats.org/drawingml/2006/main">
            <a:off x="685800" y="11811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Iteration 3 responds to mentor and user-testing feedback while continuing the original education plan.</a:t>
            </a:r>
          </a:p>
        </p:txBody>
      </p:sp>
      <p:sp>
        <p:nvSpPr>
          <p:cNvPr id="5" name="feedback-row-0">
            <a:extLst xmlns:a="http://schemas.openxmlformats.org/drawingml/2006/main">
              <a:ext uri="{FF2B5EF4-FFF2-40B4-BE49-F238E27FC236}">
                <a16:creationId xmlns:a16="http://schemas.microsoft.com/office/drawing/2014/main" id="{63377947-2B8C-46D4-B5F7-D60F57E6B723}"/>
              </a:ext>
            </a:extLst>
          </p:cNvPr>
          <p:cNvSpPr>
            <a:spLocks xmlns:a="http://schemas.openxmlformats.org/drawingml/2006/main" noGrp="1"/>
          </p:cNvSpPr>
          <p:nvPr/>
        </p:nvSpPr>
        <p:spPr>
          <a:xfrm xmlns:a="http://schemas.openxmlformats.org/drawingml/2006/main">
            <a:off x="685800" y="1781175"/>
            <a:ext cx="10820400" cy="971550"/>
          </a:xfrm>
          <a:prstGeom xmlns:a="http://schemas.openxmlformats.org/drawingml/2006/main" prst="roundRect">
            <a:avLst>
              <a:gd name="adj" fmla="val 13725"/>
            </a:avLst>
          </a:prstGeom>
          <a:solidFill xmlns:a="http://schemas.openxmlformats.org/drawingml/2006/main">
            <a:srgbClr val="DDECE6"/>
          </a:solidFill>
          <a:ln xmlns:a="http://schemas.openxmlformats.org/drawingml/2006/main" w="0">
            <a:noFill/>
            <a:prstDash val="solid"/>
          </a:ln>
        </p:spPr>
      </p:sp>
      <p:sp>
        <p:nvSpPr>
          <p:cNvPr id="6" name="feedback-origin-0">
            <a:extLst xmlns:a="http://schemas.openxmlformats.org/drawingml/2006/main">
              <a:ext uri="{FF2B5EF4-FFF2-40B4-BE49-F238E27FC236}">
                <a16:creationId xmlns:a16="http://schemas.microsoft.com/office/drawing/2014/main" id="{2EB6D64B-3198-4650-94B0-71A60E4962D5}"/>
              </a:ext>
            </a:extLst>
          </p:cNvPr>
          <p:cNvSpPr>
            <a:spLocks xmlns:a="http://schemas.openxmlformats.org/drawingml/2006/main" noGrp="1"/>
          </p:cNvSpPr>
          <p:nvPr/>
        </p:nvSpPr>
        <p:spPr>
          <a:xfrm xmlns:a="http://schemas.openxmlformats.org/drawingml/2006/main">
            <a:off x="895350" y="19431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647C68"/>
                </a:solidFill>
                <a:latin typeface="Arial"/>
                <a:ea typeface="Arial"/>
                <a:cs typeface="Arial"/>
              </a:defRPr>
            </a:pPr>
            <a:r>
              <a:rPr sz="900" b="1">
                <a:solidFill>
                  <a:srgbClr val="647C68"/>
                </a:solidFill>
                <a:latin typeface="Arial"/>
                <a:ea typeface="Arial"/>
                <a:cs typeface="Arial"/>
              </a:rPr>
              <a:t>MENTOR</a:t>
            </a:r>
          </a:p>
        </p:txBody>
      </p:sp>
      <p:sp>
        <p:nvSpPr>
          <p:cNvPr id="7" name="feedback-quote-0">
            <a:extLst xmlns:a="http://schemas.openxmlformats.org/drawingml/2006/main">
              <a:ext uri="{FF2B5EF4-FFF2-40B4-BE49-F238E27FC236}">
                <a16:creationId xmlns:a16="http://schemas.microsoft.com/office/drawing/2014/main" id="{BB48D28D-F46E-47E7-BE35-8A1BE07F1708}"/>
              </a:ext>
            </a:extLst>
          </p:cNvPr>
          <p:cNvSpPr>
            <a:spLocks xmlns:a="http://schemas.openxmlformats.org/drawingml/2006/main" noGrp="1"/>
          </p:cNvSpPr>
          <p:nvPr/>
        </p:nvSpPr>
        <p:spPr>
          <a:xfrm xmlns:a="http://schemas.openxmlformats.org/drawingml/2006/main">
            <a:off x="895350" y="2190750"/>
            <a:ext cx="4238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173D31"/>
                </a:solidFill>
                <a:latin typeface="Arial"/>
                <a:ea typeface="Arial"/>
                <a:cs typeface="Arial"/>
              </a:defRPr>
            </a:pPr>
            <a:r>
              <a:rPr sz="1350" b="1">
                <a:solidFill>
                  <a:srgbClr val="173D31"/>
                </a:solidFill>
                <a:latin typeface="Arial"/>
                <a:ea typeface="Arial"/>
                <a:cs typeface="Arial"/>
              </a:rPr>
              <a:t>“The current page is too long.”</a:t>
            </a:r>
          </a:p>
        </p:txBody>
      </p:sp>
      <p:sp>
        <p:nvSpPr>
          <p:cNvPr id="8" name="feedback-divider-0">
            <a:extLst xmlns:a="http://schemas.openxmlformats.org/drawingml/2006/main">
              <a:ext uri="{FF2B5EF4-FFF2-40B4-BE49-F238E27FC236}">
                <a16:creationId xmlns:a16="http://schemas.microsoft.com/office/drawing/2014/main" id="{005E5949-246D-4005-98F7-3AFC6D0D0696}"/>
              </a:ext>
            </a:extLst>
          </p:cNvPr>
          <p:cNvSpPr>
            <a:spLocks xmlns:a="http://schemas.openxmlformats.org/drawingml/2006/main" noGrp="1"/>
          </p:cNvSpPr>
          <p:nvPr/>
        </p:nvSpPr>
        <p:spPr>
          <a:xfrm xmlns:a="http://schemas.openxmlformats.org/drawingml/2006/main">
            <a:off x="5391150" y="1952625"/>
            <a:ext cx="9525" cy="628650"/>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9" name="feedback-response-0">
            <a:extLst xmlns:a="http://schemas.openxmlformats.org/drawingml/2006/main">
              <a:ext uri="{FF2B5EF4-FFF2-40B4-BE49-F238E27FC236}">
                <a16:creationId xmlns:a16="http://schemas.microsoft.com/office/drawing/2014/main" id="{C1763507-C28B-4E6E-BC7C-93403E20BA37}"/>
              </a:ext>
            </a:extLst>
          </p:cNvPr>
          <p:cNvSpPr>
            <a:spLocks xmlns:a="http://schemas.openxmlformats.org/drawingml/2006/main" noGrp="1"/>
          </p:cNvSpPr>
          <p:nvPr/>
        </p:nvSpPr>
        <p:spPr>
          <a:xfrm xmlns:a="http://schemas.openxmlformats.org/drawingml/2006/main">
            <a:off x="5638800" y="2000250"/>
            <a:ext cx="552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425" b="0">
                <a:solidFill>
                  <a:srgbClr val="173D31"/>
                </a:solidFill>
                <a:latin typeface="Arial"/>
                <a:ea typeface="Arial"/>
                <a:cs typeface="Arial"/>
              </a:defRPr>
            </a:pPr>
            <a:r>
              <a:rPr sz="1425" b="0">
                <a:solidFill>
                  <a:srgbClr val="173D31"/>
                </a:solidFill>
                <a:latin typeface="Arial"/>
                <a:ea typeface="Arial"/>
                <a:cs typeface="Arial"/>
              </a:rPr>
              <a:t>Restructure the achievement page into shorter, focused sections.</a:t>
            </a:r>
          </a:p>
        </p:txBody>
      </p:sp>
      <p:sp>
        <p:nvSpPr>
          <p:cNvPr id="10" name="feedback-row-1">
            <a:extLst xmlns:a="http://schemas.openxmlformats.org/drawingml/2006/main">
              <a:ext uri="{FF2B5EF4-FFF2-40B4-BE49-F238E27FC236}">
                <a16:creationId xmlns:a16="http://schemas.microsoft.com/office/drawing/2014/main" id="{E3E48C55-787F-4D1C-A498-DF47CFBEE17C}"/>
              </a:ext>
            </a:extLst>
          </p:cNvPr>
          <p:cNvSpPr>
            <a:spLocks xmlns:a="http://schemas.openxmlformats.org/drawingml/2006/main" noGrp="1"/>
          </p:cNvSpPr>
          <p:nvPr/>
        </p:nvSpPr>
        <p:spPr>
          <a:xfrm xmlns:a="http://schemas.openxmlformats.org/drawingml/2006/main">
            <a:off x="685800" y="2962275"/>
            <a:ext cx="10820400" cy="971550"/>
          </a:xfrm>
          <a:prstGeom xmlns:a="http://schemas.openxmlformats.org/drawingml/2006/main" prst="roundRect">
            <a:avLst>
              <a:gd name="adj" fmla="val 13725"/>
            </a:avLst>
          </a:prstGeom>
          <a:solidFill xmlns:a="http://schemas.openxmlformats.org/drawingml/2006/main">
            <a:srgbClr val="F3EFE6"/>
          </a:solidFill>
          <a:ln xmlns:a="http://schemas.openxmlformats.org/drawingml/2006/main" w="0">
            <a:noFill/>
            <a:prstDash val="solid"/>
          </a:ln>
        </p:spPr>
      </p:sp>
      <p:sp>
        <p:nvSpPr>
          <p:cNvPr id="11" name="feedback-origin-1">
            <a:extLst xmlns:a="http://schemas.openxmlformats.org/drawingml/2006/main">
              <a:ext uri="{FF2B5EF4-FFF2-40B4-BE49-F238E27FC236}">
                <a16:creationId xmlns:a16="http://schemas.microsoft.com/office/drawing/2014/main" id="{78988D6C-E872-4783-A877-C617A01BE266}"/>
              </a:ext>
            </a:extLst>
          </p:cNvPr>
          <p:cNvSpPr>
            <a:spLocks xmlns:a="http://schemas.openxmlformats.org/drawingml/2006/main" noGrp="1"/>
          </p:cNvSpPr>
          <p:nvPr/>
        </p:nvSpPr>
        <p:spPr>
          <a:xfrm xmlns:a="http://schemas.openxmlformats.org/drawingml/2006/main">
            <a:off x="895350" y="31242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647C68"/>
                </a:solidFill>
                <a:latin typeface="Arial"/>
                <a:ea typeface="Arial"/>
                <a:cs typeface="Arial"/>
              </a:defRPr>
            </a:pPr>
            <a:r>
              <a:rPr sz="900" b="1">
                <a:solidFill>
                  <a:srgbClr val="647C68"/>
                </a:solidFill>
                <a:latin typeface="Arial"/>
                <a:ea typeface="Arial"/>
                <a:cs typeface="Arial"/>
              </a:rPr>
              <a:t>USER TESTING</a:t>
            </a:r>
          </a:p>
        </p:txBody>
      </p:sp>
      <p:sp>
        <p:nvSpPr>
          <p:cNvPr id="12" name="feedback-quote-1">
            <a:extLst xmlns:a="http://schemas.openxmlformats.org/drawingml/2006/main">
              <a:ext uri="{FF2B5EF4-FFF2-40B4-BE49-F238E27FC236}">
                <a16:creationId xmlns:a16="http://schemas.microsoft.com/office/drawing/2014/main" id="{23506621-A98E-4CF2-8E2A-615E7DC9064B}"/>
              </a:ext>
            </a:extLst>
          </p:cNvPr>
          <p:cNvSpPr>
            <a:spLocks xmlns:a="http://schemas.openxmlformats.org/drawingml/2006/main" noGrp="1"/>
          </p:cNvSpPr>
          <p:nvPr/>
        </p:nvSpPr>
        <p:spPr>
          <a:xfrm xmlns:a="http://schemas.openxmlformats.org/drawingml/2006/main">
            <a:off x="895350" y="3371850"/>
            <a:ext cx="4238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173D31"/>
                </a:solidFill>
                <a:latin typeface="Arial"/>
                <a:ea typeface="Arial"/>
                <a:cs typeface="Arial"/>
              </a:defRPr>
            </a:pPr>
            <a:r>
              <a:rPr sz="1350" b="1">
                <a:solidFill>
                  <a:srgbClr val="173D31"/>
                </a:solidFill>
                <a:latin typeface="Arial"/>
                <a:ea typeface="Arial"/>
                <a:cs typeface="Arial"/>
              </a:rPr>
              <a:t>“Could the badges feel more metallic?”</a:t>
            </a:r>
          </a:p>
        </p:txBody>
      </p:sp>
      <p:sp>
        <p:nvSpPr>
          <p:cNvPr id="13" name="feedback-divider-1">
            <a:extLst xmlns:a="http://schemas.openxmlformats.org/drawingml/2006/main">
              <a:ext uri="{FF2B5EF4-FFF2-40B4-BE49-F238E27FC236}">
                <a16:creationId xmlns:a16="http://schemas.microsoft.com/office/drawing/2014/main" id="{98E8193F-9E80-4355-9A08-57D90B26A338}"/>
              </a:ext>
            </a:extLst>
          </p:cNvPr>
          <p:cNvSpPr>
            <a:spLocks xmlns:a="http://schemas.openxmlformats.org/drawingml/2006/main" noGrp="1"/>
          </p:cNvSpPr>
          <p:nvPr/>
        </p:nvSpPr>
        <p:spPr>
          <a:xfrm xmlns:a="http://schemas.openxmlformats.org/drawingml/2006/main">
            <a:off x="5391150" y="3133725"/>
            <a:ext cx="9525" cy="628650"/>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14" name="feedback-response-1">
            <a:extLst xmlns:a="http://schemas.openxmlformats.org/drawingml/2006/main">
              <a:ext uri="{FF2B5EF4-FFF2-40B4-BE49-F238E27FC236}">
                <a16:creationId xmlns:a16="http://schemas.microsoft.com/office/drawing/2014/main" id="{1CA036E3-1DAC-4ACE-AFF5-0FB7B67C7583}"/>
              </a:ext>
            </a:extLst>
          </p:cNvPr>
          <p:cNvSpPr>
            <a:spLocks xmlns:a="http://schemas.openxmlformats.org/drawingml/2006/main" noGrp="1"/>
          </p:cNvSpPr>
          <p:nvPr/>
        </p:nvSpPr>
        <p:spPr>
          <a:xfrm xmlns:a="http://schemas.openxmlformats.org/drawingml/2006/main">
            <a:off x="5638800" y="3181350"/>
            <a:ext cx="552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425" b="0">
                <a:solidFill>
                  <a:srgbClr val="173D31"/>
                </a:solidFill>
                <a:latin typeface="Arial"/>
                <a:ea typeface="Arial"/>
                <a:cs typeface="Arial"/>
              </a:defRPr>
            </a:pPr>
            <a:r>
              <a:rPr sz="1425" b="0">
                <a:solidFill>
                  <a:srgbClr val="173D31"/>
                </a:solidFill>
                <a:latin typeface="Arial"/>
                <a:ea typeface="Arial"/>
                <a:cs typeface="Arial"/>
              </a:rPr>
              <a:t>Refine badge materials, depth and finish while keeping the symbol easy to read.</a:t>
            </a:r>
          </a:p>
        </p:txBody>
      </p:sp>
      <p:sp>
        <p:nvSpPr>
          <p:cNvPr id="15" name="feedback-row-2">
            <a:extLst xmlns:a="http://schemas.openxmlformats.org/drawingml/2006/main">
              <a:ext uri="{FF2B5EF4-FFF2-40B4-BE49-F238E27FC236}">
                <a16:creationId xmlns:a16="http://schemas.microsoft.com/office/drawing/2014/main" id="{AF71671C-7E5F-489B-8384-9692967E276F}"/>
              </a:ext>
            </a:extLst>
          </p:cNvPr>
          <p:cNvSpPr>
            <a:spLocks xmlns:a="http://schemas.openxmlformats.org/drawingml/2006/main" noGrp="1"/>
          </p:cNvSpPr>
          <p:nvPr/>
        </p:nvSpPr>
        <p:spPr>
          <a:xfrm xmlns:a="http://schemas.openxmlformats.org/drawingml/2006/main">
            <a:off x="685800" y="4143375"/>
            <a:ext cx="10820400" cy="971550"/>
          </a:xfrm>
          <a:prstGeom xmlns:a="http://schemas.openxmlformats.org/drawingml/2006/main" prst="roundRect">
            <a:avLst>
              <a:gd name="adj" fmla="val 13725"/>
            </a:avLst>
          </a:prstGeom>
          <a:solidFill xmlns:a="http://schemas.openxmlformats.org/drawingml/2006/main">
            <a:srgbClr val="FFF1E3"/>
          </a:solidFill>
          <a:ln xmlns:a="http://schemas.openxmlformats.org/drawingml/2006/main" w="0">
            <a:noFill/>
            <a:prstDash val="solid"/>
          </a:ln>
        </p:spPr>
      </p:sp>
      <p:sp>
        <p:nvSpPr>
          <p:cNvPr id="16" name="feedback-origin-2">
            <a:extLst xmlns:a="http://schemas.openxmlformats.org/drawingml/2006/main">
              <a:ext uri="{FF2B5EF4-FFF2-40B4-BE49-F238E27FC236}">
                <a16:creationId xmlns:a16="http://schemas.microsoft.com/office/drawing/2014/main" id="{45BD624B-7E1E-4772-836D-FFA4A1FD39D0}"/>
              </a:ext>
            </a:extLst>
          </p:cNvPr>
          <p:cNvSpPr>
            <a:spLocks xmlns:a="http://schemas.openxmlformats.org/drawingml/2006/main" noGrp="1"/>
          </p:cNvSpPr>
          <p:nvPr/>
        </p:nvSpPr>
        <p:spPr>
          <a:xfrm xmlns:a="http://schemas.openxmlformats.org/drawingml/2006/main">
            <a:off x="895350" y="43053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647C68"/>
                </a:solidFill>
                <a:latin typeface="Arial"/>
                <a:ea typeface="Arial"/>
                <a:cs typeface="Arial"/>
              </a:defRPr>
            </a:pPr>
            <a:r>
              <a:rPr sz="900" b="1">
                <a:solidFill>
                  <a:srgbClr val="647C68"/>
                </a:solidFill>
                <a:latin typeface="Arial"/>
                <a:ea typeface="Arial"/>
                <a:cs typeface="Arial"/>
              </a:rPr>
              <a:t>MENTOR</a:t>
            </a:r>
          </a:p>
        </p:txBody>
      </p:sp>
      <p:sp>
        <p:nvSpPr>
          <p:cNvPr id="17" name="feedback-quote-2">
            <a:extLst xmlns:a="http://schemas.openxmlformats.org/drawingml/2006/main">
              <a:ext uri="{FF2B5EF4-FFF2-40B4-BE49-F238E27FC236}">
                <a16:creationId xmlns:a16="http://schemas.microsoft.com/office/drawing/2014/main" id="{28FE4350-54EE-4D24-859B-DBE76BFCA5D3}"/>
              </a:ext>
            </a:extLst>
          </p:cNvPr>
          <p:cNvSpPr>
            <a:spLocks xmlns:a="http://schemas.openxmlformats.org/drawingml/2006/main" noGrp="1"/>
          </p:cNvSpPr>
          <p:nvPr/>
        </p:nvSpPr>
        <p:spPr>
          <a:xfrm xmlns:a="http://schemas.openxmlformats.org/drawingml/2006/main">
            <a:off x="895350" y="4552950"/>
            <a:ext cx="4238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585"/>
          </a:bodyPr>
          <a:lstStyle xmlns:a="http://schemas.openxmlformats.org/drawingml/2006/main"/>
          <a:p xmlns:a="http://schemas.openxmlformats.org/drawingml/2006/main">
            <a:pPr algn="l">
              <a:lnSpc>
                <a:spcPct val="102000"/>
              </a:lnSpc>
              <a:buNone/>
              <a:defRPr sz="1350" b="1">
                <a:solidFill>
                  <a:srgbClr val="173D31"/>
                </a:solidFill>
                <a:latin typeface="Arial"/>
                <a:ea typeface="Arial"/>
                <a:cs typeface="Arial"/>
              </a:defRPr>
            </a:pPr>
            <a:r>
              <a:rPr sz="1350" b="1">
                <a:solidFill>
                  <a:srgbClr val="173D31"/>
                </a:solidFill>
                <a:latin typeface="Arial"/>
                <a:ea typeface="Arial"/>
                <a:cs typeface="Arial"/>
              </a:rPr>
              <a:t>“Could the conversation format improve, with quick actions?”</a:t>
            </a:r>
          </a:p>
        </p:txBody>
      </p:sp>
      <p:sp>
        <p:nvSpPr>
          <p:cNvPr id="18" name="feedback-divider-2">
            <a:extLst xmlns:a="http://schemas.openxmlformats.org/drawingml/2006/main">
              <a:ext uri="{FF2B5EF4-FFF2-40B4-BE49-F238E27FC236}">
                <a16:creationId xmlns:a16="http://schemas.microsoft.com/office/drawing/2014/main" id="{39F3DBE0-8B43-4077-AC69-03BF39CD31C5}"/>
              </a:ext>
            </a:extLst>
          </p:cNvPr>
          <p:cNvSpPr>
            <a:spLocks xmlns:a="http://schemas.openxmlformats.org/drawingml/2006/main" noGrp="1"/>
          </p:cNvSpPr>
          <p:nvPr/>
        </p:nvSpPr>
        <p:spPr>
          <a:xfrm xmlns:a="http://schemas.openxmlformats.org/drawingml/2006/main">
            <a:off x="5391150" y="4314825"/>
            <a:ext cx="9525" cy="628650"/>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19" name="feedback-response-2">
            <a:extLst xmlns:a="http://schemas.openxmlformats.org/drawingml/2006/main">
              <a:ext uri="{FF2B5EF4-FFF2-40B4-BE49-F238E27FC236}">
                <a16:creationId xmlns:a16="http://schemas.microsoft.com/office/drawing/2014/main" id="{1FB4DB7F-4513-4265-93D1-DE0EFC14A6A2}"/>
              </a:ext>
            </a:extLst>
          </p:cNvPr>
          <p:cNvSpPr>
            <a:spLocks xmlns:a="http://schemas.openxmlformats.org/drawingml/2006/main" noGrp="1"/>
          </p:cNvSpPr>
          <p:nvPr/>
        </p:nvSpPr>
        <p:spPr>
          <a:xfrm xmlns:a="http://schemas.openxmlformats.org/drawingml/2006/main">
            <a:off x="5638800" y="4362450"/>
            <a:ext cx="552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425" b="0">
                <a:solidFill>
                  <a:srgbClr val="173D31"/>
                </a:solidFill>
                <a:latin typeface="Arial"/>
                <a:ea typeface="Arial"/>
                <a:cs typeface="Arial"/>
              </a:defRPr>
            </a:pPr>
            <a:r>
              <a:rPr sz="1425" b="0">
                <a:solidFill>
                  <a:srgbClr val="173D31"/>
                </a:solidFill>
                <a:latin typeface="Arial"/>
                <a:ea typeface="Arial"/>
                <a:cs typeface="Arial"/>
              </a:rPr>
              <a:t>Make replies easier to scan and surface relevant next actions.</a:t>
            </a:r>
          </a:p>
        </p:txBody>
      </p:sp>
      <p:sp>
        <p:nvSpPr>
          <p:cNvPr id="20" name="continuing-plan">
            <a:extLst xmlns:a="http://schemas.openxmlformats.org/drawingml/2006/main">
              <a:ext uri="{FF2B5EF4-FFF2-40B4-BE49-F238E27FC236}">
                <a16:creationId xmlns:a16="http://schemas.microsoft.com/office/drawing/2014/main" id="{2ABE8C35-D315-470E-807F-D641E147CDEF}"/>
              </a:ext>
            </a:extLst>
          </p:cNvPr>
          <p:cNvSpPr>
            <a:spLocks xmlns:a="http://schemas.openxmlformats.org/drawingml/2006/main" noGrp="1"/>
          </p:cNvSpPr>
          <p:nvPr/>
        </p:nvSpPr>
        <p:spPr>
          <a:xfrm xmlns:a="http://schemas.openxmlformats.org/drawingml/2006/main">
            <a:off x="685800" y="5524500"/>
            <a:ext cx="10744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500" b="1">
                <a:solidFill>
                  <a:srgbClr val="647C68"/>
                </a:solidFill>
                <a:latin typeface="Arial"/>
                <a:ea typeface="Arial"/>
                <a:cs typeface="Arial"/>
              </a:defRPr>
            </a:pPr>
            <a:r>
              <a:rPr sz="1500" b="1">
                <a:solidFill>
                  <a:srgbClr val="647C68"/>
                </a:solidFill>
                <a:latin typeface="Arial"/>
                <a:ea typeface="Arial"/>
                <a:cs typeface="Arial"/>
              </a:rPr>
              <a:t>Animation and interactive teaching continue the original food-waste education plan.</a:t>
            </a:r>
          </a:p>
        </p:txBody>
      </p:sp>
      <p:sp>
        <p:nvSpPr>
          <p:cNvPr id="21" name="footer-rule">
            <a:extLst xmlns:a="http://schemas.openxmlformats.org/drawingml/2006/main">
              <a:ext uri="{FF2B5EF4-FFF2-40B4-BE49-F238E27FC236}">
                <a16:creationId xmlns:a16="http://schemas.microsoft.com/office/drawing/2014/main" id="{7BBE5DA8-FF50-494B-8D44-CD31ACC2D88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22" name="footer-label">
            <a:extLst xmlns:a="http://schemas.openxmlformats.org/drawingml/2006/main">
              <a:ext uri="{FF2B5EF4-FFF2-40B4-BE49-F238E27FC236}">
                <a16:creationId xmlns:a16="http://schemas.microsoft.com/office/drawing/2014/main" id="{B49B97DE-CC76-4F05-A007-98A81A1D170A}"/>
              </a:ext>
            </a:extLst>
          </p:cNvPr>
          <p:cNvSpPr>
            <a:spLocks xmlns:a="http://schemas.openxmlformats.org/drawingml/2006/main" noGrp="1"/>
          </p:cNvSpPr>
          <p:nvPr/>
        </p:nvSpPr>
        <p:spPr>
          <a:xfrm xmlns:a="http://schemas.openxmlformats.org/drawingml/2006/main">
            <a:off x="685800" y="6543675"/>
            <a:ext cx="581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KitchMemo  |  Iteration 3 Product Discovery</a:t>
            </a:r>
          </a:p>
        </p:txBody>
      </p:sp>
      <p:sp>
        <p:nvSpPr>
          <p:cNvPr id="23" name="footer-number">
            <a:extLst xmlns:a="http://schemas.openxmlformats.org/drawingml/2006/main">
              <a:ext uri="{FF2B5EF4-FFF2-40B4-BE49-F238E27FC236}">
                <a16:creationId xmlns:a16="http://schemas.microsoft.com/office/drawing/2014/main" id="{6D175BBD-9092-481C-8805-4E10B147B2E4}"/>
              </a:ext>
            </a:extLst>
          </p:cNvPr>
          <p:cNvSpPr>
            <a:spLocks xmlns:a="http://schemas.openxmlformats.org/drawingml/2006/main" noGrp="1"/>
          </p:cNvSpPr>
          <p:nvPr/>
        </p:nvSpPr>
        <p:spPr>
          <a:xfrm xmlns:a="http://schemas.openxmlformats.org/drawingml/2006/main">
            <a:off x="1114425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04</a:t>
            </a:r>
          </a:p>
        </p:txBody>
      </p:sp>
    </p:spTree>
    <p:extLst>
      <p:ext uri="{BB962C8B-B14F-4D97-AF65-F5344CB8AC3E}">
        <p14:creationId xmlns:p14="http://schemas.microsoft.com/office/powerpoint/2010/main" val="383592011"/>
      </p:ext>
    </p:extLst>
  </p:cSld>
</p:sld>
</file>

<file path=ppt/slides/slide5.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34" name="section">
            <a:extLst xmlns:a="http://schemas.openxmlformats.org/drawingml/2006/main">
              <a:ext uri="{FF2B5EF4-FFF2-40B4-BE49-F238E27FC236}">
                <a16:creationId xmlns:a16="http://schemas.microsoft.com/office/drawing/2014/main" id="{BD83E72C-C2B3-4950-A6D4-5243D46C7BE3}"/>
              </a:ext>
            </a:extLst>
          </p:cNvPr>
          <p:cNvSpPr>
            <a:spLocks xmlns:a="http://schemas.openxmlformats.org/drawingml/2006/main" noGrp="1"/>
          </p:cNvSpPr>
          <p:nvPr/>
        </p:nvSpPr>
        <p:spPr>
          <a:xfrm xmlns:a="http://schemas.openxmlformats.org/drawingml/2006/main">
            <a:off x="685800" y="276225"/>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647C68"/>
                </a:solidFill>
                <a:latin typeface="Arial"/>
                <a:ea typeface="Arial"/>
                <a:cs typeface="Arial"/>
              </a:defRPr>
            </a:pPr>
            <a:r>
              <a:rPr sz="975" b="1">
                <a:solidFill>
                  <a:srgbClr val="647C68"/>
                </a:solidFill>
                <a:latin typeface="Arial"/>
                <a:ea typeface="Arial"/>
                <a:cs typeface="Arial"/>
              </a:rPr>
              <a:t>ITERATION PLAN</a:t>
            </a:r>
          </a:p>
        </p:txBody>
      </p:sp>
      <p:sp>
        <p:nvSpPr>
          <p:cNvPr id="2" name="page">
            <a:extLst xmlns:a="http://schemas.openxmlformats.org/drawingml/2006/main">
              <a:ext uri="{FF2B5EF4-FFF2-40B4-BE49-F238E27FC236}">
                <a16:creationId xmlns:a16="http://schemas.microsoft.com/office/drawing/2014/main" id="{1A977E85-7304-45CE-80BF-12F3E9545F3A}"/>
              </a:ext>
            </a:extLst>
          </p:cNvPr>
          <p:cNvSpPr>
            <a:spLocks xmlns:a="http://schemas.openxmlformats.org/drawingml/2006/main" noGrp="1"/>
          </p:cNvSpPr>
          <p:nvPr/>
        </p:nvSpPr>
        <p:spPr>
          <a:xfrm xmlns:a="http://schemas.openxmlformats.org/drawingml/2006/main">
            <a:off x="11144250" y="2762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975" b="0">
                <a:solidFill>
                  <a:srgbClr val="61766D"/>
                </a:solidFill>
                <a:latin typeface="Arial"/>
                <a:ea typeface="Arial"/>
                <a:cs typeface="Arial"/>
              </a:defRPr>
            </a:pPr>
            <a:r>
              <a:rPr sz="975" b="0">
                <a:solidFill>
                  <a:srgbClr val="61766D"/>
                </a:solidFill>
                <a:latin typeface="Arial"/>
                <a:ea typeface="Arial"/>
                <a:cs typeface="Arial"/>
              </a:rPr>
              <a:t>05</a:t>
            </a:r>
          </a:p>
        </p:txBody>
      </p:sp>
      <p:sp>
        <p:nvSpPr>
          <p:cNvPr id="3" name="title">
            <a:extLst xmlns:a="http://schemas.openxmlformats.org/drawingml/2006/main">
              <a:ext uri="{FF2B5EF4-FFF2-40B4-BE49-F238E27FC236}">
                <a16:creationId xmlns:a16="http://schemas.microsoft.com/office/drawing/2014/main" id="{70F9F0A6-0D05-41A6-A318-3F391CE087CE}"/>
              </a:ext>
            </a:extLst>
          </p:cNvPr>
          <p:cNvSpPr>
            <a:spLocks xmlns:a="http://schemas.openxmlformats.org/drawingml/2006/main" noGrp="1"/>
          </p:cNvSpPr>
          <p:nvPr/>
        </p:nvSpPr>
        <p:spPr>
          <a:xfrm xmlns:a="http://schemas.openxmlformats.org/drawingml/2006/main">
            <a:off x="685800" y="600075"/>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925" b="1">
                <a:solidFill>
                  <a:srgbClr val="173D31"/>
                </a:solidFill>
                <a:latin typeface="Arial"/>
                <a:ea typeface="Arial"/>
                <a:cs typeface="Arial"/>
              </a:defRPr>
            </a:pPr>
            <a:r>
              <a:rPr sz="2925" b="1">
                <a:solidFill>
                  <a:srgbClr val="173D31"/>
                </a:solidFill>
                <a:latin typeface="Arial"/>
                <a:ea typeface="Arial"/>
                <a:cs typeface="Arial"/>
              </a:rPr>
              <a:t>Eight work items support one household food journey</a:t>
            </a:r>
          </a:p>
        </p:txBody>
      </p:sp>
      <p:sp>
        <p:nvSpPr>
          <p:cNvPr id="4" name="subtitle">
            <a:extLst xmlns:a="http://schemas.openxmlformats.org/drawingml/2006/main">
              <a:ext uri="{FF2B5EF4-FFF2-40B4-BE49-F238E27FC236}">
                <a16:creationId xmlns:a16="http://schemas.microsoft.com/office/drawing/2014/main" id="{E7D077E3-9840-4808-A4C9-ACC7DBDB2764}"/>
              </a:ext>
            </a:extLst>
          </p:cNvPr>
          <p:cNvSpPr>
            <a:spLocks xmlns:a="http://schemas.openxmlformats.org/drawingml/2006/main" noGrp="1"/>
          </p:cNvSpPr>
          <p:nvPr/>
        </p:nvSpPr>
        <p:spPr>
          <a:xfrm xmlns:a="http://schemas.openxmlformats.org/drawingml/2006/main">
            <a:off x="685800" y="11811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Iteration 3 combines new capabilities with focused improvements to existing features.</a:t>
            </a:r>
          </a:p>
        </p:txBody>
      </p:sp>
      <p:sp>
        <p:nvSpPr>
          <p:cNvPr id="5" name="new-panel">
            <a:extLst xmlns:a="http://schemas.openxmlformats.org/drawingml/2006/main">
              <a:ext uri="{FF2B5EF4-FFF2-40B4-BE49-F238E27FC236}">
                <a16:creationId xmlns:a16="http://schemas.microsoft.com/office/drawing/2014/main" id="{C9B98485-6AE5-4CCD-8B0F-D9D5B53B4640}"/>
              </a:ext>
            </a:extLst>
          </p:cNvPr>
          <p:cNvSpPr>
            <a:spLocks xmlns:a="http://schemas.openxmlformats.org/drawingml/2006/main" noGrp="1"/>
          </p:cNvSpPr>
          <p:nvPr/>
        </p:nvSpPr>
        <p:spPr>
          <a:xfrm xmlns:a="http://schemas.openxmlformats.org/drawingml/2006/main">
            <a:off x="685800" y="1752600"/>
            <a:ext cx="5191125" cy="4000500"/>
          </a:xfrm>
          <a:prstGeom xmlns:a="http://schemas.openxmlformats.org/drawingml/2006/main" prst="roundRect">
            <a:avLst>
              <a:gd name="adj" fmla="val 4286"/>
            </a:avLst>
          </a:prstGeom>
          <a:solidFill xmlns:a="http://schemas.openxmlformats.org/drawingml/2006/main">
            <a:srgbClr val="DDECE6"/>
          </a:solidFill>
          <a:ln xmlns:a="http://schemas.openxmlformats.org/drawingml/2006/main" w="0">
            <a:noFill/>
            <a:prstDash val="solid"/>
          </a:ln>
        </p:spPr>
      </p:sp>
      <p:sp>
        <p:nvSpPr>
          <p:cNvPr id="6" name="improvement-panel">
            <a:extLst xmlns:a="http://schemas.openxmlformats.org/drawingml/2006/main">
              <a:ext uri="{FF2B5EF4-FFF2-40B4-BE49-F238E27FC236}">
                <a16:creationId xmlns:a16="http://schemas.microsoft.com/office/drawing/2014/main" id="{8139BA82-EB68-4EF4-9F28-364536176126}"/>
              </a:ext>
            </a:extLst>
          </p:cNvPr>
          <p:cNvSpPr>
            <a:spLocks xmlns:a="http://schemas.openxmlformats.org/drawingml/2006/main" noGrp="1"/>
          </p:cNvSpPr>
          <p:nvPr/>
        </p:nvSpPr>
        <p:spPr>
          <a:xfrm xmlns:a="http://schemas.openxmlformats.org/drawingml/2006/main">
            <a:off x="6315075" y="1752600"/>
            <a:ext cx="5191125" cy="4000500"/>
          </a:xfrm>
          <a:prstGeom xmlns:a="http://schemas.openxmlformats.org/drawingml/2006/main" prst="roundRect">
            <a:avLst>
              <a:gd name="adj" fmla="val 4286"/>
            </a:avLst>
          </a:prstGeom>
          <a:solidFill xmlns:a="http://schemas.openxmlformats.org/drawingml/2006/main">
            <a:srgbClr val="F3EFE6"/>
          </a:solidFill>
          <a:ln xmlns:a="http://schemas.openxmlformats.org/drawingml/2006/main" w="0">
            <a:noFill/>
            <a:prstDash val="solid"/>
          </a:ln>
        </p:spPr>
      </p:sp>
      <p:sp>
        <p:nvSpPr>
          <p:cNvPr id="7" name="new-label">
            <a:extLst xmlns:a="http://schemas.openxmlformats.org/drawingml/2006/main">
              <a:ext uri="{FF2B5EF4-FFF2-40B4-BE49-F238E27FC236}">
                <a16:creationId xmlns:a16="http://schemas.microsoft.com/office/drawing/2014/main" id="{70184219-1465-43FF-82E6-0985D0F45B00}"/>
              </a:ext>
            </a:extLst>
          </p:cNvPr>
          <p:cNvSpPr>
            <a:spLocks xmlns:a="http://schemas.openxmlformats.org/drawingml/2006/main" noGrp="1"/>
          </p:cNvSpPr>
          <p:nvPr/>
        </p:nvSpPr>
        <p:spPr>
          <a:xfrm xmlns:a="http://schemas.openxmlformats.org/drawingml/2006/main">
            <a:off x="971550" y="20097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647C68"/>
                </a:solidFill>
                <a:latin typeface="Arial"/>
                <a:ea typeface="Arial"/>
                <a:cs typeface="Arial"/>
              </a:defRPr>
            </a:pPr>
            <a:r>
              <a:rPr sz="900" b="1">
                <a:solidFill>
                  <a:srgbClr val="647C68"/>
                </a:solidFill>
                <a:latin typeface="Arial"/>
                <a:ea typeface="Arial"/>
                <a:cs typeface="Arial"/>
              </a:rPr>
              <a:t>NEW FEATURES</a:t>
            </a:r>
          </a:p>
        </p:txBody>
      </p:sp>
      <p:sp>
        <p:nvSpPr>
          <p:cNvPr id="8" name="improve-label">
            <a:extLst xmlns:a="http://schemas.openxmlformats.org/drawingml/2006/main">
              <a:ext uri="{FF2B5EF4-FFF2-40B4-BE49-F238E27FC236}">
                <a16:creationId xmlns:a16="http://schemas.microsoft.com/office/drawing/2014/main" id="{8C869BFF-B87D-4235-93D8-3BE9663B8E68}"/>
              </a:ext>
            </a:extLst>
          </p:cNvPr>
          <p:cNvSpPr>
            <a:spLocks xmlns:a="http://schemas.openxmlformats.org/drawingml/2006/main" noGrp="1"/>
          </p:cNvSpPr>
          <p:nvPr/>
        </p:nvSpPr>
        <p:spPr>
          <a:xfrm xmlns:a="http://schemas.openxmlformats.org/drawingml/2006/main">
            <a:off x="6600825" y="200977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647C68"/>
                </a:solidFill>
                <a:latin typeface="Arial"/>
                <a:ea typeface="Arial"/>
                <a:cs typeface="Arial"/>
              </a:defRPr>
            </a:pPr>
            <a:r>
              <a:rPr sz="900" b="1">
                <a:solidFill>
                  <a:srgbClr val="647C68"/>
                </a:solidFill>
                <a:latin typeface="Arial"/>
                <a:ea typeface="Arial"/>
                <a:cs typeface="Arial"/>
              </a:rPr>
              <a:t>EXISTING FEATURE IMPROVEMENTS</a:t>
            </a:r>
          </a:p>
        </p:txBody>
      </p:sp>
      <p:sp>
        <p:nvSpPr>
          <p:cNvPr id="9" name="new-num-0">
            <a:extLst xmlns:a="http://schemas.openxmlformats.org/drawingml/2006/main">
              <a:ext uri="{FF2B5EF4-FFF2-40B4-BE49-F238E27FC236}">
                <a16:creationId xmlns:a16="http://schemas.microsoft.com/office/drawing/2014/main" id="{ADF25CA4-66A4-4F03-80EB-0F7222074B90}"/>
              </a:ext>
            </a:extLst>
          </p:cNvPr>
          <p:cNvSpPr>
            <a:spLocks xmlns:a="http://schemas.openxmlformats.org/drawingml/2006/main" noGrp="1"/>
          </p:cNvSpPr>
          <p:nvPr/>
        </p:nvSpPr>
        <p:spPr>
          <a:xfrm xmlns:a="http://schemas.openxmlformats.org/drawingml/2006/main">
            <a:off x="981075" y="24193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2A8A61"/>
                </a:solidFill>
                <a:latin typeface="Arial"/>
                <a:ea typeface="Arial"/>
                <a:cs typeface="Arial"/>
              </a:defRPr>
            </a:pPr>
            <a:r>
              <a:rPr sz="1200" b="1">
                <a:solidFill>
                  <a:srgbClr val="2A8A61"/>
                </a:solidFill>
                <a:latin typeface="Arial"/>
                <a:ea typeface="Arial"/>
                <a:cs typeface="Arial"/>
              </a:rPr>
              <a:t>01</a:t>
            </a:r>
          </a:p>
        </p:txBody>
      </p:sp>
      <p:sp>
        <p:nvSpPr>
          <p:cNvPr id="10" name="new-item-0">
            <a:extLst xmlns:a="http://schemas.openxmlformats.org/drawingml/2006/main">
              <a:ext uri="{FF2B5EF4-FFF2-40B4-BE49-F238E27FC236}">
                <a16:creationId xmlns:a16="http://schemas.microsoft.com/office/drawing/2014/main" id="{8D22AD2A-F0F0-4EBF-99E9-8E2D7E1D6A63}"/>
              </a:ext>
            </a:extLst>
          </p:cNvPr>
          <p:cNvSpPr>
            <a:spLocks xmlns:a="http://schemas.openxmlformats.org/drawingml/2006/main" noGrp="1"/>
          </p:cNvSpPr>
          <p:nvPr/>
        </p:nvSpPr>
        <p:spPr>
          <a:xfrm xmlns:a="http://schemas.openxmlformats.org/drawingml/2006/main">
            <a:off x="1457325" y="2400300"/>
            <a:ext cx="3981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Food-waste education animation</a:t>
            </a:r>
          </a:p>
        </p:txBody>
      </p:sp>
      <p:sp>
        <p:nvSpPr>
          <p:cNvPr id="11" name="new-rule-0">
            <a:extLst xmlns:a="http://schemas.openxmlformats.org/drawingml/2006/main">
              <a:ext uri="{FF2B5EF4-FFF2-40B4-BE49-F238E27FC236}">
                <a16:creationId xmlns:a16="http://schemas.microsoft.com/office/drawing/2014/main" id="{EF50C7AA-40F0-4209-B0C0-52DB44407A65}"/>
              </a:ext>
            </a:extLst>
          </p:cNvPr>
          <p:cNvSpPr>
            <a:spLocks xmlns:a="http://schemas.openxmlformats.org/drawingml/2006/main" noGrp="1"/>
          </p:cNvSpPr>
          <p:nvPr/>
        </p:nvSpPr>
        <p:spPr>
          <a:xfrm xmlns:a="http://schemas.openxmlformats.org/drawingml/2006/main">
            <a:off x="981075" y="2905125"/>
            <a:ext cx="4514850" cy="9525"/>
          </a:xfrm>
          <a:prstGeom xmlns:a="http://schemas.openxmlformats.org/drawingml/2006/main" prst="rect">
            <a:avLst/>
          </a:prstGeom>
          <a:solidFill xmlns:a="http://schemas.openxmlformats.org/drawingml/2006/main">
            <a:srgbClr val="C9D8D0"/>
          </a:solidFill>
          <a:ln xmlns:a="http://schemas.openxmlformats.org/drawingml/2006/main" w="0">
            <a:noFill/>
            <a:prstDash val="solid"/>
          </a:ln>
        </p:spPr>
      </p:sp>
      <p:sp>
        <p:nvSpPr>
          <p:cNvPr id="12" name="new-num-1">
            <a:extLst xmlns:a="http://schemas.openxmlformats.org/drawingml/2006/main">
              <a:ext uri="{FF2B5EF4-FFF2-40B4-BE49-F238E27FC236}">
                <a16:creationId xmlns:a16="http://schemas.microsoft.com/office/drawing/2014/main" id="{FC112B99-E6DD-41DE-8A93-2E93D9183575}"/>
              </a:ext>
            </a:extLst>
          </p:cNvPr>
          <p:cNvSpPr>
            <a:spLocks xmlns:a="http://schemas.openxmlformats.org/drawingml/2006/main" noGrp="1"/>
          </p:cNvSpPr>
          <p:nvPr/>
        </p:nvSpPr>
        <p:spPr>
          <a:xfrm xmlns:a="http://schemas.openxmlformats.org/drawingml/2006/main">
            <a:off x="981075" y="31432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2A8A61"/>
                </a:solidFill>
                <a:latin typeface="Arial"/>
                <a:ea typeface="Arial"/>
                <a:cs typeface="Arial"/>
              </a:defRPr>
            </a:pPr>
            <a:r>
              <a:rPr sz="1200" b="1">
                <a:solidFill>
                  <a:srgbClr val="2A8A61"/>
                </a:solidFill>
                <a:latin typeface="Arial"/>
                <a:ea typeface="Arial"/>
                <a:cs typeface="Arial"/>
              </a:rPr>
              <a:t>02</a:t>
            </a:r>
          </a:p>
        </p:txBody>
      </p:sp>
      <p:sp>
        <p:nvSpPr>
          <p:cNvPr id="13" name="new-item-1">
            <a:extLst xmlns:a="http://schemas.openxmlformats.org/drawingml/2006/main">
              <a:ext uri="{FF2B5EF4-FFF2-40B4-BE49-F238E27FC236}">
                <a16:creationId xmlns:a16="http://schemas.microsoft.com/office/drawing/2014/main" id="{54B8DDC4-69CA-478D-95F2-4096AC785405}"/>
              </a:ext>
            </a:extLst>
          </p:cNvPr>
          <p:cNvSpPr>
            <a:spLocks xmlns:a="http://schemas.openxmlformats.org/drawingml/2006/main" noGrp="1"/>
          </p:cNvSpPr>
          <p:nvPr/>
        </p:nvSpPr>
        <p:spPr>
          <a:xfrm xmlns:a="http://schemas.openxmlformats.org/drawingml/2006/main">
            <a:off x="1457325" y="3124200"/>
            <a:ext cx="3981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Interactive teaching game</a:t>
            </a:r>
          </a:p>
        </p:txBody>
      </p:sp>
      <p:sp>
        <p:nvSpPr>
          <p:cNvPr id="14" name="new-rule-1">
            <a:extLst xmlns:a="http://schemas.openxmlformats.org/drawingml/2006/main">
              <a:ext uri="{FF2B5EF4-FFF2-40B4-BE49-F238E27FC236}">
                <a16:creationId xmlns:a16="http://schemas.microsoft.com/office/drawing/2014/main" id="{7F06F3A8-BCCE-4BE1-B7A5-66E6FFC2D8D6}"/>
              </a:ext>
            </a:extLst>
          </p:cNvPr>
          <p:cNvSpPr>
            <a:spLocks xmlns:a="http://schemas.openxmlformats.org/drawingml/2006/main" noGrp="1"/>
          </p:cNvSpPr>
          <p:nvPr/>
        </p:nvSpPr>
        <p:spPr>
          <a:xfrm xmlns:a="http://schemas.openxmlformats.org/drawingml/2006/main">
            <a:off x="981075" y="3629025"/>
            <a:ext cx="4514850" cy="9525"/>
          </a:xfrm>
          <a:prstGeom xmlns:a="http://schemas.openxmlformats.org/drawingml/2006/main" prst="rect">
            <a:avLst/>
          </a:prstGeom>
          <a:solidFill xmlns:a="http://schemas.openxmlformats.org/drawingml/2006/main">
            <a:srgbClr val="C9D8D0"/>
          </a:solidFill>
          <a:ln xmlns:a="http://schemas.openxmlformats.org/drawingml/2006/main" w="0">
            <a:noFill/>
            <a:prstDash val="solid"/>
          </a:ln>
        </p:spPr>
      </p:sp>
      <p:sp>
        <p:nvSpPr>
          <p:cNvPr id="15" name="new-num-2">
            <a:extLst xmlns:a="http://schemas.openxmlformats.org/drawingml/2006/main">
              <a:ext uri="{FF2B5EF4-FFF2-40B4-BE49-F238E27FC236}">
                <a16:creationId xmlns:a16="http://schemas.microsoft.com/office/drawing/2014/main" id="{3687374F-8474-4A91-B2E3-33E2F8FF97D6}"/>
              </a:ext>
            </a:extLst>
          </p:cNvPr>
          <p:cNvSpPr>
            <a:spLocks xmlns:a="http://schemas.openxmlformats.org/drawingml/2006/main" noGrp="1"/>
          </p:cNvSpPr>
          <p:nvPr/>
        </p:nvSpPr>
        <p:spPr>
          <a:xfrm xmlns:a="http://schemas.openxmlformats.org/drawingml/2006/main">
            <a:off x="981075" y="38671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2A8A61"/>
                </a:solidFill>
                <a:latin typeface="Arial"/>
                <a:ea typeface="Arial"/>
                <a:cs typeface="Arial"/>
              </a:defRPr>
            </a:pPr>
            <a:r>
              <a:rPr sz="1200" b="1">
                <a:solidFill>
                  <a:srgbClr val="2A8A61"/>
                </a:solidFill>
                <a:latin typeface="Arial"/>
                <a:ea typeface="Arial"/>
                <a:cs typeface="Arial"/>
              </a:rPr>
              <a:t>03</a:t>
            </a:r>
          </a:p>
        </p:txBody>
      </p:sp>
      <p:sp>
        <p:nvSpPr>
          <p:cNvPr id="16" name="new-item-2">
            <a:extLst xmlns:a="http://schemas.openxmlformats.org/drawingml/2006/main">
              <a:ext uri="{FF2B5EF4-FFF2-40B4-BE49-F238E27FC236}">
                <a16:creationId xmlns:a16="http://schemas.microsoft.com/office/drawing/2014/main" id="{D089ACA8-D195-4DC9-9763-D249861A2F67}"/>
              </a:ext>
            </a:extLst>
          </p:cNvPr>
          <p:cNvSpPr>
            <a:spLocks xmlns:a="http://schemas.openxmlformats.org/drawingml/2006/main" noGrp="1"/>
          </p:cNvSpPr>
          <p:nvPr/>
        </p:nvSpPr>
        <p:spPr>
          <a:xfrm xmlns:a="http://schemas.openxmlformats.org/drawingml/2006/main">
            <a:off x="1457325" y="3848100"/>
            <a:ext cx="3981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Detailed food-use report</a:t>
            </a:r>
          </a:p>
        </p:txBody>
      </p:sp>
      <p:sp>
        <p:nvSpPr>
          <p:cNvPr id="17" name="new-rule-2">
            <a:extLst xmlns:a="http://schemas.openxmlformats.org/drawingml/2006/main">
              <a:ext uri="{FF2B5EF4-FFF2-40B4-BE49-F238E27FC236}">
                <a16:creationId xmlns:a16="http://schemas.microsoft.com/office/drawing/2014/main" id="{D53B552F-5980-4D99-BBCF-6D9F67B63565}"/>
              </a:ext>
            </a:extLst>
          </p:cNvPr>
          <p:cNvSpPr>
            <a:spLocks xmlns:a="http://schemas.openxmlformats.org/drawingml/2006/main" noGrp="1"/>
          </p:cNvSpPr>
          <p:nvPr/>
        </p:nvSpPr>
        <p:spPr>
          <a:xfrm xmlns:a="http://schemas.openxmlformats.org/drawingml/2006/main">
            <a:off x="981075" y="4352925"/>
            <a:ext cx="4514850" cy="9525"/>
          </a:xfrm>
          <a:prstGeom xmlns:a="http://schemas.openxmlformats.org/drawingml/2006/main" prst="rect">
            <a:avLst/>
          </a:prstGeom>
          <a:solidFill xmlns:a="http://schemas.openxmlformats.org/drawingml/2006/main">
            <a:srgbClr val="C9D8D0"/>
          </a:solidFill>
          <a:ln xmlns:a="http://schemas.openxmlformats.org/drawingml/2006/main" w="0">
            <a:noFill/>
            <a:prstDash val="solid"/>
          </a:ln>
        </p:spPr>
      </p:sp>
      <p:sp>
        <p:nvSpPr>
          <p:cNvPr id="18" name="new-num-3">
            <a:extLst xmlns:a="http://schemas.openxmlformats.org/drawingml/2006/main">
              <a:ext uri="{FF2B5EF4-FFF2-40B4-BE49-F238E27FC236}">
                <a16:creationId xmlns:a16="http://schemas.microsoft.com/office/drawing/2014/main" id="{F7F30328-387C-48AE-88F1-B97CCAE08210}"/>
              </a:ext>
            </a:extLst>
          </p:cNvPr>
          <p:cNvSpPr>
            <a:spLocks xmlns:a="http://schemas.openxmlformats.org/drawingml/2006/main" noGrp="1"/>
          </p:cNvSpPr>
          <p:nvPr/>
        </p:nvSpPr>
        <p:spPr>
          <a:xfrm xmlns:a="http://schemas.openxmlformats.org/drawingml/2006/main">
            <a:off x="981075" y="4591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2A8A61"/>
                </a:solidFill>
                <a:latin typeface="Arial"/>
                <a:ea typeface="Arial"/>
                <a:cs typeface="Arial"/>
              </a:defRPr>
            </a:pPr>
            <a:r>
              <a:rPr sz="1200" b="1">
                <a:solidFill>
                  <a:srgbClr val="2A8A61"/>
                </a:solidFill>
                <a:latin typeface="Arial"/>
                <a:ea typeface="Arial"/>
                <a:cs typeface="Arial"/>
              </a:rPr>
              <a:t>04</a:t>
            </a:r>
          </a:p>
        </p:txBody>
      </p:sp>
      <p:sp>
        <p:nvSpPr>
          <p:cNvPr id="19" name="new-item-3">
            <a:extLst xmlns:a="http://schemas.openxmlformats.org/drawingml/2006/main">
              <a:ext uri="{FF2B5EF4-FFF2-40B4-BE49-F238E27FC236}">
                <a16:creationId xmlns:a16="http://schemas.microsoft.com/office/drawing/2014/main" id="{8BE9DF5F-DB2B-475D-8C1C-35A17D263D67}"/>
              </a:ext>
            </a:extLst>
          </p:cNvPr>
          <p:cNvSpPr>
            <a:spLocks xmlns:a="http://schemas.openxmlformats.org/drawingml/2006/main" noGrp="1"/>
          </p:cNvSpPr>
          <p:nvPr/>
        </p:nvSpPr>
        <p:spPr>
          <a:xfrm xmlns:a="http://schemas.openxmlformats.org/drawingml/2006/main">
            <a:off x="1457325" y="4572000"/>
            <a:ext cx="3981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Shared fridge</a:t>
            </a:r>
          </a:p>
        </p:txBody>
      </p:sp>
      <p:sp>
        <p:nvSpPr>
          <p:cNvPr id="20" name="improve-num-0">
            <a:extLst xmlns:a="http://schemas.openxmlformats.org/drawingml/2006/main">
              <a:ext uri="{FF2B5EF4-FFF2-40B4-BE49-F238E27FC236}">
                <a16:creationId xmlns:a16="http://schemas.microsoft.com/office/drawing/2014/main" id="{9BDEA964-2959-4BCC-B358-E91139A3D418}"/>
              </a:ext>
            </a:extLst>
          </p:cNvPr>
          <p:cNvSpPr>
            <a:spLocks xmlns:a="http://schemas.openxmlformats.org/drawingml/2006/main" noGrp="1"/>
          </p:cNvSpPr>
          <p:nvPr/>
        </p:nvSpPr>
        <p:spPr>
          <a:xfrm xmlns:a="http://schemas.openxmlformats.org/drawingml/2006/main">
            <a:off x="6610350" y="24193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D47B21"/>
                </a:solidFill>
                <a:latin typeface="Arial"/>
                <a:ea typeface="Arial"/>
                <a:cs typeface="Arial"/>
              </a:defRPr>
            </a:pPr>
            <a:r>
              <a:rPr sz="1200" b="1">
                <a:solidFill>
                  <a:srgbClr val="D47B21"/>
                </a:solidFill>
                <a:latin typeface="Arial"/>
                <a:ea typeface="Arial"/>
                <a:cs typeface="Arial"/>
              </a:rPr>
              <a:t>01</a:t>
            </a:r>
          </a:p>
        </p:txBody>
      </p:sp>
      <p:sp>
        <p:nvSpPr>
          <p:cNvPr id="21" name="improve-item-0">
            <a:extLst xmlns:a="http://schemas.openxmlformats.org/drawingml/2006/main">
              <a:ext uri="{FF2B5EF4-FFF2-40B4-BE49-F238E27FC236}">
                <a16:creationId xmlns:a16="http://schemas.microsoft.com/office/drawing/2014/main" id="{60D79C6C-933A-4E21-A729-DB26244A2F5C}"/>
              </a:ext>
            </a:extLst>
          </p:cNvPr>
          <p:cNvSpPr>
            <a:spLocks xmlns:a="http://schemas.openxmlformats.org/drawingml/2006/main" noGrp="1"/>
          </p:cNvSpPr>
          <p:nvPr/>
        </p:nvSpPr>
        <p:spPr>
          <a:xfrm xmlns:a="http://schemas.openxmlformats.org/drawingml/2006/main">
            <a:off x="7086600" y="2400300"/>
            <a:ext cx="4057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Shorter achievement page</a:t>
            </a:r>
          </a:p>
        </p:txBody>
      </p:sp>
      <p:sp>
        <p:nvSpPr>
          <p:cNvPr id="22" name="improve-rule-0">
            <a:extLst xmlns:a="http://schemas.openxmlformats.org/drawingml/2006/main">
              <a:ext uri="{FF2B5EF4-FFF2-40B4-BE49-F238E27FC236}">
                <a16:creationId xmlns:a16="http://schemas.microsoft.com/office/drawing/2014/main" id="{47D504F0-A019-4A25-914E-835E7C0F1322}"/>
              </a:ext>
            </a:extLst>
          </p:cNvPr>
          <p:cNvSpPr>
            <a:spLocks xmlns:a="http://schemas.openxmlformats.org/drawingml/2006/main" noGrp="1"/>
          </p:cNvSpPr>
          <p:nvPr/>
        </p:nvSpPr>
        <p:spPr>
          <a:xfrm xmlns:a="http://schemas.openxmlformats.org/drawingml/2006/main">
            <a:off x="6610350" y="2905125"/>
            <a:ext cx="4514850" cy="9525"/>
          </a:xfrm>
          <a:prstGeom xmlns:a="http://schemas.openxmlformats.org/drawingml/2006/main" prst="rect">
            <a:avLst/>
          </a:prstGeom>
          <a:solidFill xmlns:a="http://schemas.openxmlformats.org/drawingml/2006/main">
            <a:srgbClr val="DDD5C8"/>
          </a:solidFill>
          <a:ln xmlns:a="http://schemas.openxmlformats.org/drawingml/2006/main" w="0">
            <a:noFill/>
            <a:prstDash val="solid"/>
          </a:ln>
        </p:spPr>
      </p:sp>
      <p:sp>
        <p:nvSpPr>
          <p:cNvPr id="23" name="improve-num-1">
            <a:extLst xmlns:a="http://schemas.openxmlformats.org/drawingml/2006/main">
              <a:ext uri="{FF2B5EF4-FFF2-40B4-BE49-F238E27FC236}">
                <a16:creationId xmlns:a16="http://schemas.microsoft.com/office/drawing/2014/main" id="{FCB99D43-F2BB-47F1-B85D-C0944736194E}"/>
              </a:ext>
            </a:extLst>
          </p:cNvPr>
          <p:cNvSpPr>
            <a:spLocks xmlns:a="http://schemas.openxmlformats.org/drawingml/2006/main" noGrp="1"/>
          </p:cNvSpPr>
          <p:nvPr/>
        </p:nvSpPr>
        <p:spPr>
          <a:xfrm xmlns:a="http://schemas.openxmlformats.org/drawingml/2006/main">
            <a:off x="6610350" y="31432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D47B21"/>
                </a:solidFill>
                <a:latin typeface="Arial"/>
                <a:ea typeface="Arial"/>
                <a:cs typeface="Arial"/>
              </a:defRPr>
            </a:pPr>
            <a:r>
              <a:rPr sz="1200" b="1">
                <a:solidFill>
                  <a:srgbClr val="D47B21"/>
                </a:solidFill>
                <a:latin typeface="Arial"/>
                <a:ea typeface="Arial"/>
                <a:cs typeface="Arial"/>
              </a:rPr>
              <a:t>02</a:t>
            </a:r>
          </a:p>
        </p:txBody>
      </p:sp>
      <p:sp>
        <p:nvSpPr>
          <p:cNvPr id="24" name="improve-item-1">
            <a:extLst xmlns:a="http://schemas.openxmlformats.org/drawingml/2006/main">
              <a:ext uri="{FF2B5EF4-FFF2-40B4-BE49-F238E27FC236}">
                <a16:creationId xmlns:a16="http://schemas.microsoft.com/office/drawing/2014/main" id="{251E3C2D-29F0-4EC2-A682-7097B55773B8}"/>
              </a:ext>
            </a:extLst>
          </p:cNvPr>
          <p:cNvSpPr>
            <a:spLocks xmlns:a="http://schemas.openxmlformats.org/drawingml/2006/main" noGrp="1"/>
          </p:cNvSpPr>
          <p:nvPr/>
        </p:nvSpPr>
        <p:spPr>
          <a:xfrm xmlns:a="http://schemas.openxmlformats.org/drawingml/2006/main">
            <a:off x="7086600" y="3124200"/>
            <a:ext cx="4057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Clearer AI replies and quick actions</a:t>
            </a:r>
          </a:p>
        </p:txBody>
      </p:sp>
      <p:sp>
        <p:nvSpPr>
          <p:cNvPr id="25" name="improve-rule-1">
            <a:extLst xmlns:a="http://schemas.openxmlformats.org/drawingml/2006/main">
              <a:ext uri="{FF2B5EF4-FFF2-40B4-BE49-F238E27FC236}">
                <a16:creationId xmlns:a16="http://schemas.microsoft.com/office/drawing/2014/main" id="{5F114D54-B22E-4CF9-BE6B-7349C8354B51}"/>
              </a:ext>
            </a:extLst>
          </p:cNvPr>
          <p:cNvSpPr>
            <a:spLocks xmlns:a="http://schemas.openxmlformats.org/drawingml/2006/main" noGrp="1"/>
          </p:cNvSpPr>
          <p:nvPr/>
        </p:nvSpPr>
        <p:spPr>
          <a:xfrm xmlns:a="http://schemas.openxmlformats.org/drawingml/2006/main">
            <a:off x="6610350" y="3629025"/>
            <a:ext cx="4514850" cy="9525"/>
          </a:xfrm>
          <a:prstGeom xmlns:a="http://schemas.openxmlformats.org/drawingml/2006/main" prst="rect">
            <a:avLst/>
          </a:prstGeom>
          <a:solidFill xmlns:a="http://schemas.openxmlformats.org/drawingml/2006/main">
            <a:srgbClr val="DDD5C8"/>
          </a:solidFill>
          <a:ln xmlns:a="http://schemas.openxmlformats.org/drawingml/2006/main" w="0">
            <a:noFill/>
            <a:prstDash val="solid"/>
          </a:ln>
        </p:spPr>
      </p:sp>
      <p:sp>
        <p:nvSpPr>
          <p:cNvPr id="26" name="improve-num-2">
            <a:extLst xmlns:a="http://schemas.openxmlformats.org/drawingml/2006/main">
              <a:ext uri="{FF2B5EF4-FFF2-40B4-BE49-F238E27FC236}">
                <a16:creationId xmlns:a16="http://schemas.microsoft.com/office/drawing/2014/main" id="{F049AFE4-B6C5-430A-B36F-8EF2580834E3}"/>
              </a:ext>
            </a:extLst>
          </p:cNvPr>
          <p:cNvSpPr>
            <a:spLocks xmlns:a="http://schemas.openxmlformats.org/drawingml/2006/main" noGrp="1"/>
          </p:cNvSpPr>
          <p:nvPr/>
        </p:nvSpPr>
        <p:spPr>
          <a:xfrm xmlns:a="http://schemas.openxmlformats.org/drawingml/2006/main">
            <a:off x="6610350" y="38671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D47B21"/>
                </a:solidFill>
                <a:latin typeface="Arial"/>
                <a:ea typeface="Arial"/>
                <a:cs typeface="Arial"/>
              </a:defRPr>
            </a:pPr>
            <a:r>
              <a:rPr sz="1200" b="1">
                <a:solidFill>
                  <a:srgbClr val="D47B21"/>
                </a:solidFill>
                <a:latin typeface="Arial"/>
                <a:ea typeface="Arial"/>
                <a:cs typeface="Arial"/>
              </a:rPr>
              <a:t>03</a:t>
            </a:r>
          </a:p>
        </p:txBody>
      </p:sp>
      <p:sp>
        <p:nvSpPr>
          <p:cNvPr id="27" name="improve-item-2">
            <a:extLst xmlns:a="http://schemas.openxmlformats.org/drawingml/2006/main">
              <a:ext uri="{FF2B5EF4-FFF2-40B4-BE49-F238E27FC236}">
                <a16:creationId xmlns:a16="http://schemas.microsoft.com/office/drawing/2014/main" id="{92DCF8D6-137F-4D45-A640-B87FE6039F9F}"/>
              </a:ext>
            </a:extLst>
          </p:cNvPr>
          <p:cNvSpPr>
            <a:spLocks xmlns:a="http://schemas.openxmlformats.org/drawingml/2006/main" noGrp="1"/>
          </p:cNvSpPr>
          <p:nvPr/>
        </p:nvSpPr>
        <p:spPr>
          <a:xfrm xmlns:a="http://schemas.openxmlformats.org/drawingml/2006/main">
            <a:off x="7086600" y="3848100"/>
            <a:ext cx="4057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Improved shopping-cart UI</a:t>
            </a:r>
          </a:p>
        </p:txBody>
      </p:sp>
      <p:sp>
        <p:nvSpPr>
          <p:cNvPr id="28" name="improve-rule-2">
            <a:extLst xmlns:a="http://schemas.openxmlformats.org/drawingml/2006/main">
              <a:ext uri="{FF2B5EF4-FFF2-40B4-BE49-F238E27FC236}">
                <a16:creationId xmlns:a16="http://schemas.microsoft.com/office/drawing/2014/main" id="{F7366721-E231-4A07-8531-9E676E4C4624}"/>
              </a:ext>
            </a:extLst>
          </p:cNvPr>
          <p:cNvSpPr>
            <a:spLocks xmlns:a="http://schemas.openxmlformats.org/drawingml/2006/main" noGrp="1"/>
          </p:cNvSpPr>
          <p:nvPr/>
        </p:nvSpPr>
        <p:spPr>
          <a:xfrm xmlns:a="http://schemas.openxmlformats.org/drawingml/2006/main">
            <a:off x="6610350" y="4352925"/>
            <a:ext cx="4514850" cy="9525"/>
          </a:xfrm>
          <a:prstGeom xmlns:a="http://schemas.openxmlformats.org/drawingml/2006/main" prst="rect">
            <a:avLst/>
          </a:prstGeom>
          <a:solidFill xmlns:a="http://schemas.openxmlformats.org/drawingml/2006/main">
            <a:srgbClr val="DDD5C8"/>
          </a:solidFill>
          <a:ln xmlns:a="http://schemas.openxmlformats.org/drawingml/2006/main" w="0">
            <a:noFill/>
            <a:prstDash val="solid"/>
          </a:ln>
        </p:spPr>
      </p:sp>
      <p:sp>
        <p:nvSpPr>
          <p:cNvPr id="29" name="improve-num-3">
            <a:extLst xmlns:a="http://schemas.openxmlformats.org/drawingml/2006/main">
              <a:ext uri="{FF2B5EF4-FFF2-40B4-BE49-F238E27FC236}">
                <a16:creationId xmlns:a16="http://schemas.microsoft.com/office/drawing/2014/main" id="{92171EA7-AF91-474E-B501-8D936CBDF5D9}"/>
              </a:ext>
            </a:extLst>
          </p:cNvPr>
          <p:cNvSpPr>
            <a:spLocks xmlns:a="http://schemas.openxmlformats.org/drawingml/2006/main" noGrp="1"/>
          </p:cNvSpPr>
          <p:nvPr/>
        </p:nvSpPr>
        <p:spPr>
          <a:xfrm xmlns:a="http://schemas.openxmlformats.org/drawingml/2006/main">
            <a:off x="6610350" y="4591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D47B21"/>
                </a:solidFill>
                <a:latin typeface="Arial"/>
                <a:ea typeface="Arial"/>
                <a:cs typeface="Arial"/>
              </a:defRPr>
            </a:pPr>
            <a:r>
              <a:rPr sz="1200" b="1">
                <a:solidFill>
                  <a:srgbClr val="D47B21"/>
                </a:solidFill>
                <a:latin typeface="Arial"/>
                <a:ea typeface="Arial"/>
                <a:cs typeface="Arial"/>
              </a:rPr>
              <a:t>04</a:t>
            </a:r>
          </a:p>
        </p:txBody>
      </p:sp>
      <p:sp>
        <p:nvSpPr>
          <p:cNvPr id="30" name="improve-item-3">
            <a:extLst xmlns:a="http://schemas.openxmlformats.org/drawingml/2006/main">
              <a:ext uri="{FF2B5EF4-FFF2-40B4-BE49-F238E27FC236}">
                <a16:creationId xmlns:a16="http://schemas.microsoft.com/office/drawing/2014/main" id="{134F5CFE-7411-4A8E-8D8A-6ABEE47BD8C2}"/>
              </a:ext>
            </a:extLst>
          </p:cNvPr>
          <p:cNvSpPr>
            <a:spLocks xmlns:a="http://schemas.openxmlformats.org/drawingml/2006/main" noGrp="1"/>
          </p:cNvSpPr>
          <p:nvPr/>
        </p:nvSpPr>
        <p:spPr>
          <a:xfrm xmlns:a="http://schemas.openxmlformats.org/drawingml/2006/main">
            <a:off x="7086600" y="4572000"/>
            <a:ext cx="4057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Updated metallic badge system</a:t>
            </a:r>
          </a:p>
        </p:txBody>
      </p:sp>
      <p:sp>
        <p:nvSpPr>
          <p:cNvPr id="31" name="footer-rule">
            <a:extLst xmlns:a="http://schemas.openxmlformats.org/drawingml/2006/main">
              <a:ext uri="{FF2B5EF4-FFF2-40B4-BE49-F238E27FC236}">
                <a16:creationId xmlns:a16="http://schemas.microsoft.com/office/drawing/2014/main" id="{0228B9AB-64F4-4AAF-9785-EADB2311101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32" name="footer-label">
            <a:extLst xmlns:a="http://schemas.openxmlformats.org/drawingml/2006/main">
              <a:ext uri="{FF2B5EF4-FFF2-40B4-BE49-F238E27FC236}">
                <a16:creationId xmlns:a16="http://schemas.microsoft.com/office/drawing/2014/main" id="{1466357B-F2DC-44B6-BF71-BB633577ADF2}"/>
              </a:ext>
            </a:extLst>
          </p:cNvPr>
          <p:cNvSpPr>
            <a:spLocks xmlns:a="http://schemas.openxmlformats.org/drawingml/2006/main" noGrp="1"/>
          </p:cNvSpPr>
          <p:nvPr/>
        </p:nvSpPr>
        <p:spPr>
          <a:xfrm xmlns:a="http://schemas.openxmlformats.org/drawingml/2006/main">
            <a:off x="685800" y="6543675"/>
            <a:ext cx="581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KitchMemo  |  Iteration 3 Product Discovery</a:t>
            </a:r>
          </a:p>
        </p:txBody>
      </p:sp>
      <p:sp>
        <p:nvSpPr>
          <p:cNvPr id="33" name="footer-number">
            <a:extLst xmlns:a="http://schemas.openxmlformats.org/drawingml/2006/main">
              <a:ext uri="{FF2B5EF4-FFF2-40B4-BE49-F238E27FC236}">
                <a16:creationId xmlns:a16="http://schemas.microsoft.com/office/drawing/2014/main" id="{D1E2124F-D661-486A-BFAE-9A7A54B15E6F}"/>
              </a:ext>
            </a:extLst>
          </p:cNvPr>
          <p:cNvSpPr>
            <a:spLocks xmlns:a="http://schemas.openxmlformats.org/drawingml/2006/main" noGrp="1"/>
          </p:cNvSpPr>
          <p:nvPr/>
        </p:nvSpPr>
        <p:spPr>
          <a:xfrm xmlns:a="http://schemas.openxmlformats.org/drawingml/2006/main">
            <a:off x="1114425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05</a:t>
            </a:r>
          </a:p>
        </p:txBody>
      </p:sp>
    </p:spTree>
    <p:extLst>
      <p:ext uri="{BB962C8B-B14F-4D97-AF65-F5344CB8AC3E}">
        <p14:creationId xmlns:p14="http://schemas.microsoft.com/office/powerpoint/2010/main" val="1290626608"/>
      </p:ext>
    </p:extLst>
  </p:cSld>
</p:sld>
</file>

<file path=ppt/slides/slide6.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A588017B-68D6-4910-89CD-2E36CE608C7B}"/>
              </a:ext>
            </a:extLst>
          </p:cNvPr>
          <p:cNvSpPr>
            <a:spLocks xmlns:a="http://schemas.openxmlformats.org/drawingml/2006/main" noGrp="1"/>
          </p:cNvSpPr>
          <p:nvPr/>
        </p:nvSpPr>
        <p:spPr>
          <a:xfrm xmlns:a="http://schemas.openxmlformats.org/drawingml/2006/main">
            <a:off x="685800" y="276225"/>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647C68"/>
                </a:solidFill>
                <a:latin typeface="Arial"/>
                <a:ea typeface="Arial"/>
                <a:cs typeface="Arial"/>
              </a:defRPr>
            </a:pPr>
            <a:r>
              <a:rPr sz="975" b="1">
                <a:solidFill>
                  <a:srgbClr val="647C68"/>
                </a:solidFill>
                <a:latin typeface="Arial"/>
                <a:ea typeface="Arial"/>
                <a:cs typeface="Arial"/>
              </a:rPr>
              <a:t>NEW FEATURE | EDUCATION</a:t>
            </a:r>
          </a:p>
        </p:txBody>
      </p:sp>
      <p:sp>
        <p:nvSpPr>
          <p:cNvPr id="2" name="page">
            <a:extLst xmlns:a="http://schemas.openxmlformats.org/drawingml/2006/main">
              <a:ext uri="{FF2B5EF4-FFF2-40B4-BE49-F238E27FC236}">
                <a16:creationId xmlns:a16="http://schemas.microsoft.com/office/drawing/2014/main" id="{79DEFB8A-9F01-4ADB-8FF3-CAE676F637F4}"/>
              </a:ext>
            </a:extLst>
          </p:cNvPr>
          <p:cNvSpPr>
            <a:spLocks xmlns:a="http://schemas.openxmlformats.org/drawingml/2006/main" noGrp="1"/>
          </p:cNvSpPr>
          <p:nvPr/>
        </p:nvSpPr>
        <p:spPr>
          <a:xfrm xmlns:a="http://schemas.openxmlformats.org/drawingml/2006/main">
            <a:off x="11144250" y="2762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975" b="0">
                <a:solidFill>
                  <a:srgbClr val="61766D"/>
                </a:solidFill>
                <a:latin typeface="Arial"/>
                <a:ea typeface="Arial"/>
                <a:cs typeface="Arial"/>
              </a:defRPr>
            </a:pPr>
            <a:r>
              <a:rPr sz="975" b="0">
                <a:solidFill>
                  <a:srgbClr val="61766D"/>
                </a:solidFill>
                <a:latin typeface="Arial"/>
                <a:ea typeface="Arial"/>
                <a:cs typeface="Arial"/>
              </a:rPr>
              <a:t>06</a:t>
            </a:r>
          </a:p>
        </p:txBody>
      </p:sp>
      <p:sp>
        <p:nvSpPr>
          <p:cNvPr id="3" name="title">
            <a:extLst xmlns:a="http://schemas.openxmlformats.org/drawingml/2006/main">
              <a:ext uri="{FF2B5EF4-FFF2-40B4-BE49-F238E27FC236}">
                <a16:creationId xmlns:a16="http://schemas.microsoft.com/office/drawing/2014/main" id="{D6E109A6-2858-44A9-8279-40C888EF96BB}"/>
              </a:ext>
            </a:extLst>
          </p:cNvPr>
          <p:cNvSpPr>
            <a:spLocks xmlns:a="http://schemas.openxmlformats.org/drawingml/2006/main" noGrp="1"/>
          </p:cNvSpPr>
          <p:nvPr/>
        </p:nvSpPr>
        <p:spPr>
          <a:xfrm xmlns:a="http://schemas.openxmlformats.org/drawingml/2006/main">
            <a:off x="685800" y="600075"/>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925" b="1">
                <a:solidFill>
                  <a:srgbClr val="173D31"/>
                </a:solidFill>
                <a:latin typeface="Arial"/>
                <a:ea typeface="Arial"/>
                <a:cs typeface="Arial"/>
              </a:defRPr>
            </a:pPr>
            <a:r>
              <a:rPr sz="2925" b="1">
                <a:solidFill>
                  <a:srgbClr val="173D31"/>
                </a:solidFill>
                <a:latin typeface="Arial"/>
                <a:ea typeface="Arial"/>
                <a:cs typeface="Arial"/>
              </a:rPr>
              <a:t>The animation explains why KitchMemo exists</a:t>
            </a:r>
          </a:p>
        </p:txBody>
      </p:sp>
      <p:sp>
        <p:nvSpPr>
          <p:cNvPr id="4" name="subtitle">
            <a:extLst xmlns:a="http://schemas.openxmlformats.org/drawingml/2006/main">
              <a:ext uri="{FF2B5EF4-FFF2-40B4-BE49-F238E27FC236}">
                <a16:creationId xmlns:a16="http://schemas.microsoft.com/office/drawing/2014/main" id="{C60CF875-5B3D-406A-B494-22E1902D6EC0}"/>
              </a:ext>
            </a:extLst>
          </p:cNvPr>
          <p:cNvSpPr>
            <a:spLocks xmlns:a="http://schemas.openxmlformats.org/drawingml/2006/main" noGrp="1"/>
          </p:cNvSpPr>
          <p:nvPr/>
        </p:nvSpPr>
        <p:spPr>
          <a:xfrm xmlns:a="http://schemas.openxmlformats.org/drawingml/2006/main">
            <a:off x="685800" y="11811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A short story connects a familiar shopping moment to food that gets forgotten at home.</a:t>
            </a:r>
          </a:p>
        </p:txBody>
      </p:sp>
      <p:sp>
        <p:nvSpPr>
          <p:cNvPr id="5" name="animation-sequence">
            <a:extLst xmlns:a="http://schemas.openxmlformats.org/drawingml/2006/main">
              <a:ext uri="{FF2B5EF4-FFF2-40B4-BE49-F238E27FC236}">
                <a16:creationId xmlns:a16="http://schemas.microsoft.com/office/drawing/2014/main" id="{CBA1B347-2912-4956-A60F-BB1C143642BB}"/>
              </a:ext>
            </a:extLst>
          </p:cNvPr>
          <p:cNvSpPr>
            <a:spLocks xmlns:a="http://schemas.openxmlformats.org/drawingml/2006/main" noGrp="1"/>
          </p:cNvSpPr>
          <p:nvPr/>
        </p:nvSpPr>
        <p:spPr>
          <a:xfrm xmlns:a="http://schemas.openxmlformats.org/drawingml/2006/main">
            <a:off x="781050" y="1866900"/>
            <a:ext cx="47625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1">
                <a:solidFill>
                  <a:srgbClr val="173D31"/>
                </a:solidFill>
                <a:latin typeface="Arial"/>
                <a:ea typeface="Arial"/>
                <a:cs typeface="Arial"/>
              </a:defRPr>
            </a:pPr>
            <a:r>
              <a:rPr sz="1800" b="1">
                <a:solidFill>
                  <a:srgbClr val="173D31"/>
                </a:solidFill>
                <a:latin typeface="Arial"/>
                <a:ea typeface="Arial"/>
                <a:cs typeface="Arial"/>
              </a:rPr>
              <a:t>Shop after work</a:t>
            </a:r>
          </a:p>
          <a:p xmlns:a="http://schemas.openxmlformats.org/drawingml/2006/main">
            <a:r>
              <a:t/>
            </a:r>
          </a:p>
          <a:p xmlns:a="http://schemas.openxmlformats.org/drawingml/2006/main">
            <a:pPr algn="l">
              <a:lnSpc>
                <a:spcPct val="110000"/>
              </a:lnSpc>
              <a:buNone/>
              <a:defRPr sz="1800" b="1">
                <a:solidFill>
                  <a:srgbClr val="173D31"/>
                </a:solidFill>
                <a:latin typeface="Arial"/>
                <a:ea typeface="Arial"/>
                <a:cs typeface="Arial"/>
              </a:defRPr>
            </a:pPr>
            <a:r>
              <a:rPr sz="1800" b="1">
                <a:solidFill>
                  <a:srgbClr val="173D31"/>
                </a:solidFill>
                <a:latin typeface="Arial"/>
                <a:ea typeface="Arial"/>
                <a:cs typeface="Arial"/>
              </a:rPr>
              <a:t>Food stays at the back of the fridge</a:t>
            </a:r>
          </a:p>
          <a:p xmlns:a="http://schemas.openxmlformats.org/drawingml/2006/main">
            <a:r>
              <a:t/>
            </a:r>
          </a:p>
          <a:p xmlns:a="http://schemas.openxmlformats.org/drawingml/2006/main">
            <a:pPr algn="l">
              <a:lnSpc>
                <a:spcPct val="110000"/>
              </a:lnSpc>
              <a:buNone/>
              <a:defRPr sz="1800" b="1">
                <a:solidFill>
                  <a:srgbClr val="173D31"/>
                </a:solidFill>
                <a:latin typeface="Arial"/>
                <a:ea typeface="Arial"/>
                <a:cs typeface="Arial"/>
              </a:defRPr>
            </a:pPr>
            <a:r>
              <a:rPr sz="1800" b="1">
                <a:solidFill>
                  <a:srgbClr val="173D31"/>
                </a:solidFill>
                <a:latin typeface="Arial"/>
                <a:ea typeface="Arial"/>
                <a:cs typeface="Arial"/>
              </a:rPr>
              <a:t>See the problem in context</a:t>
            </a:r>
          </a:p>
          <a:p xmlns:a="http://schemas.openxmlformats.org/drawingml/2006/main">
            <a:r>
              <a:t/>
            </a:r>
          </a:p>
          <a:p xmlns:a="http://schemas.openxmlformats.org/drawingml/2006/main">
            <a:pPr algn="l">
              <a:lnSpc>
                <a:spcPct val="110000"/>
              </a:lnSpc>
              <a:buNone/>
              <a:defRPr sz="1800" b="1">
                <a:solidFill>
                  <a:srgbClr val="173D31"/>
                </a:solidFill>
                <a:latin typeface="Arial"/>
                <a:ea typeface="Arial"/>
                <a:cs typeface="Arial"/>
              </a:defRPr>
            </a:pPr>
            <a:r>
              <a:rPr sz="1800" b="1">
                <a:solidFill>
                  <a:srgbClr val="173D31"/>
                </a:solidFill>
                <a:latin typeface="Arial"/>
                <a:ea typeface="Arial"/>
                <a:cs typeface="Arial"/>
              </a:rPr>
              <a:t>Check the fridge before the next shop</a:t>
            </a:r>
          </a:p>
        </p:txBody>
      </p:sp>
      <p:sp>
        <p:nvSpPr>
          <p:cNvPr id="6" name="animation-goal">
            <a:extLst xmlns:a="http://schemas.openxmlformats.org/drawingml/2006/main">
              <a:ext uri="{FF2B5EF4-FFF2-40B4-BE49-F238E27FC236}">
                <a16:creationId xmlns:a16="http://schemas.microsoft.com/office/drawing/2014/main" id="{5E168446-DB60-4148-9403-7243A69DDB14}"/>
              </a:ext>
            </a:extLst>
          </p:cNvPr>
          <p:cNvSpPr>
            <a:spLocks xmlns:a="http://schemas.openxmlformats.org/drawingml/2006/main" noGrp="1"/>
          </p:cNvSpPr>
          <p:nvPr/>
        </p:nvSpPr>
        <p:spPr>
          <a:xfrm xmlns:a="http://schemas.openxmlformats.org/drawingml/2006/main">
            <a:off x="781050" y="5410200"/>
            <a:ext cx="4762500" cy="552450"/>
          </a:xfrm>
          <a:prstGeom xmlns:a="http://schemas.openxmlformats.org/drawingml/2006/main" prst="roundRect">
            <a:avLst>
              <a:gd name="adj" fmla="val 20690"/>
            </a:avLst>
          </a:prstGeom>
          <a:solidFill xmlns:a="http://schemas.openxmlformats.org/drawingml/2006/main">
            <a:srgbClr val="DDECE6"/>
          </a:solidFill>
          <a:ln xmlns:a="http://schemas.openxmlformats.org/drawingml/2006/main" w="0">
            <a:noFill/>
            <a:prstDash val="solid"/>
          </a:ln>
        </p:spPr>
      </p:sp>
      <p:sp>
        <p:nvSpPr>
          <p:cNvPr id="7" name="animation-goal-text">
            <a:extLst xmlns:a="http://schemas.openxmlformats.org/drawingml/2006/main">
              <a:ext uri="{FF2B5EF4-FFF2-40B4-BE49-F238E27FC236}">
                <a16:creationId xmlns:a16="http://schemas.microsoft.com/office/drawing/2014/main" id="{C26E6746-2696-480F-9E89-2A056CEA7DFF}"/>
              </a:ext>
            </a:extLst>
          </p:cNvPr>
          <p:cNvSpPr>
            <a:spLocks xmlns:a="http://schemas.openxmlformats.org/drawingml/2006/main" noGrp="1"/>
          </p:cNvSpPr>
          <p:nvPr/>
        </p:nvSpPr>
        <p:spPr>
          <a:xfrm xmlns:a="http://schemas.openxmlformats.org/drawingml/2006/main">
            <a:off x="990600" y="5524500"/>
            <a:ext cx="440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350" b="1">
                <a:solidFill>
                  <a:srgbClr val="647C68"/>
                </a:solidFill>
                <a:latin typeface="Arial"/>
                <a:ea typeface="Arial"/>
                <a:cs typeface="Arial"/>
              </a:defRPr>
            </a:pPr>
            <a:r>
              <a:rPr sz="1350" b="1">
                <a:solidFill>
                  <a:srgbClr val="647C68"/>
                </a:solidFill>
                <a:latin typeface="Arial"/>
                <a:ea typeface="Arial"/>
                <a:cs typeface="Arial"/>
              </a:rPr>
              <a:t>Goal: make the product’s food-waste purpose clear.</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6fe0e9e204f4faa"/>
          <a:srcRect xmlns:a="http://schemas.openxmlformats.org/drawingml/2006/main" l="0" t="19766" r="0" b="19766"/>
          <a:stretch xmlns:a="http://schemas.openxmlformats.org/drawingml/2006/main">
            <a:fillRect l="0" t="0" r="0" b="0"/>
          </a:stretch>
        </p:blipFill>
        <p:spPr>
          <a:xfrm xmlns:a="http://schemas.openxmlformats.org/drawingml/2006/main">
            <a:off x="6858000" y="1695450"/>
            <a:ext cx="4095750" cy="4400550"/>
          </a:xfrm>
          <a:prstGeom xmlns:a="http://schemas.openxmlformats.org/drawingml/2006/main" prst="roundRect">
            <a:avLst>
              <a:gd name="adj" fmla="val 4186"/>
            </a:avLst>
          </a:prstGeom>
        </p:spPr>
      </p:pic>
      <p:sp>
        <p:nvSpPr>
          <p:cNvPr id="9" name="animation-status">
            <a:extLst xmlns:a="http://schemas.openxmlformats.org/drawingml/2006/main">
              <a:ext uri="{FF2B5EF4-FFF2-40B4-BE49-F238E27FC236}">
                <a16:creationId xmlns:a16="http://schemas.microsoft.com/office/drawing/2014/main" id="{9154A5DE-9301-41F3-A16A-F7B2488BA3C4}"/>
              </a:ext>
            </a:extLst>
          </p:cNvPr>
          <p:cNvSpPr>
            <a:spLocks xmlns:a="http://schemas.openxmlformats.org/drawingml/2006/main" noGrp="1"/>
          </p:cNvSpPr>
          <p:nvPr/>
        </p:nvSpPr>
        <p:spPr>
          <a:xfrm xmlns:a="http://schemas.openxmlformats.org/drawingml/2006/main">
            <a:off x="6858000" y="6143625"/>
            <a:ext cx="4095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3"/>
          </a:bodyPr>
          <a:lstStyle xmlns:a="http://schemas.openxmlformats.org/drawingml/2006/main"/>
          <a:p xmlns:a="http://schemas.openxmlformats.org/drawingml/2006/main">
            <a:pPr algn="l">
              <a:lnSpc>
                <a:spcPct val="102000"/>
              </a:lnSpc>
              <a:buNone/>
              <a:defRPr sz="1050" b="0">
                <a:solidFill>
                  <a:srgbClr val="61766D"/>
                </a:solidFill>
                <a:latin typeface="Arial"/>
                <a:ea typeface="Arial"/>
                <a:cs typeface="Arial"/>
              </a:defRPr>
            </a:pPr>
            <a:r>
              <a:rPr sz="1050" b="0">
                <a:solidFill>
                  <a:srgbClr val="61766D"/>
                </a:solidFill>
                <a:latin typeface="Arial"/>
                <a:ea typeface="Arial"/>
                <a:cs typeface="Arial"/>
              </a:rPr>
              <a:t>A 36-second bilingual animatic and timed captions establish the first story.</a:t>
            </a:r>
          </a:p>
        </p:txBody>
      </p:sp>
      <p:sp>
        <p:nvSpPr>
          <p:cNvPr id="10" name="footer-rule">
            <a:extLst xmlns:a="http://schemas.openxmlformats.org/drawingml/2006/main">
              <a:ext uri="{FF2B5EF4-FFF2-40B4-BE49-F238E27FC236}">
                <a16:creationId xmlns:a16="http://schemas.microsoft.com/office/drawing/2014/main" id="{870BC6DE-CBE5-4816-903B-43585BEFC26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11" name="footer-label">
            <a:extLst xmlns:a="http://schemas.openxmlformats.org/drawingml/2006/main">
              <a:ext uri="{FF2B5EF4-FFF2-40B4-BE49-F238E27FC236}">
                <a16:creationId xmlns:a16="http://schemas.microsoft.com/office/drawing/2014/main" id="{F8F40F7F-644F-4994-B032-4247E6A72A16}"/>
              </a:ext>
            </a:extLst>
          </p:cNvPr>
          <p:cNvSpPr>
            <a:spLocks xmlns:a="http://schemas.openxmlformats.org/drawingml/2006/main" noGrp="1"/>
          </p:cNvSpPr>
          <p:nvPr/>
        </p:nvSpPr>
        <p:spPr>
          <a:xfrm xmlns:a="http://schemas.openxmlformats.org/drawingml/2006/main">
            <a:off x="685800" y="6543675"/>
            <a:ext cx="581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KitchMemo  |  Iteration 3 Product Discovery</a:t>
            </a:r>
          </a:p>
        </p:txBody>
      </p:sp>
      <p:sp>
        <p:nvSpPr>
          <p:cNvPr id="12" name="footer-number">
            <a:extLst xmlns:a="http://schemas.openxmlformats.org/drawingml/2006/main">
              <a:ext uri="{FF2B5EF4-FFF2-40B4-BE49-F238E27FC236}">
                <a16:creationId xmlns:a16="http://schemas.microsoft.com/office/drawing/2014/main" id="{0F1CD7A2-26A0-4AE7-9D59-012CCA3AF471}"/>
              </a:ext>
            </a:extLst>
          </p:cNvPr>
          <p:cNvSpPr>
            <a:spLocks xmlns:a="http://schemas.openxmlformats.org/drawingml/2006/main" noGrp="1"/>
          </p:cNvSpPr>
          <p:nvPr/>
        </p:nvSpPr>
        <p:spPr>
          <a:xfrm xmlns:a="http://schemas.openxmlformats.org/drawingml/2006/main">
            <a:off x="1114425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06</a:t>
            </a:r>
          </a:p>
        </p:txBody>
      </p:sp>
    </p:spTree>
    <p:extLst>
      <p:ext uri="{BB962C8B-B14F-4D97-AF65-F5344CB8AC3E}">
        <p14:creationId xmlns:p14="http://schemas.microsoft.com/office/powerpoint/2010/main" val="1966339677"/>
      </p:ext>
    </p:extLst>
  </p:cSld>
</p:sld>
</file>

<file path=ppt/slides/slide7.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48226928-F9CE-41D3-92EF-CFA14CD8801D}"/>
              </a:ext>
            </a:extLst>
          </p:cNvPr>
          <p:cNvSpPr>
            <a:spLocks xmlns:a="http://schemas.openxmlformats.org/drawingml/2006/main" noGrp="1"/>
          </p:cNvSpPr>
          <p:nvPr/>
        </p:nvSpPr>
        <p:spPr>
          <a:xfrm xmlns:a="http://schemas.openxmlformats.org/drawingml/2006/main">
            <a:off x="685800" y="276225"/>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647C68"/>
                </a:solidFill>
                <a:latin typeface="Arial"/>
                <a:ea typeface="Arial"/>
                <a:cs typeface="Arial"/>
              </a:defRPr>
            </a:pPr>
            <a:r>
              <a:rPr sz="975" b="1">
                <a:solidFill>
                  <a:srgbClr val="647C68"/>
                </a:solidFill>
                <a:latin typeface="Arial"/>
                <a:ea typeface="Arial"/>
                <a:cs typeface="Arial"/>
              </a:rPr>
              <a:t>NEW FEATURE | EDUCATION</a:t>
            </a:r>
          </a:p>
        </p:txBody>
      </p:sp>
      <p:sp>
        <p:nvSpPr>
          <p:cNvPr id="2" name="page">
            <a:extLst xmlns:a="http://schemas.openxmlformats.org/drawingml/2006/main">
              <a:ext uri="{FF2B5EF4-FFF2-40B4-BE49-F238E27FC236}">
                <a16:creationId xmlns:a16="http://schemas.microsoft.com/office/drawing/2014/main" id="{59311A17-BF71-4219-A3B2-7558EA5EF790}"/>
              </a:ext>
            </a:extLst>
          </p:cNvPr>
          <p:cNvSpPr>
            <a:spLocks xmlns:a="http://schemas.openxmlformats.org/drawingml/2006/main" noGrp="1"/>
          </p:cNvSpPr>
          <p:nvPr/>
        </p:nvSpPr>
        <p:spPr>
          <a:xfrm xmlns:a="http://schemas.openxmlformats.org/drawingml/2006/main">
            <a:off x="11144250" y="2762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975" b="0">
                <a:solidFill>
                  <a:srgbClr val="61766D"/>
                </a:solidFill>
                <a:latin typeface="Arial"/>
                <a:ea typeface="Arial"/>
                <a:cs typeface="Arial"/>
              </a:defRPr>
            </a:pPr>
            <a:r>
              <a:rPr sz="975" b="0">
                <a:solidFill>
                  <a:srgbClr val="61766D"/>
                </a:solidFill>
                <a:latin typeface="Arial"/>
                <a:ea typeface="Arial"/>
                <a:cs typeface="Arial"/>
              </a:rPr>
              <a:t>07</a:t>
            </a:r>
          </a:p>
        </p:txBody>
      </p:sp>
      <p:sp>
        <p:nvSpPr>
          <p:cNvPr id="3" name="title">
            <a:extLst xmlns:a="http://schemas.openxmlformats.org/drawingml/2006/main">
              <a:ext uri="{FF2B5EF4-FFF2-40B4-BE49-F238E27FC236}">
                <a16:creationId xmlns:a16="http://schemas.microsoft.com/office/drawing/2014/main" id="{D32C9C06-F2A8-44F5-9B68-ADD583D7C271}"/>
              </a:ext>
            </a:extLst>
          </p:cNvPr>
          <p:cNvSpPr>
            <a:spLocks xmlns:a="http://schemas.openxmlformats.org/drawingml/2006/main" noGrp="1"/>
          </p:cNvSpPr>
          <p:nvPr/>
        </p:nvSpPr>
        <p:spPr>
          <a:xfrm xmlns:a="http://schemas.openxmlformats.org/drawingml/2006/main">
            <a:off x="685800" y="600075"/>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925" b="1">
                <a:solidFill>
                  <a:srgbClr val="173D31"/>
                </a:solidFill>
                <a:latin typeface="Arial"/>
                <a:ea typeface="Arial"/>
                <a:cs typeface="Arial"/>
              </a:defRPr>
            </a:pPr>
            <a:r>
              <a:rPr sz="2925" b="1">
                <a:solidFill>
                  <a:srgbClr val="173D31"/>
                </a:solidFill>
                <a:latin typeface="Arial"/>
                <a:ea typeface="Arial"/>
                <a:cs typeface="Arial"/>
              </a:rPr>
              <a:t>The game lets users practise lower-waste decisions</a:t>
            </a:r>
          </a:p>
        </p:txBody>
      </p:sp>
      <p:sp>
        <p:nvSpPr>
          <p:cNvPr id="4" name="subtitle">
            <a:extLst xmlns:a="http://schemas.openxmlformats.org/drawingml/2006/main">
              <a:ext uri="{FF2B5EF4-FFF2-40B4-BE49-F238E27FC236}">
                <a16:creationId xmlns:a16="http://schemas.microsoft.com/office/drawing/2014/main" id="{AE89974F-9EBE-4E94-B625-415BECA0E968}"/>
              </a:ext>
            </a:extLst>
          </p:cNvPr>
          <p:cNvSpPr>
            <a:spLocks xmlns:a="http://schemas.openxmlformats.org/drawingml/2006/main" noGrp="1"/>
          </p:cNvSpPr>
          <p:nvPr/>
        </p:nvSpPr>
        <p:spPr>
          <a:xfrm xmlns:a="http://schemas.openxmlformats.org/drawingml/2006/main">
            <a:off x="685800" y="11811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Users make choices in a simulated household week and see how each choice affects that scenario.</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ca6c08307f84e21"/>
          <a:srcRect xmlns:a="http://schemas.openxmlformats.org/drawingml/2006/main" l="0" t="18061" r="0" b="18061"/>
          <a:stretch xmlns:a="http://schemas.openxmlformats.org/drawingml/2006/main">
            <a:fillRect l="0" t="0" r="0" b="0"/>
          </a:stretch>
        </p:blipFill>
        <p:spPr>
          <a:xfrm xmlns:a="http://schemas.openxmlformats.org/drawingml/2006/main">
            <a:off x="685800" y="1752600"/>
            <a:ext cx="3810000" cy="4324350"/>
          </a:xfrm>
          <a:prstGeom xmlns:a="http://schemas.openxmlformats.org/drawingml/2006/main" prst="rect">
            <a:avLst/>
          </a:prstGeom>
        </p:spPr>
      </p:pic>
      <p:sp>
        <p:nvSpPr>
          <p:cNvPr id="6" name="game-step-0-accent">
            <a:extLst xmlns:a="http://schemas.openxmlformats.org/drawingml/2006/main">
              <a:ext uri="{FF2B5EF4-FFF2-40B4-BE49-F238E27FC236}">
                <a16:creationId xmlns:a16="http://schemas.microsoft.com/office/drawing/2014/main" id="{362F4DA1-15F1-450B-A938-AFAA47AEB007}"/>
              </a:ext>
            </a:extLst>
          </p:cNvPr>
          <p:cNvSpPr>
            <a:spLocks xmlns:a="http://schemas.openxmlformats.org/drawingml/2006/main" noGrp="1"/>
          </p:cNvSpPr>
          <p:nvPr/>
        </p:nvSpPr>
        <p:spPr>
          <a:xfrm xmlns:a="http://schemas.openxmlformats.org/drawingml/2006/main">
            <a:off x="5000625" y="1933575"/>
            <a:ext cx="38100" cy="542925"/>
          </a:xfrm>
          <a:prstGeom xmlns:a="http://schemas.openxmlformats.org/drawingml/2006/main" prst="roundRect">
            <a:avLst>
              <a:gd name="adj" fmla="val 50000"/>
            </a:avLst>
          </a:prstGeom>
          <a:solidFill xmlns:a="http://schemas.openxmlformats.org/drawingml/2006/main">
            <a:srgbClr val="2A8A61"/>
          </a:solidFill>
          <a:ln xmlns:a="http://schemas.openxmlformats.org/drawingml/2006/main" w="0">
            <a:noFill/>
            <a:prstDash val="solid"/>
          </a:ln>
        </p:spPr>
      </p:sp>
      <p:sp>
        <p:nvSpPr>
          <p:cNvPr id="7" name="game-step-0-title">
            <a:extLst xmlns:a="http://schemas.openxmlformats.org/drawingml/2006/main">
              <a:ext uri="{FF2B5EF4-FFF2-40B4-BE49-F238E27FC236}">
                <a16:creationId xmlns:a16="http://schemas.microsoft.com/office/drawing/2014/main" id="{0F361CCB-65C3-4C4A-9320-C331877ADC82}"/>
              </a:ext>
            </a:extLst>
          </p:cNvPr>
          <p:cNvSpPr>
            <a:spLocks xmlns:a="http://schemas.openxmlformats.org/drawingml/2006/main" noGrp="1"/>
          </p:cNvSpPr>
          <p:nvPr/>
        </p:nvSpPr>
        <p:spPr>
          <a:xfrm xmlns:a="http://schemas.openxmlformats.org/drawingml/2006/main">
            <a:off x="5172075" y="1924050"/>
            <a:ext cx="5781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Before shopping</a:t>
            </a:r>
          </a:p>
        </p:txBody>
      </p:sp>
      <p:sp>
        <p:nvSpPr>
          <p:cNvPr id="8" name="game-step-0-body">
            <a:extLst xmlns:a="http://schemas.openxmlformats.org/drawingml/2006/main">
              <a:ext uri="{FF2B5EF4-FFF2-40B4-BE49-F238E27FC236}">
                <a16:creationId xmlns:a16="http://schemas.microsoft.com/office/drawing/2014/main" id="{4A60E26B-39D4-4080-A9EC-ED766D8AF413}"/>
              </a:ext>
            </a:extLst>
          </p:cNvPr>
          <p:cNvSpPr>
            <a:spLocks xmlns:a="http://schemas.openxmlformats.org/drawingml/2006/main" noGrp="1"/>
          </p:cNvSpPr>
          <p:nvPr/>
        </p:nvSpPr>
        <p:spPr>
          <a:xfrm xmlns:a="http://schemas.openxmlformats.org/drawingml/2006/main">
            <a:off x="5172075" y="2209800"/>
            <a:ext cx="5781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Check the fridge before adding another item.</a:t>
            </a:r>
          </a:p>
        </p:txBody>
      </p:sp>
      <p:sp>
        <p:nvSpPr>
          <p:cNvPr id="9" name="game-step-1-accent">
            <a:extLst xmlns:a="http://schemas.openxmlformats.org/drawingml/2006/main">
              <a:ext uri="{FF2B5EF4-FFF2-40B4-BE49-F238E27FC236}">
                <a16:creationId xmlns:a16="http://schemas.microsoft.com/office/drawing/2014/main" id="{E2780C98-8C1A-4FBB-8A69-19B92758C36B}"/>
              </a:ext>
            </a:extLst>
          </p:cNvPr>
          <p:cNvSpPr>
            <a:spLocks xmlns:a="http://schemas.openxmlformats.org/drawingml/2006/main" noGrp="1"/>
          </p:cNvSpPr>
          <p:nvPr/>
        </p:nvSpPr>
        <p:spPr>
          <a:xfrm xmlns:a="http://schemas.openxmlformats.org/drawingml/2006/main">
            <a:off x="5000625" y="3048000"/>
            <a:ext cx="38100" cy="542925"/>
          </a:xfrm>
          <a:prstGeom xmlns:a="http://schemas.openxmlformats.org/drawingml/2006/main" prst="roundRect">
            <a:avLst>
              <a:gd name="adj" fmla="val 50000"/>
            </a:avLst>
          </a:prstGeom>
          <a:solidFill xmlns:a="http://schemas.openxmlformats.org/drawingml/2006/main">
            <a:srgbClr val="D47B21"/>
          </a:solidFill>
          <a:ln xmlns:a="http://schemas.openxmlformats.org/drawingml/2006/main" w="0">
            <a:noFill/>
            <a:prstDash val="solid"/>
          </a:ln>
        </p:spPr>
      </p:sp>
      <p:sp>
        <p:nvSpPr>
          <p:cNvPr id="10" name="game-step-1-title">
            <a:extLst xmlns:a="http://schemas.openxmlformats.org/drawingml/2006/main">
              <a:ext uri="{FF2B5EF4-FFF2-40B4-BE49-F238E27FC236}">
                <a16:creationId xmlns:a16="http://schemas.microsoft.com/office/drawing/2014/main" id="{A349312C-5DA6-4451-8F4B-28990F9A619E}"/>
              </a:ext>
            </a:extLst>
          </p:cNvPr>
          <p:cNvSpPr>
            <a:spLocks xmlns:a="http://schemas.openxmlformats.org/drawingml/2006/main" noGrp="1"/>
          </p:cNvSpPr>
          <p:nvPr/>
        </p:nvSpPr>
        <p:spPr>
          <a:xfrm xmlns:a="http://schemas.openxmlformats.org/drawingml/2006/main">
            <a:off x="5172075" y="3038475"/>
            <a:ext cx="5781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Before cooking</a:t>
            </a:r>
          </a:p>
        </p:txBody>
      </p:sp>
      <p:sp>
        <p:nvSpPr>
          <p:cNvPr id="11" name="game-step-1-body">
            <a:extLst xmlns:a="http://schemas.openxmlformats.org/drawingml/2006/main">
              <a:ext uri="{FF2B5EF4-FFF2-40B4-BE49-F238E27FC236}">
                <a16:creationId xmlns:a16="http://schemas.microsoft.com/office/drawing/2014/main" id="{5D7CD76A-5BD2-47B0-8F7D-2641B5590F5E}"/>
              </a:ext>
            </a:extLst>
          </p:cNvPr>
          <p:cNvSpPr>
            <a:spLocks xmlns:a="http://schemas.openxmlformats.org/drawingml/2006/main" noGrp="1"/>
          </p:cNvSpPr>
          <p:nvPr/>
        </p:nvSpPr>
        <p:spPr>
          <a:xfrm xmlns:a="http://schemas.openxmlformats.org/drawingml/2006/main">
            <a:off x="5172075" y="3324225"/>
            <a:ext cx="5781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Choose which suitable food to use first.</a:t>
            </a:r>
          </a:p>
        </p:txBody>
      </p:sp>
      <p:sp>
        <p:nvSpPr>
          <p:cNvPr id="12" name="game-step-2-accent">
            <a:extLst xmlns:a="http://schemas.openxmlformats.org/drawingml/2006/main">
              <a:ext uri="{FF2B5EF4-FFF2-40B4-BE49-F238E27FC236}">
                <a16:creationId xmlns:a16="http://schemas.microsoft.com/office/drawing/2014/main" id="{EC1E3992-A29D-4581-B2DA-DDC43730487A}"/>
              </a:ext>
            </a:extLst>
          </p:cNvPr>
          <p:cNvSpPr>
            <a:spLocks xmlns:a="http://schemas.openxmlformats.org/drawingml/2006/main" noGrp="1"/>
          </p:cNvSpPr>
          <p:nvPr/>
        </p:nvSpPr>
        <p:spPr>
          <a:xfrm xmlns:a="http://schemas.openxmlformats.org/drawingml/2006/main">
            <a:off x="5000625" y="4162425"/>
            <a:ext cx="38100" cy="542925"/>
          </a:xfrm>
          <a:prstGeom xmlns:a="http://schemas.openxmlformats.org/drawingml/2006/main" prst="roundRect">
            <a:avLst>
              <a:gd name="adj" fmla="val 50000"/>
            </a:avLst>
          </a:prstGeom>
          <a:solidFill xmlns:a="http://schemas.openxmlformats.org/drawingml/2006/main">
            <a:srgbClr val="C96E5A"/>
          </a:solidFill>
          <a:ln xmlns:a="http://schemas.openxmlformats.org/drawingml/2006/main" w="0">
            <a:noFill/>
            <a:prstDash val="solid"/>
          </a:ln>
        </p:spPr>
      </p:sp>
      <p:sp>
        <p:nvSpPr>
          <p:cNvPr id="13" name="game-step-2-title">
            <a:extLst xmlns:a="http://schemas.openxmlformats.org/drawingml/2006/main">
              <a:ext uri="{FF2B5EF4-FFF2-40B4-BE49-F238E27FC236}">
                <a16:creationId xmlns:a16="http://schemas.microsoft.com/office/drawing/2014/main" id="{A195FF12-06E1-4F76-862D-D539C299F362}"/>
              </a:ext>
            </a:extLst>
          </p:cNvPr>
          <p:cNvSpPr>
            <a:spLocks xmlns:a="http://schemas.openxmlformats.org/drawingml/2006/main" noGrp="1"/>
          </p:cNvSpPr>
          <p:nvPr/>
        </p:nvSpPr>
        <p:spPr>
          <a:xfrm xmlns:a="http://schemas.openxmlformats.org/drawingml/2006/main">
            <a:off x="5172075" y="4152900"/>
            <a:ext cx="5781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When plans change</a:t>
            </a:r>
          </a:p>
        </p:txBody>
      </p:sp>
      <p:sp>
        <p:nvSpPr>
          <p:cNvPr id="14" name="game-step-2-body">
            <a:extLst xmlns:a="http://schemas.openxmlformats.org/drawingml/2006/main">
              <a:ext uri="{FF2B5EF4-FFF2-40B4-BE49-F238E27FC236}">
                <a16:creationId xmlns:a16="http://schemas.microsoft.com/office/drawing/2014/main" id="{40750EA8-84BF-4F70-BAE0-8131A8B9B0A8}"/>
              </a:ext>
            </a:extLst>
          </p:cNvPr>
          <p:cNvSpPr>
            <a:spLocks xmlns:a="http://schemas.openxmlformats.org/drawingml/2006/main" noGrp="1"/>
          </p:cNvSpPr>
          <p:nvPr/>
        </p:nvSpPr>
        <p:spPr>
          <a:xfrm xmlns:a="http://schemas.openxmlformats.org/drawingml/2006/main">
            <a:off x="5172075" y="4438650"/>
            <a:ext cx="5781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Decide how to handle leftovers or pause a purchase.</a:t>
            </a:r>
          </a:p>
        </p:txBody>
      </p:sp>
      <p:sp>
        <p:nvSpPr>
          <p:cNvPr id="15" name="game-safety">
            <a:extLst xmlns:a="http://schemas.openxmlformats.org/drawingml/2006/main">
              <a:ext uri="{FF2B5EF4-FFF2-40B4-BE49-F238E27FC236}">
                <a16:creationId xmlns:a16="http://schemas.microsoft.com/office/drawing/2014/main" id="{42B20E19-DFA5-492B-9D22-9B24917A7CDD}"/>
              </a:ext>
            </a:extLst>
          </p:cNvPr>
          <p:cNvSpPr>
            <a:spLocks xmlns:a="http://schemas.openxmlformats.org/drawingml/2006/main" noGrp="1"/>
          </p:cNvSpPr>
          <p:nvPr/>
        </p:nvSpPr>
        <p:spPr>
          <a:xfrm xmlns:a="http://schemas.openxmlformats.org/drawingml/2006/main">
            <a:off x="5000625" y="5353050"/>
            <a:ext cx="5953125" cy="590550"/>
          </a:xfrm>
          <a:prstGeom xmlns:a="http://schemas.openxmlformats.org/drawingml/2006/main" prst="roundRect">
            <a:avLst>
              <a:gd name="adj" fmla="val 19355"/>
            </a:avLst>
          </a:prstGeom>
          <a:solidFill xmlns:a="http://schemas.openxmlformats.org/drawingml/2006/main">
            <a:srgbClr val="647C68"/>
          </a:solidFill>
          <a:ln xmlns:a="http://schemas.openxmlformats.org/drawingml/2006/main" w="0">
            <a:noFill/>
            <a:prstDash val="solid"/>
          </a:ln>
        </p:spPr>
      </p:sp>
      <p:sp>
        <p:nvSpPr>
          <p:cNvPr id="16" name="game-safety-copy">
            <a:extLst xmlns:a="http://schemas.openxmlformats.org/drawingml/2006/main">
              <a:ext uri="{FF2B5EF4-FFF2-40B4-BE49-F238E27FC236}">
                <a16:creationId xmlns:a16="http://schemas.microsoft.com/office/drawing/2014/main" id="{CCEF3CCB-1FA2-464C-8879-8F2D182075F8}"/>
              </a:ext>
            </a:extLst>
          </p:cNvPr>
          <p:cNvSpPr>
            <a:spLocks xmlns:a="http://schemas.openxmlformats.org/drawingml/2006/main" noGrp="1"/>
          </p:cNvSpPr>
          <p:nvPr/>
        </p:nvSpPr>
        <p:spPr>
          <a:xfrm xmlns:a="http://schemas.openxmlformats.org/drawingml/2006/main">
            <a:off x="5210175" y="5457825"/>
            <a:ext cx="5524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275" b="0">
                <a:solidFill>
                  <a:srgbClr val="FFFFFF"/>
                </a:solidFill>
                <a:latin typeface="Arial"/>
                <a:ea typeface="Arial"/>
                <a:cs typeface="Arial"/>
              </a:defRPr>
            </a:pPr>
            <a:r>
              <a:rPr sz="1275" b="0">
                <a:solidFill>
                  <a:srgbClr val="FFFFFF"/>
                </a:solidFill>
                <a:latin typeface="Arial"/>
                <a:ea typeface="Arial"/>
                <a:cs typeface="Arial"/>
              </a:rPr>
              <a:t>Food safety stays separate from the score. Use-by dates remain a hard safety boundary.</a:t>
            </a:r>
          </a:p>
        </p:txBody>
      </p:sp>
      <p:sp>
        <p:nvSpPr>
          <p:cNvPr id="17" name="footer-rule">
            <a:extLst xmlns:a="http://schemas.openxmlformats.org/drawingml/2006/main">
              <a:ext uri="{FF2B5EF4-FFF2-40B4-BE49-F238E27FC236}">
                <a16:creationId xmlns:a16="http://schemas.microsoft.com/office/drawing/2014/main" id="{3B2E88BA-D627-4E26-B0E8-EC2A6E45691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18" name="footer-label">
            <a:extLst xmlns:a="http://schemas.openxmlformats.org/drawingml/2006/main">
              <a:ext uri="{FF2B5EF4-FFF2-40B4-BE49-F238E27FC236}">
                <a16:creationId xmlns:a16="http://schemas.microsoft.com/office/drawing/2014/main" id="{E9D7DFC4-1B1D-40A6-BF44-83CCA837115C}"/>
              </a:ext>
            </a:extLst>
          </p:cNvPr>
          <p:cNvSpPr>
            <a:spLocks xmlns:a="http://schemas.openxmlformats.org/drawingml/2006/main" noGrp="1"/>
          </p:cNvSpPr>
          <p:nvPr/>
        </p:nvSpPr>
        <p:spPr>
          <a:xfrm xmlns:a="http://schemas.openxmlformats.org/drawingml/2006/main">
            <a:off x="685800" y="6543675"/>
            <a:ext cx="581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KitchMemo  |  Iteration 3 Product Discovery</a:t>
            </a:r>
          </a:p>
        </p:txBody>
      </p:sp>
      <p:sp>
        <p:nvSpPr>
          <p:cNvPr id="19" name="footer-number">
            <a:extLst xmlns:a="http://schemas.openxmlformats.org/drawingml/2006/main">
              <a:ext uri="{FF2B5EF4-FFF2-40B4-BE49-F238E27FC236}">
                <a16:creationId xmlns:a16="http://schemas.microsoft.com/office/drawing/2014/main" id="{839F4957-F2CD-429C-BD84-9E20240BDA52}"/>
              </a:ext>
            </a:extLst>
          </p:cNvPr>
          <p:cNvSpPr>
            <a:spLocks xmlns:a="http://schemas.openxmlformats.org/drawingml/2006/main" noGrp="1"/>
          </p:cNvSpPr>
          <p:nvPr/>
        </p:nvSpPr>
        <p:spPr>
          <a:xfrm xmlns:a="http://schemas.openxmlformats.org/drawingml/2006/main">
            <a:off x="1114425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07</a:t>
            </a:r>
          </a:p>
        </p:txBody>
      </p:sp>
    </p:spTree>
    <p:extLst>
      <p:ext uri="{BB962C8B-B14F-4D97-AF65-F5344CB8AC3E}">
        <p14:creationId xmlns:p14="http://schemas.microsoft.com/office/powerpoint/2010/main" val="713594662"/>
      </p:ext>
    </p:extLst>
  </p:cSld>
</p:sld>
</file>

<file path=ppt/slides/slide8.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26" name="section">
            <a:extLst xmlns:a="http://schemas.openxmlformats.org/drawingml/2006/main">
              <a:ext uri="{FF2B5EF4-FFF2-40B4-BE49-F238E27FC236}">
                <a16:creationId xmlns:a16="http://schemas.microsoft.com/office/drawing/2014/main" id="{2AA68399-3D8F-4C1E-9DED-10016C546C31}"/>
              </a:ext>
            </a:extLst>
          </p:cNvPr>
          <p:cNvSpPr>
            <a:spLocks xmlns:a="http://schemas.openxmlformats.org/drawingml/2006/main" noGrp="1"/>
          </p:cNvSpPr>
          <p:nvPr/>
        </p:nvSpPr>
        <p:spPr>
          <a:xfrm xmlns:a="http://schemas.openxmlformats.org/drawingml/2006/main">
            <a:off x="685800" y="276225"/>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647C68"/>
                </a:solidFill>
                <a:latin typeface="Arial"/>
                <a:ea typeface="Arial"/>
                <a:cs typeface="Arial"/>
              </a:defRPr>
            </a:pPr>
            <a:r>
              <a:rPr sz="975" b="1">
                <a:solidFill>
                  <a:srgbClr val="647C68"/>
                </a:solidFill>
                <a:latin typeface="Arial"/>
                <a:ea typeface="Arial"/>
                <a:cs typeface="Arial"/>
              </a:rPr>
              <a:t>NEW FEATURE | USAGE INSIGHT</a:t>
            </a:r>
          </a:p>
        </p:txBody>
      </p:sp>
      <p:sp>
        <p:nvSpPr>
          <p:cNvPr id="2" name="page">
            <a:extLst xmlns:a="http://schemas.openxmlformats.org/drawingml/2006/main">
              <a:ext uri="{FF2B5EF4-FFF2-40B4-BE49-F238E27FC236}">
                <a16:creationId xmlns:a16="http://schemas.microsoft.com/office/drawing/2014/main" id="{A91A7E5F-1DB7-477C-A11C-6F9C28CAF71B}"/>
              </a:ext>
            </a:extLst>
          </p:cNvPr>
          <p:cNvSpPr>
            <a:spLocks xmlns:a="http://schemas.openxmlformats.org/drawingml/2006/main" noGrp="1"/>
          </p:cNvSpPr>
          <p:nvPr/>
        </p:nvSpPr>
        <p:spPr>
          <a:xfrm xmlns:a="http://schemas.openxmlformats.org/drawingml/2006/main">
            <a:off x="11144250" y="2762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975" b="0">
                <a:solidFill>
                  <a:srgbClr val="61766D"/>
                </a:solidFill>
                <a:latin typeface="Arial"/>
                <a:ea typeface="Arial"/>
                <a:cs typeface="Arial"/>
              </a:defRPr>
            </a:pPr>
            <a:r>
              <a:rPr sz="975" b="0">
                <a:solidFill>
                  <a:srgbClr val="61766D"/>
                </a:solidFill>
                <a:latin typeface="Arial"/>
                <a:ea typeface="Arial"/>
                <a:cs typeface="Arial"/>
              </a:rPr>
              <a:t>08</a:t>
            </a:r>
          </a:p>
        </p:txBody>
      </p:sp>
      <p:sp>
        <p:nvSpPr>
          <p:cNvPr id="3" name="title">
            <a:extLst xmlns:a="http://schemas.openxmlformats.org/drawingml/2006/main">
              <a:ext uri="{FF2B5EF4-FFF2-40B4-BE49-F238E27FC236}">
                <a16:creationId xmlns:a16="http://schemas.microsoft.com/office/drawing/2014/main" id="{684D180C-93DC-4FE6-96B9-AD3B7F419D4F}"/>
              </a:ext>
            </a:extLst>
          </p:cNvPr>
          <p:cNvSpPr>
            <a:spLocks xmlns:a="http://schemas.openxmlformats.org/drawingml/2006/main" noGrp="1"/>
          </p:cNvSpPr>
          <p:nvPr/>
        </p:nvSpPr>
        <p:spPr>
          <a:xfrm xmlns:a="http://schemas.openxmlformats.org/drawingml/2006/main">
            <a:off x="685800" y="600075"/>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925" b="1">
                <a:solidFill>
                  <a:srgbClr val="173D31"/>
                </a:solidFill>
                <a:latin typeface="Arial"/>
                <a:ea typeface="Arial"/>
                <a:cs typeface="Arial"/>
              </a:defRPr>
            </a:pPr>
            <a:r>
              <a:rPr sz="2925" b="1">
                <a:solidFill>
                  <a:srgbClr val="173D31"/>
                </a:solidFill>
                <a:latin typeface="Arial"/>
                <a:ea typeface="Arial"/>
                <a:cs typeface="Arial"/>
              </a:rPr>
              <a:t>The report turns food-use records into practical insight</a:t>
            </a:r>
          </a:p>
        </p:txBody>
      </p:sp>
      <p:sp>
        <p:nvSpPr>
          <p:cNvPr id="4" name="subtitle">
            <a:extLst xmlns:a="http://schemas.openxmlformats.org/drawingml/2006/main">
              <a:ext uri="{FF2B5EF4-FFF2-40B4-BE49-F238E27FC236}">
                <a16:creationId xmlns:a16="http://schemas.microsoft.com/office/drawing/2014/main" id="{2A989EDE-049A-4DC7-B71A-B6925A8343F3}"/>
              </a:ext>
            </a:extLst>
          </p:cNvPr>
          <p:cNvSpPr>
            <a:spLocks xmlns:a="http://schemas.openxmlformats.org/drawingml/2006/main" noGrp="1"/>
          </p:cNvSpPr>
          <p:nvPr/>
        </p:nvSpPr>
        <p:spPr>
          <a:xfrm xmlns:a="http://schemas.openxmlformats.org/drawingml/2006/main">
            <a:off x="685800" y="11811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Iteration 3 can build on the report flow already present in the current app.</a:t>
            </a:r>
          </a:p>
        </p:txBody>
      </p:sp>
      <p:sp>
        <p:nvSpPr>
          <p:cNvPr id="5" name="report-recorded">
            <a:extLst xmlns:a="http://schemas.openxmlformats.org/drawingml/2006/main">
              <a:ext uri="{FF2B5EF4-FFF2-40B4-BE49-F238E27FC236}">
                <a16:creationId xmlns:a16="http://schemas.microsoft.com/office/drawing/2014/main" id="{3A32ED80-8B6F-4411-A7EC-A60F41CE26A8}"/>
              </a:ext>
            </a:extLst>
          </p:cNvPr>
          <p:cNvSpPr>
            <a:spLocks xmlns:a="http://schemas.openxmlformats.org/drawingml/2006/main" noGrp="1"/>
          </p:cNvSpPr>
          <p:nvPr/>
        </p:nvSpPr>
        <p:spPr>
          <a:xfrm xmlns:a="http://schemas.openxmlformats.org/drawingml/2006/main">
            <a:off x="781050" y="1809750"/>
            <a:ext cx="3905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647C68"/>
                </a:solidFill>
                <a:latin typeface="Arial"/>
                <a:ea typeface="Arial"/>
                <a:cs typeface="Arial"/>
              </a:defRPr>
            </a:pPr>
            <a:r>
              <a:rPr sz="900" b="1">
                <a:solidFill>
                  <a:srgbClr val="647C68"/>
                </a:solidFill>
                <a:latin typeface="Arial"/>
                <a:ea typeface="Arial"/>
                <a:cs typeface="Arial"/>
              </a:rPr>
              <a:t>RECORDED IN THE REPORT</a:t>
            </a:r>
          </a:p>
        </p:txBody>
      </p:sp>
      <p:sp>
        <p:nvSpPr>
          <p:cNvPr id="6" name="report-head-0">
            <a:extLst xmlns:a="http://schemas.openxmlformats.org/drawingml/2006/main">
              <a:ext uri="{FF2B5EF4-FFF2-40B4-BE49-F238E27FC236}">
                <a16:creationId xmlns:a16="http://schemas.microsoft.com/office/drawing/2014/main" id="{92B3C69F-DAC6-41E8-A138-10A05F5F6B46}"/>
              </a:ext>
            </a:extLst>
          </p:cNvPr>
          <p:cNvSpPr>
            <a:spLocks xmlns:a="http://schemas.openxmlformats.org/drawingml/2006/main" noGrp="1"/>
          </p:cNvSpPr>
          <p:nvPr/>
        </p:nvSpPr>
        <p:spPr>
          <a:xfrm xmlns:a="http://schemas.openxmlformats.org/drawingml/2006/main">
            <a:off x="781050" y="2171700"/>
            <a:ext cx="2362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Use and discard</a:t>
            </a:r>
          </a:p>
        </p:txBody>
      </p:sp>
      <p:sp>
        <p:nvSpPr>
          <p:cNvPr id="7" name="report-body-0">
            <a:extLst xmlns:a="http://schemas.openxmlformats.org/drawingml/2006/main">
              <a:ext uri="{FF2B5EF4-FFF2-40B4-BE49-F238E27FC236}">
                <a16:creationId xmlns:a16="http://schemas.microsoft.com/office/drawing/2014/main" id="{924FB188-F4CC-4002-AAC7-820DD8EE5A2A}"/>
              </a:ext>
            </a:extLst>
          </p:cNvPr>
          <p:cNvSpPr>
            <a:spLocks xmlns:a="http://schemas.openxmlformats.org/drawingml/2006/main" noGrp="1"/>
          </p:cNvSpPr>
          <p:nvPr/>
        </p:nvSpPr>
        <p:spPr>
          <a:xfrm xmlns:a="http://schemas.openxmlformats.org/drawingml/2006/main">
            <a:off x="3257550" y="2171700"/>
            <a:ext cx="363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350" b="0">
                <a:solidFill>
                  <a:srgbClr val="61766D"/>
                </a:solidFill>
                <a:latin typeface="Arial"/>
                <a:ea typeface="Arial"/>
                <a:cs typeface="Arial"/>
              </a:defRPr>
            </a:pPr>
            <a:r>
              <a:rPr sz="1350" b="0">
                <a:solidFill>
                  <a:srgbClr val="61766D"/>
                </a:solidFill>
                <a:latin typeface="Arial"/>
                <a:ea typeface="Arial"/>
                <a:cs typeface="Arial"/>
              </a:rPr>
              <a:t>Counts by period, with a trend over time</a:t>
            </a:r>
          </a:p>
        </p:txBody>
      </p:sp>
      <p:sp>
        <p:nvSpPr>
          <p:cNvPr id="8" name="report-rule-0">
            <a:extLst xmlns:a="http://schemas.openxmlformats.org/drawingml/2006/main">
              <a:ext uri="{FF2B5EF4-FFF2-40B4-BE49-F238E27FC236}">
                <a16:creationId xmlns:a16="http://schemas.microsoft.com/office/drawing/2014/main" id="{64CBE07C-F373-4870-8B3E-AF17E8708DD0}"/>
              </a:ext>
            </a:extLst>
          </p:cNvPr>
          <p:cNvSpPr>
            <a:spLocks xmlns:a="http://schemas.openxmlformats.org/drawingml/2006/main" noGrp="1"/>
          </p:cNvSpPr>
          <p:nvPr/>
        </p:nvSpPr>
        <p:spPr>
          <a:xfrm xmlns:a="http://schemas.openxmlformats.org/drawingml/2006/main">
            <a:off x="781050" y="2762250"/>
            <a:ext cx="611505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9" name="report-head-1">
            <a:extLst xmlns:a="http://schemas.openxmlformats.org/drawingml/2006/main">
              <a:ext uri="{FF2B5EF4-FFF2-40B4-BE49-F238E27FC236}">
                <a16:creationId xmlns:a16="http://schemas.microsoft.com/office/drawing/2014/main" id="{568612D9-5455-4331-B83E-DB2614DE1B26}"/>
              </a:ext>
            </a:extLst>
          </p:cNvPr>
          <p:cNvSpPr>
            <a:spLocks xmlns:a="http://schemas.openxmlformats.org/drawingml/2006/main" noGrp="1"/>
          </p:cNvSpPr>
          <p:nvPr/>
        </p:nvSpPr>
        <p:spPr>
          <a:xfrm xmlns:a="http://schemas.openxmlformats.org/drawingml/2006/main">
            <a:off x="781050" y="3009900"/>
            <a:ext cx="2362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Patterns</a:t>
            </a:r>
          </a:p>
        </p:txBody>
      </p:sp>
      <p:sp>
        <p:nvSpPr>
          <p:cNvPr id="10" name="report-body-1">
            <a:extLst xmlns:a="http://schemas.openxmlformats.org/drawingml/2006/main">
              <a:ext uri="{FF2B5EF4-FFF2-40B4-BE49-F238E27FC236}">
                <a16:creationId xmlns:a16="http://schemas.microsoft.com/office/drawing/2014/main" id="{3848F8E1-A5E7-46DD-A084-8AB3074C664E}"/>
              </a:ext>
            </a:extLst>
          </p:cNvPr>
          <p:cNvSpPr>
            <a:spLocks xmlns:a="http://schemas.openxmlformats.org/drawingml/2006/main" noGrp="1"/>
          </p:cNvSpPr>
          <p:nvPr/>
        </p:nvSpPr>
        <p:spPr>
          <a:xfrm xmlns:a="http://schemas.openxmlformats.org/drawingml/2006/main">
            <a:off x="3257550" y="3009900"/>
            <a:ext cx="363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350" b="0">
                <a:solidFill>
                  <a:srgbClr val="61766D"/>
                </a:solidFill>
                <a:latin typeface="Arial"/>
                <a:ea typeface="Arial"/>
                <a:cs typeface="Arial"/>
              </a:defRPr>
            </a:pPr>
            <a:r>
              <a:rPr sz="1350" b="0">
                <a:solidFill>
                  <a:srgbClr val="61766D"/>
                </a:solidFill>
                <a:latin typeface="Arial"/>
                <a:ea typeface="Arial"/>
                <a:cs typeface="Arial"/>
              </a:rPr>
              <a:t>Discard reasons and food categories</a:t>
            </a:r>
          </a:p>
        </p:txBody>
      </p:sp>
      <p:sp>
        <p:nvSpPr>
          <p:cNvPr id="11" name="report-rule-1">
            <a:extLst xmlns:a="http://schemas.openxmlformats.org/drawingml/2006/main">
              <a:ext uri="{FF2B5EF4-FFF2-40B4-BE49-F238E27FC236}">
                <a16:creationId xmlns:a16="http://schemas.microsoft.com/office/drawing/2014/main" id="{8821AC67-6A19-4E7C-828E-2E06CB8C5903}"/>
              </a:ext>
            </a:extLst>
          </p:cNvPr>
          <p:cNvSpPr>
            <a:spLocks xmlns:a="http://schemas.openxmlformats.org/drawingml/2006/main" noGrp="1"/>
          </p:cNvSpPr>
          <p:nvPr/>
        </p:nvSpPr>
        <p:spPr>
          <a:xfrm xmlns:a="http://schemas.openxmlformats.org/drawingml/2006/main">
            <a:off x="781050" y="3600450"/>
            <a:ext cx="611505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12" name="report-head-2">
            <a:extLst xmlns:a="http://schemas.openxmlformats.org/drawingml/2006/main">
              <a:ext uri="{FF2B5EF4-FFF2-40B4-BE49-F238E27FC236}">
                <a16:creationId xmlns:a16="http://schemas.microsoft.com/office/drawing/2014/main" id="{02F5C7E0-1607-45B0-892C-F016E98B5F83}"/>
              </a:ext>
            </a:extLst>
          </p:cNvPr>
          <p:cNvSpPr>
            <a:spLocks xmlns:a="http://schemas.openxmlformats.org/drawingml/2006/main" noGrp="1"/>
          </p:cNvSpPr>
          <p:nvPr/>
        </p:nvSpPr>
        <p:spPr>
          <a:xfrm xmlns:a="http://schemas.openxmlformats.org/drawingml/2006/main">
            <a:off x="781050" y="3848100"/>
            <a:ext cx="2362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Value context</a:t>
            </a:r>
          </a:p>
        </p:txBody>
      </p:sp>
      <p:sp>
        <p:nvSpPr>
          <p:cNvPr id="13" name="report-body-2">
            <a:extLst xmlns:a="http://schemas.openxmlformats.org/drawingml/2006/main">
              <a:ext uri="{FF2B5EF4-FFF2-40B4-BE49-F238E27FC236}">
                <a16:creationId xmlns:a16="http://schemas.microsoft.com/office/drawing/2014/main" id="{D93E5F90-26E6-4A4E-BF94-BACD20407A74}"/>
              </a:ext>
            </a:extLst>
          </p:cNvPr>
          <p:cNvSpPr>
            <a:spLocks xmlns:a="http://schemas.openxmlformats.org/drawingml/2006/main" noGrp="1"/>
          </p:cNvSpPr>
          <p:nvPr/>
        </p:nvSpPr>
        <p:spPr>
          <a:xfrm xmlns:a="http://schemas.openxmlformats.org/drawingml/2006/main">
            <a:off x="3257550" y="3848100"/>
            <a:ext cx="363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350" b="0">
                <a:solidFill>
                  <a:srgbClr val="61766D"/>
                </a:solidFill>
                <a:latin typeface="Arial"/>
                <a:ea typeface="Arial"/>
                <a:cs typeface="Arial"/>
              </a:defRPr>
            </a:pPr>
            <a:r>
              <a:rPr sz="1350" b="0">
                <a:solidFill>
                  <a:srgbClr val="61766D"/>
                </a:solidFill>
                <a:latin typeface="Arial"/>
                <a:ea typeface="Arial"/>
                <a:cs typeface="Arial"/>
              </a:rPr>
              <a:t>Discarded value only when price data supports it</a:t>
            </a:r>
          </a:p>
        </p:txBody>
      </p:sp>
      <p:sp>
        <p:nvSpPr>
          <p:cNvPr id="14" name="report-rule-2">
            <a:extLst xmlns:a="http://schemas.openxmlformats.org/drawingml/2006/main">
              <a:ext uri="{FF2B5EF4-FFF2-40B4-BE49-F238E27FC236}">
                <a16:creationId xmlns:a16="http://schemas.microsoft.com/office/drawing/2014/main" id="{9BCA2705-8652-4A33-AED0-1000646F1CA0}"/>
              </a:ext>
            </a:extLst>
          </p:cNvPr>
          <p:cNvSpPr>
            <a:spLocks xmlns:a="http://schemas.openxmlformats.org/drawingml/2006/main" noGrp="1"/>
          </p:cNvSpPr>
          <p:nvPr/>
        </p:nvSpPr>
        <p:spPr>
          <a:xfrm xmlns:a="http://schemas.openxmlformats.org/drawingml/2006/main">
            <a:off x="781050" y="4438650"/>
            <a:ext cx="611505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15" name="report-head-3">
            <a:extLst xmlns:a="http://schemas.openxmlformats.org/drawingml/2006/main">
              <a:ext uri="{FF2B5EF4-FFF2-40B4-BE49-F238E27FC236}">
                <a16:creationId xmlns:a16="http://schemas.microsoft.com/office/drawing/2014/main" id="{F7EF940D-8E50-45D4-9DBE-CDED90667F3E}"/>
              </a:ext>
            </a:extLst>
          </p:cNvPr>
          <p:cNvSpPr>
            <a:spLocks xmlns:a="http://schemas.openxmlformats.org/drawingml/2006/main" noGrp="1"/>
          </p:cNvSpPr>
          <p:nvPr/>
        </p:nvSpPr>
        <p:spPr>
          <a:xfrm xmlns:a="http://schemas.openxmlformats.org/drawingml/2006/main">
            <a:off x="781050" y="4686300"/>
            <a:ext cx="2362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Next action</a:t>
            </a:r>
          </a:p>
        </p:txBody>
      </p:sp>
      <p:sp>
        <p:nvSpPr>
          <p:cNvPr id="16" name="report-body-3">
            <a:extLst xmlns:a="http://schemas.openxmlformats.org/drawingml/2006/main">
              <a:ext uri="{FF2B5EF4-FFF2-40B4-BE49-F238E27FC236}">
                <a16:creationId xmlns:a16="http://schemas.microsoft.com/office/drawing/2014/main" id="{2F8550A3-37E8-4B72-832A-9F4F2C598738}"/>
              </a:ext>
            </a:extLst>
          </p:cNvPr>
          <p:cNvSpPr>
            <a:spLocks xmlns:a="http://schemas.openxmlformats.org/drawingml/2006/main" noGrp="1"/>
          </p:cNvSpPr>
          <p:nvPr/>
        </p:nvSpPr>
        <p:spPr>
          <a:xfrm xmlns:a="http://schemas.openxmlformats.org/drawingml/2006/main">
            <a:off x="3257550" y="4686300"/>
            <a:ext cx="363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350" b="0">
                <a:solidFill>
                  <a:srgbClr val="61766D"/>
                </a:solidFill>
                <a:latin typeface="Arial"/>
                <a:ea typeface="Arial"/>
                <a:cs typeface="Arial"/>
              </a:defRPr>
            </a:pPr>
            <a:r>
              <a:rPr sz="1350" b="0">
                <a:solidFill>
                  <a:srgbClr val="61766D"/>
                </a:solidFill>
                <a:latin typeface="Arial"/>
                <a:ea typeface="Arial"/>
                <a:cs typeface="Arial"/>
              </a:rPr>
              <a:t>Upcoming items linked back to inventory</a:t>
            </a:r>
          </a:p>
        </p:txBody>
      </p:sp>
      <p:sp>
        <p:nvSpPr>
          <p:cNvPr id="17" name="report-rule-3">
            <a:extLst xmlns:a="http://schemas.openxmlformats.org/drawingml/2006/main">
              <a:ext uri="{FF2B5EF4-FFF2-40B4-BE49-F238E27FC236}">
                <a16:creationId xmlns:a16="http://schemas.microsoft.com/office/drawing/2014/main" id="{2D221211-58A0-4892-9761-55B298BBF3B1}"/>
              </a:ext>
            </a:extLst>
          </p:cNvPr>
          <p:cNvSpPr>
            <a:spLocks xmlns:a="http://schemas.openxmlformats.org/drawingml/2006/main" noGrp="1"/>
          </p:cNvSpPr>
          <p:nvPr/>
        </p:nvSpPr>
        <p:spPr>
          <a:xfrm xmlns:a="http://schemas.openxmlformats.org/drawingml/2006/main">
            <a:off x="781050" y="5276850"/>
            <a:ext cx="611505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18" name="report-boundary">
            <a:extLst xmlns:a="http://schemas.openxmlformats.org/drawingml/2006/main">
              <a:ext uri="{FF2B5EF4-FFF2-40B4-BE49-F238E27FC236}">
                <a16:creationId xmlns:a16="http://schemas.microsoft.com/office/drawing/2014/main" id="{C879117C-7060-4574-B8AC-29B66A040FE1}"/>
              </a:ext>
            </a:extLst>
          </p:cNvPr>
          <p:cNvSpPr>
            <a:spLocks xmlns:a="http://schemas.openxmlformats.org/drawingml/2006/main" noGrp="1"/>
          </p:cNvSpPr>
          <p:nvPr/>
        </p:nvSpPr>
        <p:spPr>
          <a:xfrm xmlns:a="http://schemas.openxmlformats.org/drawingml/2006/main">
            <a:off x="7486650" y="1981200"/>
            <a:ext cx="3886200" cy="3257550"/>
          </a:xfrm>
          <a:prstGeom xmlns:a="http://schemas.openxmlformats.org/drawingml/2006/main" prst="roundRect">
            <a:avLst>
              <a:gd name="adj" fmla="val 5263"/>
            </a:avLst>
          </a:prstGeom>
          <a:solidFill xmlns:a="http://schemas.openxmlformats.org/drawingml/2006/main">
            <a:srgbClr val="DDECE6"/>
          </a:solidFill>
          <a:ln xmlns:a="http://schemas.openxmlformats.org/drawingml/2006/main" w="0">
            <a:noFill/>
            <a:prstDash val="solid"/>
          </a:ln>
        </p:spPr>
      </p:sp>
      <p:sp>
        <p:nvSpPr>
          <p:cNvPr id="19" name="data-boundary">
            <a:extLst xmlns:a="http://schemas.openxmlformats.org/drawingml/2006/main">
              <a:ext uri="{FF2B5EF4-FFF2-40B4-BE49-F238E27FC236}">
                <a16:creationId xmlns:a16="http://schemas.microsoft.com/office/drawing/2014/main" id="{568756CD-4C22-4265-8F34-CE83261FAE7E}"/>
              </a:ext>
            </a:extLst>
          </p:cNvPr>
          <p:cNvSpPr>
            <a:spLocks xmlns:a="http://schemas.openxmlformats.org/drawingml/2006/main" noGrp="1"/>
          </p:cNvSpPr>
          <p:nvPr/>
        </p:nvSpPr>
        <p:spPr>
          <a:xfrm xmlns:a="http://schemas.openxmlformats.org/drawingml/2006/main">
            <a:off x="7791450" y="22669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647C68"/>
                </a:solidFill>
                <a:latin typeface="Arial"/>
                <a:ea typeface="Arial"/>
                <a:cs typeface="Arial"/>
              </a:defRPr>
            </a:pPr>
            <a:r>
              <a:rPr sz="900" b="1">
                <a:solidFill>
                  <a:srgbClr val="647C68"/>
                </a:solidFill>
                <a:latin typeface="Arial"/>
                <a:ea typeface="Arial"/>
                <a:cs typeface="Arial"/>
              </a:rPr>
              <a:t>DATA BOUNDARY</a:t>
            </a:r>
          </a:p>
        </p:txBody>
      </p:sp>
      <p:sp>
        <p:nvSpPr>
          <p:cNvPr id="20" name="report-boundary-title">
            <a:extLst xmlns:a="http://schemas.openxmlformats.org/drawingml/2006/main">
              <a:ext uri="{FF2B5EF4-FFF2-40B4-BE49-F238E27FC236}">
                <a16:creationId xmlns:a16="http://schemas.microsoft.com/office/drawing/2014/main" id="{2F96DF93-CB8A-4AAA-A154-63DC24480ABC}"/>
              </a:ext>
            </a:extLst>
          </p:cNvPr>
          <p:cNvSpPr>
            <a:spLocks xmlns:a="http://schemas.openxmlformats.org/drawingml/2006/main" noGrp="1"/>
          </p:cNvSpPr>
          <p:nvPr/>
        </p:nvSpPr>
        <p:spPr>
          <a:xfrm xmlns:a="http://schemas.openxmlformats.org/drawingml/2006/main">
            <a:off x="7791450" y="2619375"/>
            <a:ext cx="3190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002"/>
          </a:bodyPr>
          <a:lstStyle xmlns:a="http://schemas.openxmlformats.org/drawingml/2006/main"/>
          <a:p xmlns:a="http://schemas.openxmlformats.org/drawingml/2006/main">
            <a:pPr algn="l">
              <a:lnSpc>
                <a:spcPct val="102000"/>
              </a:lnSpc>
              <a:buNone/>
              <a:defRPr sz="1950" b="1">
                <a:solidFill>
                  <a:srgbClr val="173D31"/>
                </a:solidFill>
                <a:latin typeface="Arial"/>
                <a:ea typeface="Arial"/>
                <a:cs typeface="Arial"/>
              </a:defRPr>
            </a:pPr>
            <a:r>
              <a:rPr sz="1950" b="1">
                <a:solidFill>
                  <a:srgbClr val="173D31"/>
                </a:solidFill>
                <a:latin typeface="Arial"/>
                <a:ea typeface="Arial"/>
                <a:cs typeface="Arial"/>
              </a:rPr>
              <a:t>Recorded use is not the same as proven waste reduction.</a:t>
            </a:r>
          </a:p>
        </p:txBody>
      </p:sp>
      <p:sp>
        <p:nvSpPr>
          <p:cNvPr id="21" name="report-boundary-copy">
            <a:extLst xmlns:a="http://schemas.openxmlformats.org/drawingml/2006/main">
              <a:ext uri="{FF2B5EF4-FFF2-40B4-BE49-F238E27FC236}">
                <a16:creationId xmlns:a16="http://schemas.microsoft.com/office/drawing/2014/main" id="{E0D05194-693D-43D5-BD91-318A0EAFAF98}"/>
              </a:ext>
            </a:extLst>
          </p:cNvPr>
          <p:cNvSpPr>
            <a:spLocks xmlns:a="http://schemas.openxmlformats.org/drawingml/2006/main" noGrp="1"/>
          </p:cNvSpPr>
          <p:nvPr/>
        </p:nvSpPr>
        <p:spPr>
          <a:xfrm xmlns:a="http://schemas.openxmlformats.org/drawingml/2006/main">
            <a:off x="7791450" y="3619500"/>
            <a:ext cx="3143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Show the period, price coverage and event definitions. Keep estimates separate from recorded counts.</a:t>
            </a:r>
          </a:p>
        </p:txBody>
      </p:sp>
      <p:sp>
        <p:nvSpPr>
          <p:cNvPr id="22" name="report-code">
            <a:extLst xmlns:a="http://schemas.openxmlformats.org/drawingml/2006/main">
              <a:ext uri="{FF2B5EF4-FFF2-40B4-BE49-F238E27FC236}">
                <a16:creationId xmlns:a16="http://schemas.microsoft.com/office/drawing/2014/main" id="{479E7916-8AE8-4B35-AE68-9623B270BCF4}"/>
              </a:ext>
            </a:extLst>
          </p:cNvPr>
          <p:cNvSpPr>
            <a:spLocks xmlns:a="http://schemas.openxmlformats.org/drawingml/2006/main" noGrp="1"/>
          </p:cNvSpPr>
          <p:nvPr/>
        </p:nvSpPr>
        <p:spPr>
          <a:xfrm xmlns:a="http://schemas.openxmlformats.org/drawingml/2006/main">
            <a:off x="781050" y="5953125"/>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0">
                <a:solidFill>
                  <a:srgbClr val="61766D"/>
                </a:solidFill>
                <a:latin typeface="Arial"/>
                <a:ea typeface="Arial"/>
                <a:cs typeface="Arial"/>
              </a:defRPr>
            </a:pPr>
            <a:r>
              <a:rPr sz="1050" b="0">
                <a:solidFill>
                  <a:srgbClr val="61766D"/>
                </a:solidFill>
                <a:latin typeface="Arial"/>
                <a:ea typeface="Arial"/>
                <a:cs typeface="Arial"/>
              </a:rPr>
              <a:t>Current path: AchievementStageReport.tsx + /api/achievements/report</a:t>
            </a:r>
          </a:p>
        </p:txBody>
      </p:sp>
      <p:sp>
        <p:nvSpPr>
          <p:cNvPr id="23" name="footer-rule">
            <a:extLst xmlns:a="http://schemas.openxmlformats.org/drawingml/2006/main">
              <a:ext uri="{FF2B5EF4-FFF2-40B4-BE49-F238E27FC236}">
                <a16:creationId xmlns:a16="http://schemas.microsoft.com/office/drawing/2014/main" id="{2999F986-3FDF-40E4-85E9-C1CD0D0D672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24" name="footer-label">
            <a:extLst xmlns:a="http://schemas.openxmlformats.org/drawingml/2006/main">
              <a:ext uri="{FF2B5EF4-FFF2-40B4-BE49-F238E27FC236}">
                <a16:creationId xmlns:a16="http://schemas.microsoft.com/office/drawing/2014/main" id="{EF9D9F1C-9D1A-44D7-9B70-7AEA448FC70B}"/>
              </a:ext>
            </a:extLst>
          </p:cNvPr>
          <p:cNvSpPr>
            <a:spLocks xmlns:a="http://schemas.openxmlformats.org/drawingml/2006/main" noGrp="1"/>
          </p:cNvSpPr>
          <p:nvPr/>
        </p:nvSpPr>
        <p:spPr>
          <a:xfrm xmlns:a="http://schemas.openxmlformats.org/drawingml/2006/main">
            <a:off x="685800" y="6543675"/>
            <a:ext cx="581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KitchMemo  |  Iteration 3 Product Discovery</a:t>
            </a:r>
          </a:p>
        </p:txBody>
      </p:sp>
      <p:sp>
        <p:nvSpPr>
          <p:cNvPr id="25" name="footer-number">
            <a:extLst xmlns:a="http://schemas.openxmlformats.org/drawingml/2006/main">
              <a:ext uri="{FF2B5EF4-FFF2-40B4-BE49-F238E27FC236}">
                <a16:creationId xmlns:a16="http://schemas.microsoft.com/office/drawing/2014/main" id="{0ED34FA7-2D5F-45AC-8820-DC60FA7FEB0E}"/>
              </a:ext>
            </a:extLst>
          </p:cNvPr>
          <p:cNvSpPr>
            <a:spLocks xmlns:a="http://schemas.openxmlformats.org/drawingml/2006/main" noGrp="1"/>
          </p:cNvSpPr>
          <p:nvPr/>
        </p:nvSpPr>
        <p:spPr>
          <a:xfrm xmlns:a="http://schemas.openxmlformats.org/drawingml/2006/main">
            <a:off x="1114425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08</a:t>
            </a:r>
          </a:p>
        </p:txBody>
      </p:sp>
    </p:spTree>
    <p:extLst>
      <p:ext uri="{BB962C8B-B14F-4D97-AF65-F5344CB8AC3E}">
        <p14:creationId xmlns:p14="http://schemas.microsoft.com/office/powerpoint/2010/main" val="1168586547"/>
      </p:ext>
    </p:extLst>
  </p:cSld>
</p:sld>
</file>

<file path=ppt/slides/slide9.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27" name="section">
            <a:extLst xmlns:a="http://schemas.openxmlformats.org/drawingml/2006/main">
              <a:ext uri="{FF2B5EF4-FFF2-40B4-BE49-F238E27FC236}">
                <a16:creationId xmlns:a16="http://schemas.microsoft.com/office/drawing/2014/main" id="{80159C6F-84E4-42E3-897C-9E26680EDC79}"/>
              </a:ext>
            </a:extLst>
          </p:cNvPr>
          <p:cNvSpPr>
            <a:spLocks xmlns:a="http://schemas.openxmlformats.org/drawingml/2006/main" noGrp="1"/>
          </p:cNvSpPr>
          <p:nvPr/>
        </p:nvSpPr>
        <p:spPr>
          <a:xfrm xmlns:a="http://schemas.openxmlformats.org/drawingml/2006/main">
            <a:off x="685800" y="276225"/>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647C68"/>
                </a:solidFill>
                <a:latin typeface="Arial"/>
                <a:ea typeface="Arial"/>
                <a:cs typeface="Arial"/>
              </a:defRPr>
            </a:pPr>
            <a:r>
              <a:rPr sz="975" b="1">
                <a:solidFill>
                  <a:srgbClr val="647C68"/>
                </a:solidFill>
                <a:latin typeface="Arial"/>
                <a:ea typeface="Arial"/>
                <a:cs typeface="Arial"/>
              </a:rPr>
              <a:t>NEW FEATURE | HOUSEHOLD COORDINATION</a:t>
            </a:r>
          </a:p>
        </p:txBody>
      </p:sp>
      <p:sp>
        <p:nvSpPr>
          <p:cNvPr id="2" name="page">
            <a:extLst xmlns:a="http://schemas.openxmlformats.org/drawingml/2006/main">
              <a:ext uri="{FF2B5EF4-FFF2-40B4-BE49-F238E27FC236}">
                <a16:creationId xmlns:a16="http://schemas.microsoft.com/office/drawing/2014/main" id="{7037FCCF-4552-4967-B83D-1E956086C2B1}"/>
              </a:ext>
            </a:extLst>
          </p:cNvPr>
          <p:cNvSpPr>
            <a:spLocks xmlns:a="http://schemas.openxmlformats.org/drawingml/2006/main" noGrp="1"/>
          </p:cNvSpPr>
          <p:nvPr/>
        </p:nvSpPr>
        <p:spPr>
          <a:xfrm xmlns:a="http://schemas.openxmlformats.org/drawingml/2006/main">
            <a:off x="11144250" y="2762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975" b="0">
                <a:solidFill>
                  <a:srgbClr val="61766D"/>
                </a:solidFill>
                <a:latin typeface="Arial"/>
                <a:ea typeface="Arial"/>
                <a:cs typeface="Arial"/>
              </a:defRPr>
            </a:pPr>
            <a:r>
              <a:rPr sz="975" b="0">
                <a:solidFill>
                  <a:srgbClr val="61766D"/>
                </a:solidFill>
                <a:latin typeface="Arial"/>
                <a:ea typeface="Arial"/>
                <a:cs typeface="Arial"/>
              </a:rPr>
              <a:t>09</a:t>
            </a:r>
          </a:p>
        </p:txBody>
      </p:sp>
      <p:sp>
        <p:nvSpPr>
          <p:cNvPr id="3" name="title">
            <a:extLst xmlns:a="http://schemas.openxmlformats.org/drawingml/2006/main">
              <a:ext uri="{FF2B5EF4-FFF2-40B4-BE49-F238E27FC236}">
                <a16:creationId xmlns:a16="http://schemas.microsoft.com/office/drawing/2014/main" id="{D85E7EF7-0B40-4676-8D67-116706B5B764}"/>
              </a:ext>
            </a:extLst>
          </p:cNvPr>
          <p:cNvSpPr>
            <a:spLocks xmlns:a="http://schemas.openxmlformats.org/drawingml/2006/main" noGrp="1"/>
          </p:cNvSpPr>
          <p:nvPr/>
        </p:nvSpPr>
        <p:spPr>
          <a:xfrm xmlns:a="http://schemas.openxmlformats.org/drawingml/2006/main">
            <a:off x="685800" y="600075"/>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925" b="1">
                <a:solidFill>
                  <a:srgbClr val="173D31"/>
                </a:solidFill>
                <a:latin typeface="Arial"/>
                <a:ea typeface="Arial"/>
                <a:cs typeface="Arial"/>
              </a:defRPr>
            </a:pPr>
            <a:r>
              <a:rPr sz="2925" b="1">
                <a:solidFill>
                  <a:srgbClr val="173D31"/>
                </a:solidFill>
                <a:latin typeface="Arial"/>
                <a:ea typeface="Arial"/>
                <a:cs typeface="Arial"/>
              </a:rPr>
              <a:t>A shared fridge gives the household one food view</a:t>
            </a:r>
          </a:p>
        </p:txBody>
      </p:sp>
      <p:sp>
        <p:nvSpPr>
          <p:cNvPr id="4" name="subtitle">
            <a:extLst xmlns:a="http://schemas.openxmlformats.org/drawingml/2006/main">
              <a:ext uri="{FF2B5EF4-FFF2-40B4-BE49-F238E27FC236}">
                <a16:creationId xmlns:a16="http://schemas.microsoft.com/office/drawing/2014/main" id="{E6B0241E-5042-497A-A0E3-767F641C085A}"/>
              </a:ext>
            </a:extLst>
          </p:cNvPr>
          <p:cNvSpPr>
            <a:spLocks xmlns:a="http://schemas.openxmlformats.org/drawingml/2006/main" noGrp="1"/>
          </p:cNvSpPr>
          <p:nvPr/>
        </p:nvSpPr>
        <p:spPr>
          <a:xfrm xmlns:a="http://schemas.openxmlformats.org/drawingml/2006/main">
            <a:off x="685800" y="11811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Iteration 3 brings household coordination into the product plan.</a:t>
            </a:r>
          </a:p>
        </p:txBody>
      </p:sp>
      <p:sp>
        <p:nvSpPr>
          <p:cNvPr id="5" name="sharing-number-0">
            <a:extLst xmlns:a="http://schemas.openxmlformats.org/drawingml/2006/main">
              <a:ext uri="{FF2B5EF4-FFF2-40B4-BE49-F238E27FC236}">
                <a16:creationId xmlns:a16="http://schemas.microsoft.com/office/drawing/2014/main" id="{CFB00B68-533D-49DA-A85C-DFFFFFCAD42C}"/>
              </a:ext>
            </a:extLst>
          </p:cNvPr>
          <p:cNvSpPr>
            <a:spLocks xmlns:a="http://schemas.openxmlformats.org/drawingml/2006/main" noGrp="1"/>
          </p:cNvSpPr>
          <p:nvPr/>
        </p:nvSpPr>
        <p:spPr>
          <a:xfrm xmlns:a="http://schemas.openxmlformats.org/drawingml/2006/main">
            <a:off x="685800" y="2047875"/>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1">
                <a:solidFill>
                  <a:srgbClr val="2A8A61"/>
                </a:solidFill>
                <a:latin typeface="Arial"/>
                <a:ea typeface="Arial"/>
                <a:cs typeface="Arial"/>
              </a:defRPr>
            </a:pPr>
            <a:r>
              <a:rPr sz="1800" b="1">
                <a:solidFill>
                  <a:srgbClr val="2A8A61"/>
                </a:solidFill>
                <a:latin typeface="Arial"/>
                <a:ea typeface="Arial"/>
                <a:cs typeface="Arial"/>
              </a:rPr>
              <a:t>01</a:t>
            </a:r>
          </a:p>
        </p:txBody>
      </p:sp>
      <p:sp>
        <p:nvSpPr>
          <p:cNvPr id="6" name="sharing-mark-0">
            <a:extLst xmlns:a="http://schemas.openxmlformats.org/drawingml/2006/main">
              <a:ext uri="{FF2B5EF4-FFF2-40B4-BE49-F238E27FC236}">
                <a16:creationId xmlns:a16="http://schemas.microsoft.com/office/drawing/2014/main" id="{3CF1BAFF-B17B-4C77-A45D-E0CF4C058338}"/>
              </a:ext>
            </a:extLst>
          </p:cNvPr>
          <p:cNvSpPr>
            <a:spLocks xmlns:a="http://schemas.openxmlformats.org/drawingml/2006/main" noGrp="1"/>
          </p:cNvSpPr>
          <p:nvPr/>
        </p:nvSpPr>
        <p:spPr>
          <a:xfrm xmlns:a="http://schemas.openxmlformats.org/drawingml/2006/main">
            <a:off x="685800" y="2505075"/>
            <a:ext cx="2305050" cy="47625"/>
          </a:xfrm>
          <a:prstGeom xmlns:a="http://schemas.openxmlformats.org/drawingml/2006/main" prst="roundRect">
            <a:avLst>
              <a:gd name="adj" fmla="val 40000"/>
            </a:avLst>
          </a:prstGeom>
          <a:solidFill xmlns:a="http://schemas.openxmlformats.org/drawingml/2006/main">
            <a:srgbClr val="647C68"/>
          </a:solidFill>
          <a:ln xmlns:a="http://schemas.openxmlformats.org/drawingml/2006/main" w="0">
            <a:noFill/>
            <a:prstDash val="solid"/>
          </a:ln>
        </p:spPr>
      </p:sp>
      <p:sp>
        <p:nvSpPr>
          <p:cNvPr id="7" name="sharing-title-0">
            <a:extLst xmlns:a="http://schemas.openxmlformats.org/drawingml/2006/main">
              <a:ext uri="{FF2B5EF4-FFF2-40B4-BE49-F238E27FC236}">
                <a16:creationId xmlns:a16="http://schemas.microsoft.com/office/drawing/2014/main" id="{61EC4AD9-3894-43D7-AE02-B659F3E63C8C}"/>
              </a:ext>
            </a:extLst>
          </p:cNvPr>
          <p:cNvSpPr>
            <a:spLocks xmlns:a="http://schemas.openxmlformats.org/drawingml/2006/main" noGrp="1"/>
          </p:cNvSpPr>
          <p:nvPr/>
        </p:nvSpPr>
        <p:spPr>
          <a:xfrm xmlns:a="http://schemas.openxmlformats.org/drawingml/2006/main">
            <a:off x="685800" y="2771775"/>
            <a:ext cx="2333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73D31"/>
                </a:solidFill>
                <a:latin typeface="Arial"/>
                <a:ea typeface="Arial"/>
                <a:cs typeface="Arial"/>
              </a:defRPr>
            </a:pPr>
            <a:r>
              <a:rPr sz="1725" b="1">
                <a:solidFill>
                  <a:srgbClr val="173D31"/>
                </a:solidFill>
                <a:latin typeface="Arial"/>
                <a:ea typeface="Arial"/>
                <a:cs typeface="Arial"/>
              </a:rPr>
              <a:t>Create</a:t>
            </a:r>
          </a:p>
        </p:txBody>
      </p:sp>
      <p:sp>
        <p:nvSpPr>
          <p:cNvPr id="8" name="sharing-copy-0">
            <a:extLst xmlns:a="http://schemas.openxmlformats.org/drawingml/2006/main">
              <a:ext uri="{FF2B5EF4-FFF2-40B4-BE49-F238E27FC236}">
                <a16:creationId xmlns:a16="http://schemas.microsoft.com/office/drawing/2014/main" id="{FD5AFEDB-269F-4E32-88FA-55D10DEBAAA2}"/>
              </a:ext>
            </a:extLst>
          </p:cNvPr>
          <p:cNvSpPr>
            <a:spLocks xmlns:a="http://schemas.openxmlformats.org/drawingml/2006/main" noGrp="1"/>
          </p:cNvSpPr>
          <p:nvPr/>
        </p:nvSpPr>
        <p:spPr>
          <a:xfrm xmlns:a="http://schemas.openxmlformats.org/drawingml/2006/main">
            <a:off x="685800" y="3209925"/>
            <a:ext cx="23431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Name a household fridge</a:t>
            </a:r>
          </a:p>
        </p:txBody>
      </p:sp>
      <p:sp>
        <p:nvSpPr>
          <p:cNvPr id="9" name="sharing-number-1">
            <a:extLst xmlns:a="http://schemas.openxmlformats.org/drawingml/2006/main">
              <a:ext uri="{FF2B5EF4-FFF2-40B4-BE49-F238E27FC236}">
                <a16:creationId xmlns:a16="http://schemas.microsoft.com/office/drawing/2014/main" id="{64F7E870-35EE-4D38-9853-35B399C065E6}"/>
              </a:ext>
            </a:extLst>
          </p:cNvPr>
          <p:cNvSpPr>
            <a:spLocks xmlns:a="http://schemas.openxmlformats.org/drawingml/2006/main" noGrp="1"/>
          </p:cNvSpPr>
          <p:nvPr/>
        </p:nvSpPr>
        <p:spPr>
          <a:xfrm xmlns:a="http://schemas.openxmlformats.org/drawingml/2006/main">
            <a:off x="3429000" y="2047875"/>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1">
                <a:solidFill>
                  <a:srgbClr val="2A8A61"/>
                </a:solidFill>
                <a:latin typeface="Arial"/>
                <a:ea typeface="Arial"/>
                <a:cs typeface="Arial"/>
              </a:defRPr>
            </a:pPr>
            <a:r>
              <a:rPr sz="1800" b="1">
                <a:solidFill>
                  <a:srgbClr val="2A8A61"/>
                </a:solidFill>
                <a:latin typeface="Arial"/>
                <a:ea typeface="Arial"/>
                <a:cs typeface="Arial"/>
              </a:rPr>
              <a:t>02</a:t>
            </a:r>
          </a:p>
        </p:txBody>
      </p:sp>
      <p:sp>
        <p:nvSpPr>
          <p:cNvPr id="10" name="sharing-mark-1">
            <a:extLst xmlns:a="http://schemas.openxmlformats.org/drawingml/2006/main">
              <a:ext uri="{FF2B5EF4-FFF2-40B4-BE49-F238E27FC236}">
                <a16:creationId xmlns:a16="http://schemas.microsoft.com/office/drawing/2014/main" id="{CBBDF095-EBC9-4DF9-A4F7-AB0793D49E99}"/>
              </a:ext>
            </a:extLst>
          </p:cNvPr>
          <p:cNvSpPr>
            <a:spLocks xmlns:a="http://schemas.openxmlformats.org/drawingml/2006/main" noGrp="1"/>
          </p:cNvSpPr>
          <p:nvPr/>
        </p:nvSpPr>
        <p:spPr>
          <a:xfrm xmlns:a="http://schemas.openxmlformats.org/drawingml/2006/main">
            <a:off x="3429000" y="2505075"/>
            <a:ext cx="2305050" cy="47625"/>
          </a:xfrm>
          <a:prstGeom xmlns:a="http://schemas.openxmlformats.org/drawingml/2006/main" prst="roundRect">
            <a:avLst>
              <a:gd name="adj" fmla="val 40000"/>
            </a:avLst>
          </a:prstGeom>
          <a:solidFill xmlns:a="http://schemas.openxmlformats.org/drawingml/2006/main">
            <a:srgbClr val="647C68"/>
          </a:solidFill>
          <a:ln xmlns:a="http://schemas.openxmlformats.org/drawingml/2006/main" w="0">
            <a:noFill/>
            <a:prstDash val="solid"/>
          </a:ln>
        </p:spPr>
      </p:sp>
      <p:sp>
        <p:nvSpPr>
          <p:cNvPr id="11" name="sharing-title-1">
            <a:extLst xmlns:a="http://schemas.openxmlformats.org/drawingml/2006/main">
              <a:ext uri="{FF2B5EF4-FFF2-40B4-BE49-F238E27FC236}">
                <a16:creationId xmlns:a16="http://schemas.microsoft.com/office/drawing/2014/main" id="{D0939671-FB16-4E35-9C98-CB514B505D1E}"/>
              </a:ext>
            </a:extLst>
          </p:cNvPr>
          <p:cNvSpPr>
            <a:spLocks xmlns:a="http://schemas.openxmlformats.org/drawingml/2006/main" noGrp="1"/>
          </p:cNvSpPr>
          <p:nvPr/>
        </p:nvSpPr>
        <p:spPr>
          <a:xfrm xmlns:a="http://schemas.openxmlformats.org/drawingml/2006/main">
            <a:off x="3429000" y="2771775"/>
            <a:ext cx="2333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73D31"/>
                </a:solidFill>
                <a:latin typeface="Arial"/>
                <a:ea typeface="Arial"/>
                <a:cs typeface="Arial"/>
              </a:defRPr>
            </a:pPr>
            <a:r>
              <a:rPr sz="1725" b="1">
                <a:solidFill>
                  <a:srgbClr val="173D31"/>
                </a:solidFill>
                <a:latin typeface="Arial"/>
                <a:ea typeface="Arial"/>
                <a:cs typeface="Arial"/>
              </a:rPr>
              <a:t>Invite</a:t>
            </a:r>
          </a:p>
        </p:txBody>
      </p:sp>
      <p:sp>
        <p:nvSpPr>
          <p:cNvPr id="12" name="sharing-copy-1">
            <a:extLst xmlns:a="http://schemas.openxmlformats.org/drawingml/2006/main">
              <a:ext uri="{FF2B5EF4-FFF2-40B4-BE49-F238E27FC236}">
                <a16:creationId xmlns:a16="http://schemas.microsoft.com/office/drawing/2014/main" id="{91676FF6-FC06-497C-9A35-459CCC36D638}"/>
              </a:ext>
            </a:extLst>
          </p:cNvPr>
          <p:cNvSpPr>
            <a:spLocks xmlns:a="http://schemas.openxmlformats.org/drawingml/2006/main" noGrp="1"/>
          </p:cNvSpPr>
          <p:nvPr/>
        </p:nvSpPr>
        <p:spPr>
          <a:xfrm xmlns:a="http://schemas.openxmlformats.org/drawingml/2006/main">
            <a:off x="3429000" y="3209925"/>
            <a:ext cx="23431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Share a QR code or invite code</a:t>
            </a:r>
          </a:p>
        </p:txBody>
      </p:sp>
      <p:sp>
        <p:nvSpPr>
          <p:cNvPr id="13" name="sharing-number-2">
            <a:extLst xmlns:a="http://schemas.openxmlformats.org/drawingml/2006/main">
              <a:ext uri="{FF2B5EF4-FFF2-40B4-BE49-F238E27FC236}">
                <a16:creationId xmlns:a16="http://schemas.microsoft.com/office/drawing/2014/main" id="{4AE0C2A0-4FEB-46FF-A173-D5985BF0A7B3}"/>
              </a:ext>
            </a:extLst>
          </p:cNvPr>
          <p:cNvSpPr>
            <a:spLocks xmlns:a="http://schemas.openxmlformats.org/drawingml/2006/main" noGrp="1"/>
          </p:cNvSpPr>
          <p:nvPr/>
        </p:nvSpPr>
        <p:spPr>
          <a:xfrm xmlns:a="http://schemas.openxmlformats.org/drawingml/2006/main">
            <a:off x="6172200" y="2047875"/>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1">
                <a:solidFill>
                  <a:srgbClr val="2A8A61"/>
                </a:solidFill>
                <a:latin typeface="Arial"/>
                <a:ea typeface="Arial"/>
                <a:cs typeface="Arial"/>
              </a:defRPr>
            </a:pPr>
            <a:r>
              <a:rPr sz="1800" b="1">
                <a:solidFill>
                  <a:srgbClr val="2A8A61"/>
                </a:solidFill>
                <a:latin typeface="Arial"/>
                <a:ea typeface="Arial"/>
                <a:cs typeface="Arial"/>
              </a:rPr>
              <a:t>03</a:t>
            </a:r>
          </a:p>
        </p:txBody>
      </p:sp>
      <p:sp>
        <p:nvSpPr>
          <p:cNvPr id="14" name="sharing-mark-2">
            <a:extLst xmlns:a="http://schemas.openxmlformats.org/drawingml/2006/main">
              <a:ext uri="{FF2B5EF4-FFF2-40B4-BE49-F238E27FC236}">
                <a16:creationId xmlns:a16="http://schemas.microsoft.com/office/drawing/2014/main" id="{06E8BF15-E715-4CDA-8E92-E0C9C58ABB69}"/>
              </a:ext>
            </a:extLst>
          </p:cNvPr>
          <p:cNvSpPr>
            <a:spLocks xmlns:a="http://schemas.openxmlformats.org/drawingml/2006/main" noGrp="1"/>
          </p:cNvSpPr>
          <p:nvPr/>
        </p:nvSpPr>
        <p:spPr>
          <a:xfrm xmlns:a="http://schemas.openxmlformats.org/drawingml/2006/main">
            <a:off x="6172200" y="2505075"/>
            <a:ext cx="2305050" cy="47625"/>
          </a:xfrm>
          <a:prstGeom xmlns:a="http://schemas.openxmlformats.org/drawingml/2006/main" prst="roundRect">
            <a:avLst>
              <a:gd name="adj" fmla="val 40000"/>
            </a:avLst>
          </a:prstGeom>
          <a:solidFill xmlns:a="http://schemas.openxmlformats.org/drawingml/2006/main">
            <a:srgbClr val="647C68"/>
          </a:solidFill>
          <a:ln xmlns:a="http://schemas.openxmlformats.org/drawingml/2006/main" w="0">
            <a:noFill/>
            <a:prstDash val="solid"/>
          </a:ln>
        </p:spPr>
      </p:sp>
      <p:sp>
        <p:nvSpPr>
          <p:cNvPr id="15" name="sharing-title-2">
            <a:extLst xmlns:a="http://schemas.openxmlformats.org/drawingml/2006/main">
              <a:ext uri="{FF2B5EF4-FFF2-40B4-BE49-F238E27FC236}">
                <a16:creationId xmlns:a16="http://schemas.microsoft.com/office/drawing/2014/main" id="{3F3F0559-69FD-49DA-A11A-DB89452068F1}"/>
              </a:ext>
            </a:extLst>
          </p:cNvPr>
          <p:cNvSpPr>
            <a:spLocks xmlns:a="http://schemas.openxmlformats.org/drawingml/2006/main" noGrp="1"/>
          </p:cNvSpPr>
          <p:nvPr/>
        </p:nvSpPr>
        <p:spPr>
          <a:xfrm xmlns:a="http://schemas.openxmlformats.org/drawingml/2006/main">
            <a:off x="6172200" y="2771775"/>
            <a:ext cx="2333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73D31"/>
                </a:solidFill>
                <a:latin typeface="Arial"/>
                <a:ea typeface="Arial"/>
                <a:cs typeface="Arial"/>
              </a:defRPr>
            </a:pPr>
            <a:r>
              <a:rPr sz="1725" b="1">
                <a:solidFill>
                  <a:srgbClr val="173D31"/>
                </a:solidFill>
                <a:latin typeface="Arial"/>
                <a:ea typeface="Arial"/>
                <a:cs typeface="Arial"/>
              </a:rPr>
              <a:t>Join</a:t>
            </a:r>
          </a:p>
        </p:txBody>
      </p:sp>
      <p:sp>
        <p:nvSpPr>
          <p:cNvPr id="16" name="sharing-copy-2">
            <a:extLst xmlns:a="http://schemas.openxmlformats.org/drawingml/2006/main">
              <a:ext uri="{FF2B5EF4-FFF2-40B4-BE49-F238E27FC236}">
                <a16:creationId xmlns:a16="http://schemas.microsoft.com/office/drawing/2014/main" id="{3A47E0B2-2761-4348-B1AC-0D641F3D7919}"/>
              </a:ext>
            </a:extLst>
          </p:cNvPr>
          <p:cNvSpPr>
            <a:spLocks xmlns:a="http://schemas.openxmlformats.org/drawingml/2006/main" noGrp="1"/>
          </p:cNvSpPr>
          <p:nvPr/>
        </p:nvSpPr>
        <p:spPr>
          <a:xfrm xmlns:a="http://schemas.openxmlformats.org/drawingml/2006/main">
            <a:off x="6172200" y="3209925"/>
            <a:ext cx="23431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A member joins the same fridge</a:t>
            </a:r>
          </a:p>
        </p:txBody>
      </p:sp>
      <p:sp>
        <p:nvSpPr>
          <p:cNvPr id="17" name="sharing-number-3">
            <a:extLst xmlns:a="http://schemas.openxmlformats.org/drawingml/2006/main">
              <a:ext uri="{FF2B5EF4-FFF2-40B4-BE49-F238E27FC236}">
                <a16:creationId xmlns:a16="http://schemas.microsoft.com/office/drawing/2014/main" id="{00C2CDC5-195E-419C-B2F0-9CE2E9310B64}"/>
              </a:ext>
            </a:extLst>
          </p:cNvPr>
          <p:cNvSpPr>
            <a:spLocks xmlns:a="http://schemas.openxmlformats.org/drawingml/2006/main" noGrp="1"/>
          </p:cNvSpPr>
          <p:nvPr/>
        </p:nvSpPr>
        <p:spPr>
          <a:xfrm xmlns:a="http://schemas.openxmlformats.org/drawingml/2006/main">
            <a:off x="8915400" y="2047875"/>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1">
                <a:solidFill>
                  <a:srgbClr val="D47B21"/>
                </a:solidFill>
                <a:latin typeface="Arial"/>
                <a:ea typeface="Arial"/>
                <a:cs typeface="Arial"/>
              </a:defRPr>
            </a:pPr>
            <a:r>
              <a:rPr sz="1800" b="1">
                <a:solidFill>
                  <a:srgbClr val="D47B21"/>
                </a:solidFill>
                <a:latin typeface="Arial"/>
                <a:ea typeface="Arial"/>
                <a:cs typeface="Arial"/>
              </a:rPr>
              <a:t>04</a:t>
            </a:r>
          </a:p>
        </p:txBody>
      </p:sp>
      <p:sp>
        <p:nvSpPr>
          <p:cNvPr id="18" name="sharing-mark-3">
            <a:extLst xmlns:a="http://schemas.openxmlformats.org/drawingml/2006/main">
              <a:ext uri="{FF2B5EF4-FFF2-40B4-BE49-F238E27FC236}">
                <a16:creationId xmlns:a16="http://schemas.microsoft.com/office/drawing/2014/main" id="{038B4F13-1D19-4777-855C-04ADAE154FEA}"/>
              </a:ext>
            </a:extLst>
          </p:cNvPr>
          <p:cNvSpPr>
            <a:spLocks xmlns:a="http://schemas.openxmlformats.org/drawingml/2006/main" noGrp="1"/>
          </p:cNvSpPr>
          <p:nvPr/>
        </p:nvSpPr>
        <p:spPr>
          <a:xfrm xmlns:a="http://schemas.openxmlformats.org/drawingml/2006/main">
            <a:off x="8915400" y="2505075"/>
            <a:ext cx="2305050" cy="47625"/>
          </a:xfrm>
          <a:prstGeom xmlns:a="http://schemas.openxmlformats.org/drawingml/2006/main" prst="roundRect">
            <a:avLst>
              <a:gd name="adj" fmla="val 40000"/>
            </a:avLst>
          </a:prstGeom>
          <a:solidFill xmlns:a="http://schemas.openxmlformats.org/drawingml/2006/main">
            <a:srgbClr val="D47B21"/>
          </a:solidFill>
          <a:ln xmlns:a="http://schemas.openxmlformats.org/drawingml/2006/main" w="0">
            <a:noFill/>
            <a:prstDash val="solid"/>
          </a:ln>
        </p:spPr>
      </p:sp>
      <p:sp>
        <p:nvSpPr>
          <p:cNvPr id="19" name="sharing-title-3">
            <a:extLst xmlns:a="http://schemas.openxmlformats.org/drawingml/2006/main">
              <a:ext uri="{FF2B5EF4-FFF2-40B4-BE49-F238E27FC236}">
                <a16:creationId xmlns:a16="http://schemas.microsoft.com/office/drawing/2014/main" id="{5E1BEAA5-DDC6-4BF6-AB44-7DDBAC8F4C34}"/>
              </a:ext>
            </a:extLst>
          </p:cNvPr>
          <p:cNvSpPr>
            <a:spLocks xmlns:a="http://schemas.openxmlformats.org/drawingml/2006/main" noGrp="1"/>
          </p:cNvSpPr>
          <p:nvPr/>
        </p:nvSpPr>
        <p:spPr>
          <a:xfrm xmlns:a="http://schemas.openxmlformats.org/drawingml/2006/main">
            <a:off x="8915400" y="2771775"/>
            <a:ext cx="2333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73D31"/>
                </a:solidFill>
                <a:latin typeface="Arial"/>
                <a:ea typeface="Arial"/>
                <a:cs typeface="Arial"/>
              </a:defRPr>
            </a:pPr>
            <a:r>
              <a:rPr sz="1725" b="1">
                <a:solidFill>
                  <a:srgbClr val="173D31"/>
                </a:solidFill>
                <a:latin typeface="Arial"/>
                <a:ea typeface="Arial"/>
                <a:cs typeface="Arial"/>
              </a:rPr>
              <a:t>Coordinate</a:t>
            </a:r>
          </a:p>
        </p:txBody>
      </p:sp>
      <p:sp>
        <p:nvSpPr>
          <p:cNvPr id="20" name="sharing-copy-3">
            <a:extLst xmlns:a="http://schemas.openxmlformats.org/drawingml/2006/main">
              <a:ext uri="{FF2B5EF4-FFF2-40B4-BE49-F238E27FC236}">
                <a16:creationId xmlns:a16="http://schemas.microsoft.com/office/drawing/2014/main" id="{6A498A34-A87F-436A-AAF0-0A019BDC0E2A}"/>
              </a:ext>
            </a:extLst>
          </p:cNvPr>
          <p:cNvSpPr>
            <a:spLocks xmlns:a="http://schemas.openxmlformats.org/drawingml/2006/main" noGrp="1"/>
          </p:cNvSpPr>
          <p:nvPr/>
        </p:nvSpPr>
        <p:spPr>
          <a:xfrm xmlns:a="http://schemas.openxmlformats.org/drawingml/2006/main">
            <a:off x="8915400" y="3209925"/>
            <a:ext cx="23431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Use one shared inventory and shopping context</a:t>
            </a:r>
          </a:p>
        </p:txBody>
      </p:sp>
      <p:sp>
        <p:nvSpPr>
          <p:cNvPr id="21" name="sharing-value">
            <a:extLst xmlns:a="http://schemas.openxmlformats.org/drawingml/2006/main">
              <a:ext uri="{FF2B5EF4-FFF2-40B4-BE49-F238E27FC236}">
                <a16:creationId xmlns:a16="http://schemas.microsoft.com/office/drawing/2014/main" id="{DD4A7B9D-1AD6-48F1-80AF-D9D6358A1CFE}"/>
              </a:ext>
            </a:extLst>
          </p:cNvPr>
          <p:cNvSpPr>
            <a:spLocks xmlns:a="http://schemas.openxmlformats.org/drawingml/2006/main" noGrp="1"/>
          </p:cNvSpPr>
          <p:nvPr/>
        </p:nvSpPr>
        <p:spPr>
          <a:xfrm xmlns:a="http://schemas.openxmlformats.org/drawingml/2006/main">
            <a:off x="685800" y="4591050"/>
            <a:ext cx="10820400" cy="1066800"/>
          </a:xfrm>
          <a:prstGeom xmlns:a="http://schemas.openxmlformats.org/drawingml/2006/main" prst="roundRect">
            <a:avLst>
              <a:gd name="adj" fmla="val 14286"/>
            </a:avLst>
          </a:prstGeom>
          <a:solidFill xmlns:a="http://schemas.openxmlformats.org/drawingml/2006/main">
            <a:srgbClr val="F3EFE6"/>
          </a:solidFill>
          <a:ln xmlns:a="http://schemas.openxmlformats.org/drawingml/2006/main" w="0">
            <a:noFill/>
            <a:prstDash val="solid"/>
          </a:ln>
        </p:spPr>
      </p:sp>
      <p:sp>
        <p:nvSpPr>
          <p:cNvPr id="22" name="sharing-label">
            <a:extLst xmlns:a="http://schemas.openxmlformats.org/drawingml/2006/main">
              <a:ext uri="{FF2B5EF4-FFF2-40B4-BE49-F238E27FC236}">
                <a16:creationId xmlns:a16="http://schemas.microsoft.com/office/drawing/2014/main" id="{6C79E574-A986-44E7-BA8B-6D6E48B5096A}"/>
              </a:ext>
            </a:extLst>
          </p:cNvPr>
          <p:cNvSpPr>
            <a:spLocks xmlns:a="http://schemas.openxmlformats.org/drawingml/2006/main" noGrp="1"/>
          </p:cNvSpPr>
          <p:nvPr/>
        </p:nvSpPr>
        <p:spPr>
          <a:xfrm xmlns:a="http://schemas.openxmlformats.org/drawingml/2006/main">
            <a:off x="971550" y="48006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a:solidFill>
                  <a:srgbClr val="647C68"/>
                </a:solidFill>
                <a:latin typeface="Arial"/>
                <a:ea typeface="Arial"/>
                <a:cs typeface="Arial"/>
              </a:defRPr>
            </a:pPr>
            <a:r>
              <a:rPr sz="1050" b="1">
                <a:solidFill>
                  <a:srgbClr val="647C68"/>
                </a:solidFill>
                <a:latin typeface="Arial"/>
                <a:ea typeface="Arial"/>
                <a:cs typeface="Arial"/>
              </a:rPr>
              <a:t>PRODUCT VALUE</a:t>
            </a:r>
          </a:p>
        </p:txBody>
      </p:sp>
      <p:sp>
        <p:nvSpPr>
          <p:cNvPr id="23" name="sharing-benefit">
            <a:extLst xmlns:a="http://schemas.openxmlformats.org/drawingml/2006/main">
              <a:ext uri="{FF2B5EF4-FFF2-40B4-BE49-F238E27FC236}">
                <a16:creationId xmlns:a16="http://schemas.microsoft.com/office/drawing/2014/main" id="{9FBD36BA-A1AC-4460-9F8A-C06B389119B7}"/>
              </a:ext>
            </a:extLst>
          </p:cNvPr>
          <p:cNvSpPr>
            <a:spLocks xmlns:a="http://schemas.openxmlformats.org/drawingml/2006/main" noGrp="1"/>
          </p:cNvSpPr>
          <p:nvPr/>
        </p:nvSpPr>
        <p:spPr>
          <a:xfrm xmlns:a="http://schemas.openxmlformats.org/drawingml/2006/main">
            <a:off x="971550" y="5114925"/>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28"/>
          </a:bodyPr>
          <a:lstStyle xmlns:a="http://schemas.openxmlformats.org/drawingml/2006/main"/>
          <a:p xmlns:a="http://schemas.openxmlformats.org/drawingml/2006/main">
            <a:pPr algn="l">
              <a:lnSpc>
                <a:spcPct val="102000"/>
              </a:lnSpc>
              <a:buNone/>
              <a:defRPr sz="1725" b="1">
                <a:solidFill>
                  <a:srgbClr val="173D31"/>
                </a:solidFill>
                <a:latin typeface="Arial"/>
                <a:ea typeface="Arial"/>
                <a:cs typeface="Arial"/>
              </a:defRPr>
            </a:pPr>
            <a:r>
              <a:rPr sz="1725" b="1">
                <a:solidFill>
                  <a:srgbClr val="173D31"/>
                </a:solidFill>
                <a:latin typeface="Arial"/>
                <a:ea typeface="Arial"/>
                <a:cs typeface="Arial"/>
              </a:rPr>
              <a:t>Members can coordinate inventory and shopping decisions using the same household context.</a:t>
            </a:r>
          </a:p>
        </p:txBody>
      </p:sp>
      <p:sp>
        <p:nvSpPr>
          <p:cNvPr id="24" name="footer-rule">
            <a:extLst xmlns:a="http://schemas.openxmlformats.org/drawingml/2006/main">
              <a:ext uri="{FF2B5EF4-FFF2-40B4-BE49-F238E27FC236}">
                <a16:creationId xmlns:a16="http://schemas.microsoft.com/office/drawing/2014/main" id="{698A48A7-A3A6-4BEB-93A6-3076B960088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25" name="footer-label">
            <a:extLst xmlns:a="http://schemas.openxmlformats.org/drawingml/2006/main">
              <a:ext uri="{FF2B5EF4-FFF2-40B4-BE49-F238E27FC236}">
                <a16:creationId xmlns:a16="http://schemas.microsoft.com/office/drawing/2014/main" id="{E56BA16B-A647-45D6-92B6-B24BD9462753}"/>
              </a:ext>
            </a:extLst>
          </p:cNvPr>
          <p:cNvSpPr>
            <a:spLocks xmlns:a="http://schemas.openxmlformats.org/drawingml/2006/main" noGrp="1"/>
          </p:cNvSpPr>
          <p:nvPr/>
        </p:nvSpPr>
        <p:spPr>
          <a:xfrm xmlns:a="http://schemas.openxmlformats.org/drawingml/2006/main">
            <a:off x="685800" y="6543675"/>
            <a:ext cx="581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KitchMemo  |  Iteration 3 Product Discovery</a:t>
            </a:r>
          </a:p>
        </p:txBody>
      </p:sp>
      <p:sp>
        <p:nvSpPr>
          <p:cNvPr id="26" name="footer-number">
            <a:extLst xmlns:a="http://schemas.openxmlformats.org/drawingml/2006/main">
              <a:ext uri="{FF2B5EF4-FFF2-40B4-BE49-F238E27FC236}">
                <a16:creationId xmlns:a16="http://schemas.microsoft.com/office/drawing/2014/main" id="{47FFF0FB-AABB-4EA9-9237-4C7E3FC6D890}"/>
              </a:ext>
            </a:extLst>
          </p:cNvPr>
          <p:cNvSpPr>
            <a:spLocks xmlns:a="http://schemas.openxmlformats.org/drawingml/2006/main" noGrp="1"/>
          </p:cNvSpPr>
          <p:nvPr/>
        </p:nvSpPr>
        <p:spPr>
          <a:xfrm xmlns:a="http://schemas.openxmlformats.org/drawingml/2006/main">
            <a:off x="1114425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09</a:t>
            </a:r>
          </a:p>
        </p:txBody>
      </p:sp>
    </p:spTree>
    <p:extLst>
      <p:ext uri="{BB962C8B-B14F-4D97-AF65-F5344CB8AC3E}">
        <p14:creationId xmlns:p14="http://schemas.microsoft.com/office/powerpoint/2010/main" val="1089574495"/>
      </p:ext>
    </p:extLst>
  </p:cSld>
</p:sld>
</file>

<file path=ppt/slides/slide10.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A7DD5B13-3CFD-47BC-B2B5-D62BC4363836}"/>
              </a:ext>
            </a:extLst>
          </p:cNvPr>
          <p:cNvSpPr>
            <a:spLocks xmlns:a="http://schemas.openxmlformats.org/drawingml/2006/main" noGrp="1"/>
          </p:cNvSpPr>
          <p:nvPr/>
        </p:nvSpPr>
        <p:spPr>
          <a:xfrm xmlns:a="http://schemas.openxmlformats.org/drawingml/2006/main">
            <a:off x="685800" y="276225"/>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647C68"/>
                </a:solidFill>
                <a:latin typeface="Arial"/>
                <a:ea typeface="Arial"/>
                <a:cs typeface="Arial"/>
              </a:defRPr>
            </a:pPr>
            <a:r>
              <a:rPr sz="975" b="1">
                <a:solidFill>
                  <a:srgbClr val="647C68"/>
                </a:solidFill>
                <a:latin typeface="Arial"/>
                <a:ea typeface="Arial"/>
                <a:cs typeface="Arial"/>
              </a:rPr>
              <a:t>IMPROVEMENT | ACHIEVEMENTS</a:t>
            </a:r>
          </a:p>
        </p:txBody>
      </p:sp>
      <p:sp>
        <p:nvSpPr>
          <p:cNvPr id="2" name="page">
            <a:extLst xmlns:a="http://schemas.openxmlformats.org/drawingml/2006/main">
              <a:ext uri="{FF2B5EF4-FFF2-40B4-BE49-F238E27FC236}">
                <a16:creationId xmlns:a16="http://schemas.microsoft.com/office/drawing/2014/main" id="{4B748951-A0AA-4468-BE47-EECD042F37B9}"/>
              </a:ext>
            </a:extLst>
          </p:cNvPr>
          <p:cNvSpPr>
            <a:spLocks xmlns:a="http://schemas.openxmlformats.org/drawingml/2006/main" noGrp="1"/>
          </p:cNvSpPr>
          <p:nvPr/>
        </p:nvSpPr>
        <p:spPr>
          <a:xfrm xmlns:a="http://schemas.openxmlformats.org/drawingml/2006/main">
            <a:off x="11144250" y="2762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975" b="0">
                <a:solidFill>
                  <a:srgbClr val="61766D"/>
                </a:solidFill>
                <a:latin typeface="Arial"/>
                <a:ea typeface="Arial"/>
                <a:cs typeface="Arial"/>
              </a:defRPr>
            </a:pPr>
            <a:r>
              <a:rPr sz="975" b="0">
                <a:solidFill>
                  <a:srgbClr val="61766D"/>
                </a:solidFill>
                <a:latin typeface="Arial"/>
                <a:ea typeface="Arial"/>
                <a:cs typeface="Arial"/>
              </a:rPr>
              <a:t>10</a:t>
            </a:r>
          </a:p>
        </p:txBody>
      </p:sp>
      <p:sp>
        <p:nvSpPr>
          <p:cNvPr id="3" name="title">
            <a:extLst xmlns:a="http://schemas.openxmlformats.org/drawingml/2006/main">
              <a:ext uri="{FF2B5EF4-FFF2-40B4-BE49-F238E27FC236}">
                <a16:creationId xmlns:a16="http://schemas.microsoft.com/office/drawing/2014/main" id="{F892B484-801E-45E3-BB8A-B019AB757D67}"/>
              </a:ext>
            </a:extLst>
          </p:cNvPr>
          <p:cNvSpPr>
            <a:spLocks xmlns:a="http://schemas.openxmlformats.org/drawingml/2006/main" noGrp="1"/>
          </p:cNvSpPr>
          <p:nvPr/>
        </p:nvSpPr>
        <p:spPr>
          <a:xfrm xmlns:a="http://schemas.openxmlformats.org/drawingml/2006/main">
            <a:off x="685800" y="600075"/>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925" b="1">
                <a:solidFill>
                  <a:srgbClr val="173D31"/>
                </a:solidFill>
                <a:latin typeface="Arial"/>
                <a:ea typeface="Arial"/>
                <a:cs typeface="Arial"/>
              </a:defRPr>
            </a:pPr>
            <a:r>
              <a:rPr sz="2925" b="1">
                <a:solidFill>
                  <a:srgbClr val="173D31"/>
                </a:solidFill>
                <a:latin typeface="Arial"/>
                <a:ea typeface="Arial"/>
                <a:cs typeface="Arial"/>
              </a:rPr>
              <a:t>Make achievements easier to browse and more rewarding</a:t>
            </a:r>
          </a:p>
        </p:txBody>
      </p:sp>
      <p:sp>
        <p:nvSpPr>
          <p:cNvPr id="4" name="subtitle">
            <a:extLst xmlns:a="http://schemas.openxmlformats.org/drawingml/2006/main">
              <a:ext uri="{FF2B5EF4-FFF2-40B4-BE49-F238E27FC236}">
                <a16:creationId xmlns:a16="http://schemas.microsoft.com/office/drawing/2014/main" id="{AA2F501B-3617-4D9A-9F73-D231E392D934}"/>
              </a:ext>
            </a:extLst>
          </p:cNvPr>
          <p:cNvSpPr>
            <a:spLocks xmlns:a="http://schemas.openxmlformats.org/drawingml/2006/main" noGrp="1"/>
          </p:cNvSpPr>
          <p:nvPr/>
        </p:nvSpPr>
        <p:spPr>
          <a:xfrm xmlns:a="http://schemas.openxmlformats.org/drawingml/2006/main">
            <a:off x="685800" y="11811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The page structure and badge treatment address two different pieces of feedback.</a:t>
            </a:r>
          </a:p>
        </p:txBody>
      </p:sp>
      <p:sp>
        <p:nvSpPr>
          <p:cNvPr id="5" name="page-feedback">
            <a:extLst xmlns:a="http://schemas.openxmlformats.org/drawingml/2006/main">
              <a:ext uri="{FF2B5EF4-FFF2-40B4-BE49-F238E27FC236}">
                <a16:creationId xmlns:a16="http://schemas.microsoft.com/office/drawing/2014/main" id="{35D6BDE9-6077-4C2A-8B51-7D3E8AB5142A}"/>
              </a:ext>
            </a:extLst>
          </p:cNvPr>
          <p:cNvSpPr>
            <a:spLocks xmlns:a="http://schemas.openxmlformats.org/drawingml/2006/main" noGrp="1"/>
          </p:cNvSpPr>
          <p:nvPr/>
        </p:nvSpPr>
        <p:spPr>
          <a:xfrm xmlns:a="http://schemas.openxmlformats.org/drawingml/2006/main">
            <a:off x="742950" y="1809750"/>
            <a:ext cx="4524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647C68"/>
                </a:solidFill>
                <a:latin typeface="Arial"/>
                <a:ea typeface="Arial"/>
                <a:cs typeface="Arial"/>
              </a:defRPr>
            </a:pPr>
            <a:r>
              <a:rPr sz="900" b="1">
                <a:solidFill>
                  <a:srgbClr val="647C68"/>
                </a:solidFill>
                <a:latin typeface="Arial"/>
                <a:ea typeface="Arial"/>
                <a:cs typeface="Arial"/>
              </a:rPr>
              <a:t>PAGE STRUCTURE | MENTOR FEEDBACK</a:t>
            </a:r>
          </a:p>
        </p:txBody>
      </p:sp>
      <p:sp>
        <p:nvSpPr>
          <p:cNvPr id="6" name="page-quote">
            <a:extLst xmlns:a="http://schemas.openxmlformats.org/drawingml/2006/main">
              <a:ext uri="{FF2B5EF4-FFF2-40B4-BE49-F238E27FC236}">
                <a16:creationId xmlns:a16="http://schemas.microsoft.com/office/drawing/2014/main" id="{218D28C1-4AFF-4ACE-BA62-9CFECEBE8698}"/>
              </a:ext>
            </a:extLst>
          </p:cNvPr>
          <p:cNvSpPr>
            <a:spLocks xmlns:a="http://schemas.openxmlformats.org/drawingml/2006/main" noGrp="1"/>
          </p:cNvSpPr>
          <p:nvPr/>
        </p:nvSpPr>
        <p:spPr>
          <a:xfrm xmlns:a="http://schemas.openxmlformats.org/drawingml/2006/main">
            <a:off x="742950" y="2133600"/>
            <a:ext cx="4810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1">
                <a:solidFill>
                  <a:srgbClr val="173D31"/>
                </a:solidFill>
                <a:latin typeface="Arial"/>
                <a:ea typeface="Arial"/>
                <a:cs typeface="Arial"/>
              </a:defRPr>
            </a:pPr>
            <a:r>
              <a:rPr sz="1800" b="1">
                <a:solidFill>
                  <a:srgbClr val="173D31"/>
                </a:solidFill>
                <a:latin typeface="Arial"/>
                <a:ea typeface="Arial"/>
                <a:cs typeface="Arial"/>
              </a:rPr>
              <a:t>“The current page is too long.”</a:t>
            </a:r>
          </a:p>
        </p:txBody>
      </p:sp>
      <p:sp>
        <p:nvSpPr>
          <p:cNvPr id="7" name="page-change">
            <a:extLst xmlns:a="http://schemas.openxmlformats.org/drawingml/2006/main">
              <a:ext uri="{FF2B5EF4-FFF2-40B4-BE49-F238E27FC236}">
                <a16:creationId xmlns:a16="http://schemas.microsoft.com/office/drawing/2014/main" id="{020A5A4D-AF31-411E-9DD6-4037D24A4453}"/>
              </a:ext>
            </a:extLst>
          </p:cNvPr>
          <p:cNvSpPr>
            <a:spLocks xmlns:a="http://schemas.openxmlformats.org/drawingml/2006/main" noGrp="1"/>
          </p:cNvSpPr>
          <p:nvPr/>
        </p:nvSpPr>
        <p:spPr>
          <a:xfrm xmlns:a="http://schemas.openxmlformats.org/drawingml/2006/main">
            <a:off x="742950" y="2771775"/>
            <a:ext cx="476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61766D"/>
                </a:solidFill>
                <a:latin typeface="Arial"/>
                <a:ea typeface="Arial"/>
                <a:cs typeface="Arial"/>
              </a:defRPr>
            </a:pPr>
            <a:r>
              <a:rPr sz="1575" b="0">
                <a:solidFill>
                  <a:srgbClr val="61766D"/>
                </a:solidFill>
                <a:latin typeface="Arial"/>
                <a:ea typeface="Arial"/>
                <a:cs typeface="Arial"/>
              </a:rPr>
              <a:t>Break the long scroll into a clear overview and focused detail views for progress, quests and reports.</a:t>
            </a:r>
          </a:p>
        </p:txBody>
      </p:sp>
      <p:sp>
        <p:nvSpPr>
          <p:cNvPr id="8" name="achieve-divider">
            <a:extLst xmlns:a="http://schemas.openxmlformats.org/drawingml/2006/main">
              <a:ext uri="{FF2B5EF4-FFF2-40B4-BE49-F238E27FC236}">
                <a16:creationId xmlns:a16="http://schemas.microsoft.com/office/drawing/2014/main" id="{32BFC1A3-22A8-45B8-857D-409EB9CF88A2}"/>
              </a:ext>
            </a:extLst>
          </p:cNvPr>
          <p:cNvSpPr>
            <a:spLocks xmlns:a="http://schemas.openxmlformats.org/drawingml/2006/main" noGrp="1"/>
          </p:cNvSpPr>
          <p:nvPr/>
        </p:nvSpPr>
        <p:spPr>
          <a:xfrm xmlns:a="http://schemas.openxmlformats.org/drawingml/2006/main">
            <a:off x="5934075" y="1819275"/>
            <a:ext cx="9525" cy="3714750"/>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9" name="badge-feedback">
            <a:extLst xmlns:a="http://schemas.openxmlformats.org/drawingml/2006/main">
              <a:ext uri="{FF2B5EF4-FFF2-40B4-BE49-F238E27FC236}">
                <a16:creationId xmlns:a16="http://schemas.microsoft.com/office/drawing/2014/main" id="{56E9E9C5-AEC8-4CB7-A027-E5B89675AF03}"/>
              </a:ext>
            </a:extLst>
          </p:cNvPr>
          <p:cNvSpPr>
            <a:spLocks xmlns:a="http://schemas.openxmlformats.org/drawingml/2006/main" noGrp="1"/>
          </p:cNvSpPr>
          <p:nvPr/>
        </p:nvSpPr>
        <p:spPr>
          <a:xfrm xmlns:a="http://schemas.openxmlformats.org/drawingml/2006/main">
            <a:off x="6429375" y="1809750"/>
            <a:ext cx="4619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D47B21"/>
                </a:solidFill>
                <a:latin typeface="Arial"/>
                <a:ea typeface="Arial"/>
                <a:cs typeface="Arial"/>
              </a:defRPr>
            </a:pPr>
            <a:r>
              <a:rPr sz="900" b="1">
                <a:solidFill>
                  <a:srgbClr val="D47B21"/>
                </a:solidFill>
                <a:latin typeface="Arial"/>
                <a:ea typeface="Arial"/>
                <a:cs typeface="Arial"/>
              </a:rPr>
              <a:t>BADGE TREATMENT | USER TESTING</a:t>
            </a:r>
          </a:p>
        </p:txBody>
      </p:sp>
      <p:sp>
        <p:nvSpPr>
          <p:cNvPr id="10" name="badge-quote">
            <a:extLst xmlns:a="http://schemas.openxmlformats.org/drawingml/2006/main">
              <a:ext uri="{FF2B5EF4-FFF2-40B4-BE49-F238E27FC236}">
                <a16:creationId xmlns:a16="http://schemas.microsoft.com/office/drawing/2014/main" id="{83251EE8-4A69-4108-9416-717700F8F382}"/>
              </a:ext>
            </a:extLst>
          </p:cNvPr>
          <p:cNvSpPr>
            <a:spLocks xmlns:a="http://schemas.openxmlformats.org/drawingml/2006/main" noGrp="1"/>
          </p:cNvSpPr>
          <p:nvPr/>
        </p:nvSpPr>
        <p:spPr>
          <a:xfrm xmlns:a="http://schemas.openxmlformats.org/drawingml/2006/main">
            <a:off x="6429375" y="213360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1">
                <a:solidFill>
                  <a:srgbClr val="173D31"/>
                </a:solidFill>
                <a:latin typeface="Arial"/>
                <a:ea typeface="Arial"/>
                <a:cs typeface="Arial"/>
              </a:defRPr>
            </a:pPr>
            <a:r>
              <a:rPr sz="1800" b="1">
                <a:solidFill>
                  <a:srgbClr val="173D31"/>
                </a:solidFill>
                <a:latin typeface="Arial"/>
                <a:ea typeface="Arial"/>
                <a:cs typeface="Arial"/>
              </a:rPr>
              <a:t>“Could the badges feel more metallic?”</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41cf7f2d1c54d99"/>
          <a:srcRect xmlns:a="http://schemas.openxmlformats.org/drawingml/2006/main" l="216" t="0" r="216" b="0"/>
          <a:stretch xmlns:a="http://schemas.openxmlformats.org/drawingml/2006/main">
            <a:fillRect l="0" t="0" r="0" b="0"/>
          </a:stretch>
        </p:blipFill>
        <p:spPr>
          <a:xfrm xmlns:a="http://schemas.openxmlformats.org/drawingml/2006/main">
            <a:off x="6705600" y="2933700"/>
            <a:ext cx="1314450" cy="1371600"/>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0c83fd26e0b34069"/>
          <a:srcRect xmlns:a="http://schemas.openxmlformats.org/drawingml/2006/main" l="216" t="0" r="216" b="0"/>
          <a:stretch xmlns:a="http://schemas.openxmlformats.org/drawingml/2006/main">
            <a:fillRect l="0" t="0" r="0" b="0"/>
          </a:stretch>
        </p:blipFill>
        <p:spPr>
          <a:xfrm xmlns:a="http://schemas.openxmlformats.org/drawingml/2006/main">
            <a:off x="8477250" y="2933700"/>
            <a:ext cx="1314450" cy="1371600"/>
          </a:xfrm>
          <a:prstGeom xmlns:a="http://schemas.openxmlformats.org/drawingml/2006/main" prst="rect">
            <a:avLst/>
          </a:prstGeom>
        </p:spPr>
      </p:pic>
      <p:sp>
        <p:nvSpPr>
          <p:cNvPr id="13" name="badge-change">
            <a:extLst xmlns:a="http://schemas.openxmlformats.org/drawingml/2006/main">
              <a:ext uri="{FF2B5EF4-FFF2-40B4-BE49-F238E27FC236}">
                <a16:creationId xmlns:a16="http://schemas.microsoft.com/office/drawing/2014/main" id="{0237DAE1-2D88-4F61-A36E-E761FD0B101E}"/>
              </a:ext>
            </a:extLst>
          </p:cNvPr>
          <p:cNvSpPr>
            <a:spLocks xmlns:a="http://schemas.openxmlformats.org/drawingml/2006/main" noGrp="1"/>
          </p:cNvSpPr>
          <p:nvPr/>
        </p:nvSpPr>
        <p:spPr>
          <a:xfrm xmlns:a="http://schemas.openxmlformats.org/drawingml/2006/main">
            <a:off x="6429375" y="4533900"/>
            <a:ext cx="4524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Refine metal edge, relief and depth while keeping each badge readable.</a:t>
            </a:r>
          </a:p>
        </p:txBody>
      </p:sp>
      <p:sp>
        <p:nvSpPr>
          <p:cNvPr id="14" name="footer-rule">
            <a:extLst xmlns:a="http://schemas.openxmlformats.org/drawingml/2006/main">
              <a:ext uri="{FF2B5EF4-FFF2-40B4-BE49-F238E27FC236}">
                <a16:creationId xmlns:a16="http://schemas.microsoft.com/office/drawing/2014/main" id="{72B08908-1E1C-49AA-ACBD-66F1ABED38C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15" name="footer-label">
            <a:extLst xmlns:a="http://schemas.openxmlformats.org/drawingml/2006/main">
              <a:ext uri="{FF2B5EF4-FFF2-40B4-BE49-F238E27FC236}">
                <a16:creationId xmlns:a16="http://schemas.microsoft.com/office/drawing/2014/main" id="{CCEEF339-A1F8-47C1-B0B2-41C2B3F6E320}"/>
              </a:ext>
            </a:extLst>
          </p:cNvPr>
          <p:cNvSpPr>
            <a:spLocks xmlns:a="http://schemas.openxmlformats.org/drawingml/2006/main" noGrp="1"/>
          </p:cNvSpPr>
          <p:nvPr/>
        </p:nvSpPr>
        <p:spPr>
          <a:xfrm xmlns:a="http://schemas.openxmlformats.org/drawingml/2006/main">
            <a:off x="685800" y="6543675"/>
            <a:ext cx="581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KitchMemo  |  Iteration 3 Product Discovery</a:t>
            </a:r>
          </a:p>
        </p:txBody>
      </p:sp>
      <p:sp>
        <p:nvSpPr>
          <p:cNvPr id="16" name="footer-number">
            <a:extLst xmlns:a="http://schemas.openxmlformats.org/drawingml/2006/main">
              <a:ext uri="{FF2B5EF4-FFF2-40B4-BE49-F238E27FC236}">
                <a16:creationId xmlns:a16="http://schemas.microsoft.com/office/drawing/2014/main" id="{8CBFE97A-1C94-4F38-82D4-7A10B4B69EF9}"/>
              </a:ext>
            </a:extLst>
          </p:cNvPr>
          <p:cNvSpPr>
            <a:spLocks xmlns:a="http://schemas.openxmlformats.org/drawingml/2006/main" noGrp="1"/>
          </p:cNvSpPr>
          <p:nvPr/>
        </p:nvSpPr>
        <p:spPr>
          <a:xfrm xmlns:a="http://schemas.openxmlformats.org/drawingml/2006/main">
            <a:off x="1114425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10</a:t>
            </a:r>
          </a:p>
        </p:txBody>
      </p:sp>
    </p:spTree>
    <p:extLst>
      <p:ext uri="{BB962C8B-B14F-4D97-AF65-F5344CB8AC3E}">
        <p14:creationId xmlns:p14="http://schemas.microsoft.com/office/powerpoint/2010/main" val="1039687024"/>
      </p:ext>
    </p:extLst>
  </p:cSld>
</p:sld>
</file>

<file path=ppt/slides/slide11.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28" name="section">
            <a:extLst xmlns:a="http://schemas.openxmlformats.org/drawingml/2006/main">
              <a:ext uri="{FF2B5EF4-FFF2-40B4-BE49-F238E27FC236}">
                <a16:creationId xmlns:a16="http://schemas.microsoft.com/office/drawing/2014/main" id="{267C864F-E330-41ED-B0FA-AC46113F9FBF}"/>
              </a:ext>
            </a:extLst>
          </p:cNvPr>
          <p:cNvSpPr>
            <a:spLocks xmlns:a="http://schemas.openxmlformats.org/drawingml/2006/main" noGrp="1"/>
          </p:cNvSpPr>
          <p:nvPr/>
        </p:nvSpPr>
        <p:spPr>
          <a:xfrm xmlns:a="http://schemas.openxmlformats.org/drawingml/2006/main">
            <a:off x="685800" y="276225"/>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647C68"/>
                </a:solidFill>
                <a:latin typeface="Arial"/>
                <a:ea typeface="Arial"/>
                <a:cs typeface="Arial"/>
              </a:defRPr>
            </a:pPr>
            <a:r>
              <a:rPr sz="975" b="1">
                <a:solidFill>
                  <a:srgbClr val="647C68"/>
                </a:solidFill>
                <a:latin typeface="Arial"/>
                <a:ea typeface="Arial"/>
                <a:cs typeface="Arial"/>
              </a:rPr>
              <a:t>IMPROVEMENT | SHOPPING</a:t>
            </a:r>
          </a:p>
        </p:txBody>
      </p:sp>
      <p:sp>
        <p:nvSpPr>
          <p:cNvPr id="2" name="page">
            <a:extLst xmlns:a="http://schemas.openxmlformats.org/drawingml/2006/main">
              <a:ext uri="{FF2B5EF4-FFF2-40B4-BE49-F238E27FC236}">
                <a16:creationId xmlns:a16="http://schemas.microsoft.com/office/drawing/2014/main" id="{14E2EAEA-0DB4-4D85-9F00-F27585017A86}"/>
              </a:ext>
            </a:extLst>
          </p:cNvPr>
          <p:cNvSpPr>
            <a:spLocks xmlns:a="http://schemas.openxmlformats.org/drawingml/2006/main" noGrp="1"/>
          </p:cNvSpPr>
          <p:nvPr/>
        </p:nvSpPr>
        <p:spPr>
          <a:xfrm xmlns:a="http://schemas.openxmlformats.org/drawingml/2006/main">
            <a:off x="11144250" y="2762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975" b="0">
                <a:solidFill>
                  <a:srgbClr val="61766D"/>
                </a:solidFill>
                <a:latin typeface="Arial"/>
                <a:ea typeface="Arial"/>
                <a:cs typeface="Arial"/>
              </a:defRPr>
            </a:pPr>
            <a:r>
              <a:rPr sz="975" b="0">
                <a:solidFill>
                  <a:srgbClr val="61766D"/>
                </a:solidFill>
                <a:latin typeface="Arial"/>
                <a:ea typeface="Arial"/>
                <a:cs typeface="Arial"/>
              </a:rPr>
              <a:t>11</a:t>
            </a:r>
          </a:p>
        </p:txBody>
      </p:sp>
      <p:sp>
        <p:nvSpPr>
          <p:cNvPr id="3" name="title">
            <a:extLst xmlns:a="http://schemas.openxmlformats.org/drawingml/2006/main">
              <a:ext uri="{FF2B5EF4-FFF2-40B4-BE49-F238E27FC236}">
                <a16:creationId xmlns:a16="http://schemas.microsoft.com/office/drawing/2014/main" id="{6DFCAC61-218D-4309-8EE7-E677F7E3E379}"/>
              </a:ext>
            </a:extLst>
          </p:cNvPr>
          <p:cNvSpPr>
            <a:spLocks xmlns:a="http://schemas.openxmlformats.org/drawingml/2006/main" noGrp="1"/>
          </p:cNvSpPr>
          <p:nvPr/>
        </p:nvSpPr>
        <p:spPr>
          <a:xfrm xmlns:a="http://schemas.openxmlformats.org/drawingml/2006/main">
            <a:off x="685800" y="600075"/>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925" b="1">
                <a:solidFill>
                  <a:srgbClr val="173D31"/>
                </a:solidFill>
                <a:latin typeface="Arial"/>
                <a:ea typeface="Arial"/>
                <a:cs typeface="Arial"/>
              </a:defRPr>
            </a:pPr>
            <a:r>
              <a:rPr sz="2925" b="1">
                <a:solidFill>
                  <a:srgbClr val="173D31"/>
                </a:solidFill>
                <a:latin typeface="Arial"/>
                <a:ea typeface="Arial"/>
                <a:cs typeface="Arial"/>
              </a:rPr>
              <a:t>The cart should make the next shopping action obvious</a:t>
            </a:r>
          </a:p>
        </p:txBody>
      </p:sp>
      <p:sp>
        <p:nvSpPr>
          <p:cNvPr id="4" name="subtitle">
            <a:extLst xmlns:a="http://schemas.openxmlformats.org/drawingml/2006/main">
              <a:ext uri="{FF2B5EF4-FFF2-40B4-BE49-F238E27FC236}">
                <a16:creationId xmlns:a16="http://schemas.microsoft.com/office/drawing/2014/main" id="{12BAB7A1-393A-4CFD-A4A3-8F3704BEE35E}"/>
              </a:ext>
            </a:extLst>
          </p:cNvPr>
          <p:cNvSpPr>
            <a:spLocks xmlns:a="http://schemas.openxmlformats.org/drawingml/2006/main" noGrp="1"/>
          </p:cNvSpPr>
          <p:nvPr/>
        </p:nvSpPr>
        <p:spPr>
          <a:xfrm xmlns:a="http://schemas.openxmlformats.org/drawingml/2006/main">
            <a:off x="685800" y="11811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Iteration 3 will refine a workflow that already spans cart, stock check and checkout.</a:t>
            </a:r>
          </a:p>
        </p:txBody>
      </p:sp>
      <p:sp>
        <p:nvSpPr>
          <p:cNvPr id="5" name="cart-num-0">
            <a:extLst xmlns:a="http://schemas.openxmlformats.org/drawingml/2006/main">
              <a:ext uri="{FF2B5EF4-FFF2-40B4-BE49-F238E27FC236}">
                <a16:creationId xmlns:a16="http://schemas.microsoft.com/office/drawing/2014/main" id="{33CFFE47-6BD0-4B0A-A4A2-EB73553F7E5A}"/>
              </a:ext>
            </a:extLst>
          </p:cNvPr>
          <p:cNvSpPr>
            <a:spLocks xmlns:a="http://schemas.openxmlformats.org/drawingml/2006/main" noGrp="1"/>
          </p:cNvSpPr>
          <p:nvPr/>
        </p:nvSpPr>
        <p:spPr>
          <a:xfrm xmlns:a="http://schemas.openxmlformats.org/drawingml/2006/main">
            <a:off x="781050" y="1866900"/>
            <a:ext cx="5238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2A8A61"/>
                </a:solidFill>
                <a:latin typeface="Arial"/>
                <a:ea typeface="Arial"/>
                <a:cs typeface="Arial"/>
              </a:defRPr>
            </a:pPr>
            <a:r>
              <a:rPr sz="1650" b="1">
                <a:solidFill>
                  <a:srgbClr val="2A8A61"/>
                </a:solidFill>
                <a:latin typeface="Arial"/>
                <a:ea typeface="Arial"/>
                <a:cs typeface="Arial"/>
              </a:rPr>
              <a:t>01</a:t>
            </a:r>
          </a:p>
        </p:txBody>
      </p:sp>
      <p:sp>
        <p:nvSpPr>
          <p:cNvPr id="6" name="cart-stage-title-0">
            <a:extLst xmlns:a="http://schemas.openxmlformats.org/drawingml/2006/main">
              <a:ext uri="{FF2B5EF4-FFF2-40B4-BE49-F238E27FC236}">
                <a16:creationId xmlns:a16="http://schemas.microsoft.com/office/drawing/2014/main" id="{038CD492-E7FA-4062-BA76-2144BBBFD261}"/>
              </a:ext>
            </a:extLst>
          </p:cNvPr>
          <p:cNvSpPr>
            <a:spLocks xmlns:a="http://schemas.openxmlformats.org/drawingml/2006/main" noGrp="1"/>
          </p:cNvSpPr>
          <p:nvPr/>
        </p:nvSpPr>
        <p:spPr>
          <a:xfrm xmlns:a="http://schemas.openxmlformats.org/drawingml/2006/main">
            <a:off x="1504950" y="183832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173D31"/>
                </a:solidFill>
                <a:latin typeface="Arial"/>
                <a:ea typeface="Arial"/>
                <a:cs typeface="Arial"/>
              </a:defRPr>
            </a:pPr>
            <a:r>
              <a:rPr sz="1650" b="1">
                <a:solidFill>
                  <a:srgbClr val="173D31"/>
                </a:solidFill>
                <a:latin typeface="Arial"/>
                <a:ea typeface="Arial"/>
                <a:cs typeface="Arial"/>
              </a:rPr>
              <a:t>Review</a:t>
            </a:r>
          </a:p>
        </p:txBody>
      </p:sp>
      <p:sp>
        <p:nvSpPr>
          <p:cNvPr id="7" name="cart-stage-body-0">
            <a:extLst xmlns:a="http://schemas.openxmlformats.org/drawingml/2006/main">
              <a:ext uri="{FF2B5EF4-FFF2-40B4-BE49-F238E27FC236}">
                <a16:creationId xmlns:a16="http://schemas.microsoft.com/office/drawing/2014/main" id="{3669B2C7-84B1-4614-8521-308AED6A8515}"/>
              </a:ext>
            </a:extLst>
          </p:cNvPr>
          <p:cNvSpPr>
            <a:spLocks xmlns:a="http://schemas.openxmlformats.org/drawingml/2006/main" noGrp="1"/>
          </p:cNvSpPr>
          <p:nvPr/>
        </p:nvSpPr>
        <p:spPr>
          <a:xfrm xmlns:a="http://schemas.openxmlformats.org/drawingml/2006/main">
            <a:off x="4000500" y="183832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See each item and its status</a:t>
            </a:r>
          </a:p>
        </p:txBody>
      </p:sp>
      <p:sp>
        <p:nvSpPr>
          <p:cNvPr id="8" name="cart-rule-0">
            <a:extLst xmlns:a="http://schemas.openxmlformats.org/drawingml/2006/main">
              <a:ext uri="{FF2B5EF4-FFF2-40B4-BE49-F238E27FC236}">
                <a16:creationId xmlns:a16="http://schemas.microsoft.com/office/drawing/2014/main" id="{3FE8440B-21CE-4AA6-891D-F8F4F79C2757}"/>
              </a:ext>
            </a:extLst>
          </p:cNvPr>
          <p:cNvSpPr>
            <a:spLocks xmlns:a="http://schemas.openxmlformats.org/drawingml/2006/main" noGrp="1"/>
          </p:cNvSpPr>
          <p:nvPr/>
        </p:nvSpPr>
        <p:spPr>
          <a:xfrm xmlns:a="http://schemas.openxmlformats.org/drawingml/2006/main">
            <a:off x="781050" y="2381250"/>
            <a:ext cx="752475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9" name="cart-num-1">
            <a:extLst xmlns:a="http://schemas.openxmlformats.org/drawingml/2006/main">
              <a:ext uri="{FF2B5EF4-FFF2-40B4-BE49-F238E27FC236}">
                <a16:creationId xmlns:a16="http://schemas.microsoft.com/office/drawing/2014/main" id="{D9520534-2208-42FA-93CF-ADCF466D9789}"/>
              </a:ext>
            </a:extLst>
          </p:cNvPr>
          <p:cNvSpPr>
            <a:spLocks xmlns:a="http://schemas.openxmlformats.org/drawingml/2006/main" noGrp="1"/>
          </p:cNvSpPr>
          <p:nvPr/>
        </p:nvSpPr>
        <p:spPr>
          <a:xfrm xmlns:a="http://schemas.openxmlformats.org/drawingml/2006/main">
            <a:off x="781050" y="2847975"/>
            <a:ext cx="5238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2A8A61"/>
                </a:solidFill>
                <a:latin typeface="Arial"/>
                <a:ea typeface="Arial"/>
                <a:cs typeface="Arial"/>
              </a:defRPr>
            </a:pPr>
            <a:r>
              <a:rPr sz="1650" b="1">
                <a:solidFill>
                  <a:srgbClr val="2A8A61"/>
                </a:solidFill>
                <a:latin typeface="Arial"/>
                <a:ea typeface="Arial"/>
                <a:cs typeface="Arial"/>
              </a:rPr>
              <a:t>02</a:t>
            </a:r>
          </a:p>
        </p:txBody>
      </p:sp>
      <p:sp>
        <p:nvSpPr>
          <p:cNvPr id="10" name="cart-stage-title-1">
            <a:extLst xmlns:a="http://schemas.openxmlformats.org/drawingml/2006/main">
              <a:ext uri="{FF2B5EF4-FFF2-40B4-BE49-F238E27FC236}">
                <a16:creationId xmlns:a16="http://schemas.microsoft.com/office/drawing/2014/main" id="{84913FC2-A858-4B45-8D9F-5EFF9FB5CB3D}"/>
              </a:ext>
            </a:extLst>
          </p:cNvPr>
          <p:cNvSpPr>
            <a:spLocks xmlns:a="http://schemas.openxmlformats.org/drawingml/2006/main" noGrp="1"/>
          </p:cNvSpPr>
          <p:nvPr/>
        </p:nvSpPr>
        <p:spPr>
          <a:xfrm xmlns:a="http://schemas.openxmlformats.org/drawingml/2006/main">
            <a:off x="1504950" y="281940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173D31"/>
                </a:solidFill>
                <a:latin typeface="Arial"/>
                <a:ea typeface="Arial"/>
                <a:cs typeface="Arial"/>
              </a:defRPr>
            </a:pPr>
            <a:r>
              <a:rPr sz="1650" b="1">
                <a:solidFill>
                  <a:srgbClr val="173D31"/>
                </a:solidFill>
                <a:latin typeface="Arial"/>
                <a:ea typeface="Arial"/>
                <a:cs typeface="Arial"/>
              </a:rPr>
              <a:t>Adjust</a:t>
            </a:r>
          </a:p>
        </p:txBody>
      </p:sp>
      <p:sp>
        <p:nvSpPr>
          <p:cNvPr id="11" name="cart-stage-body-1">
            <a:extLst xmlns:a="http://schemas.openxmlformats.org/drawingml/2006/main">
              <a:ext uri="{FF2B5EF4-FFF2-40B4-BE49-F238E27FC236}">
                <a16:creationId xmlns:a16="http://schemas.microsoft.com/office/drawing/2014/main" id="{7091DE17-2E7C-42F3-B367-52564F20E3D4}"/>
              </a:ext>
            </a:extLst>
          </p:cNvPr>
          <p:cNvSpPr>
            <a:spLocks xmlns:a="http://schemas.openxmlformats.org/drawingml/2006/main" noGrp="1"/>
          </p:cNvSpPr>
          <p:nvPr/>
        </p:nvSpPr>
        <p:spPr>
          <a:xfrm xmlns:a="http://schemas.openxmlformats.org/drawingml/2006/main">
            <a:off x="4000500" y="28194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Change quantities without losing context</a:t>
            </a:r>
          </a:p>
        </p:txBody>
      </p:sp>
      <p:sp>
        <p:nvSpPr>
          <p:cNvPr id="12" name="cart-rule-1">
            <a:extLst xmlns:a="http://schemas.openxmlformats.org/drawingml/2006/main">
              <a:ext uri="{FF2B5EF4-FFF2-40B4-BE49-F238E27FC236}">
                <a16:creationId xmlns:a16="http://schemas.microsoft.com/office/drawing/2014/main" id="{DE0CF371-1732-4504-B4B1-9728894B5488}"/>
              </a:ext>
            </a:extLst>
          </p:cNvPr>
          <p:cNvSpPr>
            <a:spLocks xmlns:a="http://schemas.openxmlformats.org/drawingml/2006/main" noGrp="1"/>
          </p:cNvSpPr>
          <p:nvPr/>
        </p:nvSpPr>
        <p:spPr>
          <a:xfrm xmlns:a="http://schemas.openxmlformats.org/drawingml/2006/main">
            <a:off x="781050" y="3362325"/>
            <a:ext cx="752475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13" name="cart-num-2">
            <a:extLst xmlns:a="http://schemas.openxmlformats.org/drawingml/2006/main">
              <a:ext uri="{FF2B5EF4-FFF2-40B4-BE49-F238E27FC236}">
                <a16:creationId xmlns:a16="http://schemas.microsoft.com/office/drawing/2014/main" id="{729A4EA9-2E41-4011-8B41-392B1B13870C}"/>
              </a:ext>
            </a:extLst>
          </p:cNvPr>
          <p:cNvSpPr>
            <a:spLocks xmlns:a="http://schemas.openxmlformats.org/drawingml/2006/main" noGrp="1"/>
          </p:cNvSpPr>
          <p:nvPr/>
        </p:nvSpPr>
        <p:spPr>
          <a:xfrm xmlns:a="http://schemas.openxmlformats.org/drawingml/2006/main">
            <a:off x="781050" y="3829050"/>
            <a:ext cx="5238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2A8A61"/>
                </a:solidFill>
                <a:latin typeface="Arial"/>
                <a:ea typeface="Arial"/>
                <a:cs typeface="Arial"/>
              </a:defRPr>
            </a:pPr>
            <a:r>
              <a:rPr sz="1650" b="1">
                <a:solidFill>
                  <a:srgbClr val="2A8A61"/>
                </a:solidFill>
                <a:latin typeface="Arial"/>
                <a:ea typeface="Arial"/>
                <a:cs typeface="Arial"/>
              </a:rPr>
              <a:t>03</a:t>
            </a:r>
          </a:p>
        </p:txBody>
      </p:sp>
      <p:sp>
        <p:nvSpPr>
          <p:cNvPr id="14" name="cart-stage-title-2">
            <a:extLst xmlns:a="http://schemas.openxmlformats.org/drawingml/2006/main">
              <a:ext uri="{FF2B5EF4-FFF2-40B4-BE49-F238E27FC236}">
                <a16:creationId xmlns:a16="http://schemas.microsoft.com/office/drawing/2014/main" id="{2B28165E-6D72-4CCC-8E00-81DF73D95DD5}"/>
              </a:ext>
            </a:extLst>
          </p:cNvPr>
          <p:cNvSpPr>
            <a:spLocks xmlns:a="http://schemas.openxmlformats.org/drawingml/2006/main" noGrp="1"/>
          </p:cNvSpPr>
          <p:nvPr/>
        </p:nvSpPr>
        <p:spPr>
          <a:xfrm xmlns:a="http://schemas.openxmlformats.org/drawingml/2006/main">
            <a:off x="1504950" y="380047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173D31"/>
                </a:solidFill>
                <a:latin typeface="Arial"/>
                <a:ea typeface="Arial"/>
                <a:cs typeface="Arial"/>
              </a:defRPr>
            </a:pPr>
            <a:r>
              <a:rPr sz="1650" b="1">
                <a:solidFill>
                  <a:srgbClr val="173D31"/>
                </a:solidFill>
                <a:latin typeface="Arial"/>
                <a:ea typeface="Arial"/>
                <a:cs typeface="Arial"/>
              </a:rPr>
              <a:t>Check stock</a:t>
            </a:r>
          </a:p>
        </p:txBody>
      </p:sp>
      <p:sp>
        <p:nvSpPr>
          <p:cNvPr id="15" name="cart-stage-body-2">
            <a:extLst xmlns:a="http://schemas.openxmlformats.org/drawingml/2006/main">
              <a:ext uri="{FF2B5EF4-FFF2-40B4-BE49-F238E27FC236}">
                <a16:creationId xmlns:a16="http://schemas.microsoft.com/office/drawing/2014/main" id="{F8C13084-CE7E-410D-A68E-62B4F6F16074}"/>
              </a:ext>
            </a:extLst>
          </p:cNvPr>
          <p:cNvSpPr>
            <a:spLocks xmlns:a="http://schemas.openxmlformats.org/drawingml/2006/main" noGrp="1"/>
          </p:cNvSpPr>
          <p:nvPr/>
        </p:nvSpPr>
        <p:spPr>
          <a:xfrm xmlns:a="http://schemas.openxmlformats.org/drawingml/2006/main">
            <a:off x="4000500" y="38004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Peek at the fridge before buying</a:t>
            </a:r>
          </a:p>
        </p:txBody>
      </p:sp>
      <p:sp>
        <p:nvSpPr>
          <p:cNvPr id="16" name="cart-rule-2">
            <a:extLst xmlns:a="http://schemas.openxmlformats.org/drawingml/2006/main">
              <a:ext uri="{FF2B5EF4-FFF2-40B4-BE49-F238E27FC236}">
                <a16:creationId xmlns:a16="http://schemas.microsoft.com/office/drawing/2014/main" id="{83741902-3293-4A1D-B24B-B9B0B58EC60C}"/>
              </a:ext>
            </a:extLst>
          </p:cNvPr>
          <p:cNvSpPr>
            <a:spLocks xmlns:a="http://schemas.openxmlformats.org/drawingml/2006/main" noGrp="1"/>
          </p:cNvSpPr>
          <p:nvPr/>
        </p:nvSpPr>
        <p:spPr>
          <a:xfrm xmlns:a="http://schemas.openxmlformats.org/drawingml/2006/main">
            <a:off x="781050" y="4343400"/>
            <a:ext cx="752475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17" name="cart-num-3">
            <a:extLst xmlns:a="http://schemas.openxmlformats.org/drawingml/2006/main">
              <a:ext uri="{FF2B5EF4-FFF2-40B4-BE49-F238E27FC236}">
                <a16:creationId xmlns:a16="http://schemas.microsoft.com/office/drawing/2014/main" id="{50AA59C9-9525-47CF-9167-6AA0AC3ADC0A}"/>
              </a:ext>
            </a:extLst>
          </p:cNvPr>
          <p:cNvSpPr>
            <a:spLocks xmlns:a="http://schemas.openxmlformats.org/drawingml/2006/main" noGrp="1"/>
          </p:cNvSpPr>
          <p:nvPr/>
        </p:nvSpPr>
        <p:spPr>
          <a:xfrm xmlns:a="http://schemas.openxmlformats.org/drawingml/2006/main">
            <a:off x="781050" y="4810125"/>
            <a:ext cx="5238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D47B21"/>
                </a:solidFill>
                <a:latin typeface="Arial"/>
                <a:ea typeface="Arial"/>
                <a:cs typeface="Arial"/>
              </a:defRPr>
            </a:pPr>
            <a:r>
              <a:rPr sz="1650" b="1">
                <a:solidFill>
                  <a:srgbClr val="D47B21"/>
                </a:solidFill>
                <a:latin typeface="Arial"/>
                <a:ea typeface="Arial"/>
                <a:cs typeface="Arial"/>
              </a:rPr>
              <a:t>04</a:t>
            </a:r>
          </a:p>
        </p:txBody>
      </p:sp>
      <p:sp>
        <p:nvSpPr>
          <p:cNvPr id="18" name="cart-stage-title-3">
            <a:extLst xmlns:a="http://schemas.openxmlformats.org/drawingml/2006/main">
              <a:ext uri="{FF2B5EF4-FFF2-40B4-BE49-F238E27FC236}">
                <a16:creationId xmlns:a16="http://schemas.microsoft.com/office/drawing/2014/main" id="{111E9341-9A6B-4D1B-8A2F-B0EDA6C297CD}"/>
              </a:ext>
            </a:extLst>
          </p:cNvPr>
          <p:cNvSpPr>
            <a:spLocks xmlns:a="http://schemas.openxmlformats.org/drawingml/2006/main" noGrp="1"/>
          </p:cNvSpPr>
          <p:nvPr/>
        </p:nvSpPr>
        <p:spPr>
          <a:xfrm xmlns:a="http://schemas.openxmlformats.org/drawingml/2006/main">
            <a:off x="1504950" y="478155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173D31"/>
                </a:solidFill>
                <a:latin typeface="Arial"/>
                <a:ea typeface="Arial"/>
                <a:cs typeface="Arial"/>
              </a:defRPr>
            </a:pPr>
            <a:r>
              <a:rPr sz="1650" b="1">
                <a:solidFill>
                  <a:srgbClr val="173D31"/>
                </a:solidFill>
                <a:latin typeface="Arial"/>
                <a:ea typeface="Arial"/>
                <a:cs typeface="Arial"/>
              </a:rPr>
              <a:t>Complete</a:t>
            </a:r>
          </a:p>
        </p:txBody>
      </p:sp>
      <p:sp>
        <p:nvSpPr>
          <p:cNvPr id="19" name="cart-stage-body-3">
            <a:extLst xmlns:a="http://schemas.openxmlformats.org/drawingml/2006/main">
              <a:ext uri="{FF2B5EF4-FFF2-40B4-BE49-F238E27FC236}">
                <a16:creationId xmlns:a16="http://schemas.microsoft.com/office/drawing/2014/main" id="{8FBD4F8D-BB56-413C-9159-D5C6C6AA58B7}"/>
              </a:ext>
            </a:extLst>
          </p:cNvPr>
          <p:cNvSpPr>
            <a:spLocks xmlns:a="http://schemas.openxmlformats.org/drawingml/2006/main" noGrp="1"/>
          </p:cNvSpPr>
          <p:nvPr/>
        </p:nvSpPr>
        <p:spPr>
          <a:xfrm xmlns:a="http://schemas.openxmlformats.org/drawingml/2006/main">
            <a:off x="4000500" y="47815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Move into a clear checkout review</a:t>
            </a:r>
          </a:p>
        </p:txBody>
      </p:sp>
      <p:sp>
        <p:nvSpPr>
          <p:cNvPr id="20" name="cart-rule-3">
            <a:extLst xmlns:a="http://schemas.openxmlformats.org/drawingml/2006/main">
              <a:ext uri="{FF2B5EF4-FFF2-40B4-BE49-F238E27FC236}">
                <a16:creationId xmlns:a16="http://schemas.microsoft.com/office/drawing/2014/main" id="{2E6E89D6-8AAC-4F93-9F25-22EAE0A28E20}"/>
              </a:ext>
            </a:extLst>
          </p:cNvPr>
          <p:cNvSpPr>
            <a:spLocks xmlns:a="http://schemas.openxmlformats.org/drawingml/2006/main" noGrp="1"/>
          </p:cNvSpPr>
          <p:nvPr/>
        </p:nvSpPr>
        <p:spPr>
          <a:xfrm xmlns:a="http://schemas.openxmlformats.org/drawingml/2006/main">
            <a:off x="781050" y="5324475"/>
            <a:ext cx="752475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21" name="cart-ui-focus">
            <a:extLst xmlns:a="http://schemas.openxmlformats.org/drawingml/2006/main">
              <a:ext uri="{FF2B5EF4-FFF2-40B4-BE49-F238E27FC236}">
                <a16:creationId xmlns:a16="http://schemas.microsoft.com/office/drawing/2014/main" id="{A5D18983-ED5E-4CC6-A5E6-A4F059877493}"/>
              </a:ext>
            </a:extLst>
          </p:cNvPr>
          <p:cNvSpPr>
            <a:spLocks xmlns:a="http://schemas.openxmlformats.org/drawingml/2006/main" noGrp="1"/>
          </p:cNvSpPr>
          <p:nvPr/>
        </p:nvSpPr>
        <p:spPr>
          <a:xfrm xmlns:a="http://schemas.openxmlformats.org/drawingml/2006/main">
            <a:off x="8820150" y="1981200"/>
            <a:ext cx="2533650" cy="3200400"/>
          </a:xfrm>
          <a:prstGeom xmlns:a="http://schemas.openxmlformats.org/drawingml/2006/main" prst="roundRect">
            <a:avLst>
              <a:gd name="adj" fmla="val 6767"/>
            </a:avLst>
          </a:prstGeom>
          <a:solidFill xmlns:a="http://schemas.openxmlformats.org/drawingml/2006/main">
            <a:srgbClr val="647C68"/>
          </a:solidFill>
          <a:ln xmlns:a="http://schemas.openxmlformats.org/drawingml/2006/main" w="0">
            <a:noFill/>
            <a:prstDash val="solid"/>
          </a:ln>
        </p:spPr>
      </p:sp>
      <p:sp>
        <p:nvSpPr>
          <p:cNvPr id="22" name="cart-focus-label">
            <a:extLst xmlns:a="http://schemas.openxmlformats.org/drawingml/2006/main">
              <a:ext uri="{FF2B5EF4-FFF2-40B4-BE49-F238E27FC236}">
                <a16:creationId xmlns:a16="http://schemas.microsoft.com/office/drawing/2014/main" id="{F6C79379-7825-4FC4-86C3-A730880C3B24}"/>
              </a:ext>
            </a:extLst>
          </p:cNvPr>
          <p:cNvSpPr>
            <a:spLocks xmlns:a="http://schemas.openxmlformats.org/drawingml/2006/main" noGrp="1"/>
          </p:cNvSpPr>
          <p:nvPr/>
        </p:nvSpPr>
        <p:spPr>
          <a:xfrm xmlns:a="http://schemas.openxmlformats.org/drawingml/2006/main">
            <a:off x="9067800" y="2266950"/>
            <a:ext cx="1857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E8EEE8"/>
                </a:solidFill>
                <a:latin typeface="Arial"/>
                <a:ea typeface="Arial"/>
                <a:cs typeface="Arial"/>
              </a:defRPr>
            </a:pPr>
            <a:r>
              <a:rPr sz="900" b="1">
                <a:solidFill>
                  <a:srgbClr val="E8EEE8"/>
                </a:solidFill>
                <a:latin typeface="Arial"/>
                <a:ea typeface="Arial"/>
                <a:cs typeface="Arial"/>
              </a:rPr>
              <a:t>UI FOCUS</a:t>
            </a:r>
          </a:p>
        </p:txBody>
      </p:sp>
      <p:sp>
        <p:nvSpPr>
          <p:cNvPr id="23" name="cart-focus-copy">
            <a:extLst xmlns:a="http://schemas.openxmlformats.org/drawingml/2006/main">
              <a:ext uri="{FF2B5EF4-FFF2-40B4-BE49-F238E27FC236}">
                <a16:creationId xmlns:a16="http://schemas.microsoft.com/office/drawing/2014/main" id="{E0B2FCD3-6405-4D3D-BAA5-662B863455D1}"/>
              </a:ext>
            </a:extLst>
          </p:cNvPr>
          <p:cNvSpPr>
            <a:spLocks xmlns:a="http://schemas.openxmlformats.org/drawingml/2006/main" noGrp="1"/>
          </p:cNvSpPr>
          <p:nvPr/>
        </p:nvSpPr>
        <p:spPr>
          <a:xfrm xmlns:a="http://schemas.openxmlformats.org/drawingml/2006/main">
            <a:off x="9067800" y="2647950"/>
            <a:ext cx="1952625" cy="1914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056"/>
          </a:bodyPr>
          <a:lstStyle xmlns:a="http://schemas.openxmlformats.org/drawingml/2006/main"/>
          <a:p xmlns:a="http://schemas.openxmlformats.org/drawingml/2006/main">
            <a:pPr algn="l">
              <a:lnSpc>
                <a:spcPct val="110000"/>
              </a:lnSpc>
              <a:buNone/>
              <a:defRPr sz="1800" b="1">
                <a:solidFill>
                  <a:srgbClr val="FFFFFF"/>
                </a:solidFill>
                <a:latin typeface="Arial"/>
                <a:ea typeface="Arial"/>
                <a:cs typeface="Arial"/>
              </a:defRPr>
            </a:pPr>
            <a:r>
              <a:rPr sz="1800" b="1">
                <a:solidFill>
                  <a:srgbClr val="FFFFFF"/>
                </a:solidFill>
                <a:latin typeface="Arial"/>
                <a:ea typeface="Arial"/>
                <a:cs typeface="Arial"/>
              </a:rPr>
              <a:t>Clear item status</a:t>
            </a:r>
          </a:p>
          <a:p xmlns:a="http://schemas.openxmlformats.org/drawingml/2006/main">
            <a:r>
              <a:t/>
            </a:r>
          </a:p>
          <a:p xmlns:a="http://schemas.openxmlformats.org/drawingml/2006/main">
            <a:pPr algn="l">
              <a:lnSpc>
                <a:spcPct val="110000"/>
              </a:lnSpc>
              <a:buNone/>
              <a:defRPr sz="1800" b="1">
                <a:solidFill>
                  <a:srgbClr val="FFFFFF"/>
                </a:solidFill>
                <a:latin typeface="Arial"/>
                <a:ea typeface="Arial"/>
                <a:cs typeface="Arial"/>
              </a:defRPr>
            </a:pPr>
            <a:r>
              <a:rPr sz="1800" b="1">
                <a:solidFill>
                  <a:srgbClr val="FFFFFF"/>
                </a:solidFill>
                <a:latin typeface="Arial"/>
                <a:ea typeface="Arial"/>
                <a:cs typeface="Arial"/>
              </a:rPr>
              <a:t>Easy quantity editing</a:t>
            </a:r>
          </a:p>
          <a:p xmlns:a="http://schemas.openxmlformats.org/drawingml/2006/main">
            <a:r>
              <a:t/>
            </a:r>
          </a:p>
          <a:p xmlns:a="http://schemas.openxmlformats.org/drawingml/2006/main">
            <a:pPr algn="l">
              <a:lnSpc>
                <a:spcPct val="110000"/>
              </a:lnSpc>
              <a:buNone/>
              <a:defRPr sz="1800" b="1">
                <a:solidFill>
                  <a:srgbClr val="FFFFFF"/>
                </a:solidFill>
                <a:latin typeface="Arial"/>
                <a:ea typeface="Arial"/>
                <a:cs typeface="Arial"/>
              </a:defRPr>
            </a:pPr>
            <a:r>
              <a:rPr sz="1800" b="1">
                <a:solidFill>
                  <a:srgbClr val="FFFFFF"/>
                </a:solidFill>
                <a:latin typeface="Arial"/>
                <a:ea typeface="Arial"/>
                <a:cs typeface="Arial"/>
              </a:rPr>
              <a:t>Checkout action in reach</a:t>
            </a:r>
          </a:p>
        </p:txBody>
      </p:sp>
      <p:sp>
        <p:nvSpPr>
          <p:cNvPr id="24" name="cart-current-path">
            <a:extLst xmlns:a="http://schemas.openxmlformats.org/drawingml/2006/main">
              <a:ext uri="{FF2B5EF4-FFF2-40B4-BE49-F238E27FC236}">
                <a16:creationId xmlns:a16="http://schemas.microsoft.com/office/drawing/2014/main" id="{910F1916-B632-4AB6-AC60-76A51CFF67A1}"/>
              </a:ext>
            </a:extLst>
          </p:cNvPr>
          <p:cNvSpPr>
            <a:spLocks xmlns:a="http://schemas.openxmlformats.org/drawingml/2006/main" noGrp="1"/>
          </p:cNvSpPr>
          <p:nvPr/>
        </p:nvSpPr>
        <p:spPr>
          <a:xfrm xmlns:a="http://schemas.openxmlformats.org/drawingml/2006/main">
            <a:off x="781050" y="5953125"/>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0">
                <a:solidFill>
                  <a:srgbClr val="61766D"/>
                </a:solidFill>
                <a:latin typeface="Arial"/>
                <a:ea typeface="Arial"/>
                <a:cs typeface="Arial"/>
              </a:defRPr>
            </a:pPr>
            <a:r>
              <a:rPr sz="1050" b="0">
                <a:solidFill>
                  <a:srgbClr val="61766D"/>
                </a:solidFill>
                <a:latin typeface="Arial"/>
                <a:ea typeface="Arial"/>
                <a:cs typeface="Arial"/>
              </a:rPr>
              <a:t>Current flow: ShoppingScreen.tsx, ShoppingInventoryPeek.tsx and ShoppingCheckoutReview.tsx</a:t>
            </a:r>
          </a:p>
        </p:txBody>
      </p:sp>
      <p:sp>
        <p:nvSpPr>
          <p:cNvPr id="25" name="footer-rule">
            <a:extLst xmlns:a="http://schemas.openxmlformats.org/drawingml/2006/main">
              <a:ext uri="{FF2B5EF4-FFF2-40B4-BE49-F238E27FC236}">
                <a16:creationId xmlns:a16="http://schemas.microsoft.com/office/drawing/2014/main" id="{4793C8DF-8983-481E-A7A7-D1EFDD40FDA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26" name="footer-label">
            <a:extLst xmlns:a="http://schemas.openxmlformats.org/drawingml/2006/main">
              <a:ext uri="{FF2B5EF4-FFF2-40B4-BE49-F238E27FC236}">
                <a16:creationId xmlns:a16="http://schemas.microsoft.com/office/drawing/2014/main" id="{3085F7F3-82AB-4A69-A590-871B9328BB77}"/>
              </a:ext>
            </a:extLst>
          </p:cNvPr>
          <p:cNvSpPr>
            <a:spLocks xmlns:a="http://schemas.openxmlformats.org/drawingml/2006/main" noGrp="1"/>
          </p:cNvSpPr>
          <p:nvPr/>
        </p:nvSpPr>
        <p:spPr>
          <a:xfrm xmlns:a="http://schemas.openxmlformats.org/drawingml/2006/main">
            <a:off x="685800" y="6543675"/>
            <a:ext cx="581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KitchMemo  |  Iteration 3 Product Discovery</a:t>
            </a:r>
          </a:p>
        </p:txBody>
      </p:sp>
      <p:sp>
        <p:nvSpPr>
          <p:cNvPr id="27" name="footer-number">
            <a:extLst xmlns:a="http://schemas.openxmlformats.org/drawingml/2006/main">
              <a:ext uri="{FF2B5EF4-FFF2-40B4-BE49-F238E27FC236}">
                <a16:creationId xmlns:a16="http://schemas.microsoft.com/office/drawing/2014/main" id="{DD81E5F7-A4BB-4840-9996-F763C74EDBF0}"/>
              </a:ext>
            </a:extLst>
          </p:cNvPr>
          <p:cNvSpPr>
            <a:spLocks xmlns:a="http://schemas.openxmlformats.org/drawingml/2006/main" noGrp="1"/>
          </p:cNvSpPr>
          <p:nvPr/>
        </p:nvSpPr>
        <p:spPr>
          <a:xfrm xmlns:a="http://schemas.openxmlformats.org/drawingml/2006/main">
            <a:off x="1114425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11</a:t>
            </a:r>
          </a:p>
        </p:txBody>
      </p:sp>
    </p:spTree>
    <p:extLst>
      <p:ext uri="{BB962C8B-B14F-4D97-AF65-F5344CB8AC3E}">
        <p14:creationId xmlns:p14="http://schemas.microsoft.com/office/powerpoint/2010/main" val="1628891191"/>
      </p:ext>
    </p:extLst>
  </p:cSld>
</p:sld>
</file>

<file path=ppt/slides/slide1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3DC83454-B5B6-4312-8592-76A3DF5B0361}"/>
              </a:ext>
            </a:extLst>
          </p:cNvPr>
          <p:cNvSpPr>
            <a:spLocks xmlns:a="http://schemas.openxmlformats.org/drawingml/2006/main" noGrp="1"/>
          </p:cNvSpPr>
          <p:nvPr/>
        </p:nvSpPr>
        <p:spPr>
          <a:xfrm xmlns:a="http://schemas.openxmlformats.org/drawingml/2006/main">
            <a:off x="685800" y="276225"/>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647C68"/>
                </a:solidFill>
                <a:latin typeface="Arial"/>
                <a:ea typeface="Arial"/>
                <a:cs typeface="Arial"/>
              </a:defRPr>
            </a:pPr>
            <a:r>
              <a:rPr sz="975" b="1">
                <a:solidFill>
                  <a:srgbClr val="647C68"/>
                </a:solidFill>
                <a:latin typeface="Arial"/>
                <a:ea typeface="Arial"/>
                <a:cs typeface="Arial"/>
              </a:rPr>
              <a:t>IMPROVEMENT | AI ASSISTANT</a:t>
            </a:r>
          </a:p>
        </p:txBody>
      </p:sp>
      <p:sp>
        <p:nvSpPr>
          <p:cNvPr id="2" name="page">
            <a:extLst xmlns:a="http://schemas.openxmlformats.org/drawingml/2006/main">
              <a:ext uri="{FF2B5EF4-FFF2-40B4-BE49-F238E27FC236}">
                <a16:creationId xmlns:a16="http://schemas.microsoft.com/office/drawing/2014/main" id="{819D00D7-D8B0-48F4-81E2-D20ECBF8B42C}"/>
              </a:ext>
            </a:extLst>
          </p:cNvPr>
          <p:cNvSpPr>
            <a:spLocks xmlns:a="http://schemas.openxmlformats.org/drawingml/2006/main" noGrp="1"/>
          </p:cNvSpPr>
          <p:nvPr/>
        </p:nvSpPr>
        <p:spPr>
          <a:xfrm xmlns:a="http://schemas.openxmlformats.org/drawingml/2006/main">
            <a:off x="11144250" y="2762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975" b="0">
                <a:solidFill>
                  <a:srgbClr val="61766D"/>
                </a:solidFill>
                <a:latin typeface="Arial"/>
                <a:ea typeface="Arial"/>
                <a:cs typeface="Arial"/>
              </a:defRPr>
            </a:pPr>
            <a:r>
              <a:rPr sz="975" b="0">
                <a:solidFill>
                  <a:srgbClr val="61766D"/>
                </a:solidFill>
                <a:latin typeface="Arial"/>
                <a:ea typeface="Arial"/>
                <a:cs typeface="Arial"/>
              </a:rPr>
              <a:t>12</a:t>
            </a:r>
          </a:p>
        </p:txBody>
      </p:sp>
      <p:sp>
        <p:nvSpPr>
          <p:cNvPr id="3" name="title">
            <a:extLst xmlns:a="http://schemas.openxmlformats.org/drawingml/2006/main">
              <a:ext uri="{FF2B5EF4-FFF2-40B4-BE49-F238E27FC236}">
                <a16:creationId xmlns:a16="http://schemas.microsoft.com/office/drawing/2014/main" id="{3128E3BE-2C0B-48EC-A1F8-BF27C36F2D18}"/>
              </a:ext>
            </a:extLst>
          </p:cNvPr>
          <p:cNvSpPr>
            <a:spLocks xmlns:a="http://schemas.openxmlformats.org/drawingml/2006/main" noGrp="1"/>
          </p:cNvSpPr>
          <p:nvPr/>
        </p:nvSpPr>
        <p:spPr>
          <a:xfrm xmlns:a="http://schemas.openxmlformats.org/drawingml/2006/main">
            <a:off x="685800" y="600075"/>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925" b="1">
                <a:solidFill>
                  <a:srgbClr val="173D31"/>
                </a:solidFill>
                <a:latin typeface="Arial"/>
                <a:ea typeface="Arial"/>
                <a:cs typeface="Arial"/>
              </a:defRPr>
            </a:pPr>
            <a:r>
              <a:rPr sz="2925" b="1">
                <a:solidFill>
                  <a:srgbClr val="173D31"/>
                </a:solidFill>
                <a:latin typeface="Arial"/>
                <a:ea typeface="Arial"/>
                <a:cs typeface="Arial"/>
              </a:rPr>
              <a:t>Make AI replies easier to scan and act on</a:t>
            </a:r>
          </a:p>
        </p:txBody>
      </p:sp>
      <p:sp>
        <p:nvSpPr>
          <p:cNvPr id="4" name="subtitle">
            <a:extLst xmlns:a="http://schemas.openxmlformats.org/drawingml/2006/main">
              <a:ext uri="{FF2B5EF4-FFF2-40B4-BE49-F238E27FC236}">
                <a16:creationId xmlns:a16="http://schemas.microsoft.com/office/drawing/2014/main" id="{48FDA038-89CD-46DD-AAD5-C12C149E80C7}"/>
              </a:ext>
            </a:extLst>
          </p:cNvPr>
          <p:cNvSpPr>
            <a:spLocks xmlns:a="http://schemas.openxmlformats.org/drawingml/2006/main" noGrp="1"/>
          </p:cNvSpPr>
          <p:nvPr/>
        </p:nvSpPr>
        <p:spPr>
          <a:xfrm xmlns:a="http://schemas.openxmlformats.org/drawingml/2006/main">
            <a:off x="685800" y="11811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The mentor asked the team to improve how responses are presented and to consider quick actions.</a:t>
            </a:r>
          </a:p>
        </p:txBody>
      </p:sp>
      <p:sp>
        <p:nvSpPr>
          <p:cNvPr id="5" name="ai-current">
            <a:extLst xmlns:a="http://schemas.openxmlformats.org/drawingml/2006/main">
              <a:ext uri="{FF2B5EF4-FFF2-40B4-BE49-F238E27FC236}">
                <a16:creationId xmlns:a16="http://schemas.microsoft.com/office/drawing/2014/main" id="{EB15415A-A2F5-4CCF-9727-AD0921FAEE67}"/>
              </a:ext>
            </a:extLst>
          </p:cNvPr>
          <p:cNvSpPr>
            <a:spLocks xmlns:a="http://schemas.openxmlformats.org/drawingml/2006/main" noGrp="1"/>
          </p:cNvSpPr>
          <p:nvPr/>
        </p:nvSpPr>
        <p:spPr>
          <a:xfrm xmlns:a="http://schemas.openxmlformats.org/drawingml/2006/main">
            <a:off x="685800" y="1838325"/>
            <a:ext cx="4953000" cy="3333750"/>
          </a:xfrm>
          <a:prstGeom xmlns:a="http://schemas.openxmlformats.org/drawingml/2006/main" prst="roundRect">
            <a:avLst>
              <a:gd name="adj" fmla="val 5143"/>
            </a:avLst>
          </a:prstGeom>
          <a:solidFill xmlns:a="http://schemas.openxmlformats.org/drawingml/2006/main">
            <a:srgbClr val="DDECE6"/>
          </a:solidFill>
          <a:ln xmlns:a="http://schemas.openxmlformats.org/drawingml/2006/main" w="0">
            <a:noFill/>
            <a:prstDash val="solid"/>
          </a:ln>
        </p:spPr>
      </p:sp>
      <p:sp>
        <p:nvSpPr>
          <p:cNvPr id="6" name="ai-current-label">
            <a:extLst xmlns:a="http://schemas.openxmlformats.org/drawingml/2006/main">
              <a:ext uri="{FF2B5EF4-FFF2-40B4-BE49-F238E27FC236}">
                <a16:creationId xmlns:a16="http://schemas.microsoft.com/office/drawing/2014/main" id="{1B474E1D-27AE-45C7-BC31-6B42397ED31C}"/>
              </a:ext>
            </a:extLst>
          </p:cNvPr>
          <p:cNvSpPr>
            <a:spLocks xmlns:a="http://schemas.openxmlformats.org/drawingml/2006/main" noGrp="1"/>
          </p:cNvSpPr>
          <p:nvPr/>
        </p:nvSpPr>
        <p:spPr>
          <a:xfrm xmlns:a="http://schemas.openxmlformats.org/drawingml/2006/main">
            <a:off x="962025" y="2114550"/>
            <a:ext cx="3714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647C68"/>
                </a:solidFill>
                <a:latin typeface="Arial"/>
                <a:ea typeface="Arial"/>
                <a:cs typeface="Arial"/>
              </a:defRPr>
            </a:pPr>
            <a:r>
              <a:rPr sz="900" b="1">
                <a:solidFill>
                  <a:srgbClr val="647C68"/>
                </a:solidFill>
                <a:latin typeface="Arial"/>
                <a:ea typeface="Arial"/>
                <a:cs typeface="Arial"/>
              </a:rPr>
              <a:t>CURRENT FOUNDATION</a:t>
            </a:r>
          </a:p>
        </p:txBody>
      </p:sp>
      <p:sp>
        <p:nvSpPr>
          <p:cNvPr id="7" name="ai-current-copy">
            <a:extLst xmlns:a="http://schemas.openxmlformats.org/drawingml/2006/main">
              <a:ext uri="{FF2B5EF4-FFF2-40B4-BE49-F238E27FC236}">
                <a16:creationId xmlns:a16="http://schemas.microsoft.com/office/drawing/2014/main" id="{50021DE8-71B2-46E8-B973-BC5967241045}"/>
              </a:ext>
            </a:extLst>
          </p:cNvPr>
          <p:cNvSpPr>
            <a:spLocks xmlns:a="http://schemas.openxmlformats.org/drawingml/2006/main" noGrp="1"/>
          </p:cNvSpPr>
          <p:nvPr/>
        </p:nvSpPr>
        <p:spPr>
          <a:xfrm xmlns:a="http://schemas.openxmlformats.org/drawingml/2006/main">
            <a:off x="962025" y="2514600"/>
            <a:ext cx="4333875"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650" b="1">
                <a:solidFill>
                  <a:srgbClr val="173D31"/>
                </a:solidFill>
                <a:latin typeface="Arial"/>
                <a:ea typeface="Arial"/>
                <a:cs typeface="Arial"/>
              </a:defRPr>
            </a:pPr>
            <a:r>
              <a:rPr sz="1650" b="1">
                <a:solidFill>
                  <a:srgbClr val="173D31"/>
                </a:solidFill>
                <a:latin typeface="Arial"/>
                <a:ea typeface="Arial"/>
                <a:cs typeface="Arial"/>
              </a:rPr>
              <a:t>Inventory-aware tools</a:t>
            </a:r>
          </a:p>
          <a:p xmlns:a="http://schemas.openxmlformats.org/drawingml/2006/main">
            <a:pPr algn="l">
              <a:lnSpc>
                <a:spcPct val="115000"/>
              </a:lnSpc>
              <a:buNone/>
              <a:defRPr sz="1650" b="1">
                <a:solidFill>
                  <a:srgbClr val="173D31"/>
                </a:solidFill>
                <a:latin typeface="Arial"/>
                <a:ea typeface="Arial"/>
                <a:cs typeface="Arial"/>
              </a:defRPr>
            </a:pPr>
            <a:r>
              <a:rPr sz="1650" b="1">
                <a:solidFill>
                  <a:srgbClr val="173D31"/>
                </a:solidFill>
                <a:latin typeface="Arial"/>
                <a:ea typeface="Arial"/>
                <a:cs typeface="Arial"/>
              </a:rPr>
              <a:t>Reviewed food knowledge</a:t>
            </a:r>
          </a:p>
          <a:p xmlns:a="http://schemas.openxmlformats.org/drawingml/2006/main">
            <a:pPr algn="l">
              <a:lnSpc>
                <a:spcPct val="115000"/>
              </a:lnSpc>
              <a:buNone/>
              <a:defRPr sz="1650" b="1">
                <a:solidFill>
                  <a:srgbClr val="173D31"/>
                </a:solidFill>
                <a:latin typeface="Arial"/>
                <a:ea typeface="Arial"/>
                <a:cs typeface="Arial"/>
              </a:defRPr>
            </a:pPr>
            <a:r>
              <a:rPr sz="1650" b="1">
                <a:solidFill>
                  <a:srgbClr val="173D31"/>
                </a:solidFill>
                <a:latin typeface="Arial"/>
                <a:ea typeface="Arial"/>
                <a:cs typeface="Arial"/>
              </a:rPr>
              <a:t>Citations and item links</a:t>
            </a:r>
          </a:p>
          <a:p xmlns:a="http://schemas.openxmlformats.org/drawingml/2006/main">
            <a:pPr algn="l">
              <a:lnSpc>
                <a:spcPct val="115000"/>
              </a:lnSpc>
              <a:buNone/>
              <a:defRPr sz="1650" b="1">
                <a:solidFill>
                  <a:srgbClr val="173D31"/>
                </a:solidFill>
                <a:latin typeface="Arial"/>
                <a:ea typeface="Arial"/>
                <a:cs typeface="Arial"/>
              </a:defRPr>
            </a:pPr>
            <a:r>
              <a:rPr sz="1650" b="1">
                <a:solidFill>
                  <a:srgbClr val="173D31"/>
                </a:solidFill>
                <a:latin typeface="Arial"/>
                <a:ea typeface="Arial"/>
                <a:cs typeface="Arial"/>
              </a:rPr>
              <a:t>Quick prompts and suggested actions</a:t>
            </a:r>
          </a:p>
          <a:p xmlns:a="http://schemas.openxmlformats.org/drawingml/2006/main">
            <a:pPr algn="l">
              <a:lnSpc>
                <a:spcPct val="115000"/>
              </a:lnSpc>
              <a:buNone/>
              <a:defRPr sz="1650" b="1">
                <a:solidFill>
                  <a:srgbClr val="173D31"/>
                </a:solidFill>
                <a:latin typeface="Arial"/>
                <a:ea typeface="Arial"/>
                <a:cs typeface="Arial"/>
              </a:defRPr>
            </a:pPr>
            <a:r>
              <a:rPr sz="1650" b="1">
                <a:solidFill>
                  <a:srgbClr val="173D31"/>
                </a:solidFill>
                <a:latin typeface="Arial"/>
                <a:ea typeface="Arial"/>
                <a:cs typeface="Arial"/>
              </a:rPr>
              <a:t>Confirmation before write actions</a:t>
            </a:r>
          </a:p>
        </p:txBody>
      </p:sp>
      <p:sp>
        <p:nvSpPr>
          <p:cNvPr id="8" name="ai-next">
            <a:extLst xmlns:a="http://schemas.openxmlformats.org/drawingml/2006/main">
              <a:ext uri="{FF2B5EF4-FFF2-40B4-BE49-F238E27FC236}">
                <a16:creationId xmlns:a16="http://schemas.microsoft.com/office/drawing/2014/main" id="{C95E2E29-90B2-4875-8807-8F348F951BF6}"/>
              </a:ext>
            </a:extLst>
          </p:cNvPr>
          <p:cNvSpPr>
            <a:spLocks xmlns:a="http://schemas.openxmlformats.org/drawingml/2006/main" noGrp="1"/>
          </p:cNvSpPr>
          <p:nvPr/>
        </p:nvSpPr>
        <p:spPr>
          <a:xfrm xmlns:a="http://schemas.openxmlformats.org/drawingml/2006/main">
            <a:off x="6134100" y="1838325"/>
            <a:ext cx="5372100" cy="3333750"/>
          </a:xfrm>
          <a:prstGeom xmlns:a="http://schemas.openxmlformats.org/drawingml/2006/main" prst="roundRect">
            <a:avLst>
              <a:gd name="adj" fmla="val 5143"/>
            </a:avLst>
          </a:prstGeom>
          <a:solidFill xmlns:a="http://schemas.openxmlformats.org/drawingml/2006/main">
            <a:srgbClr val="F3EFE6"/>
          </a:solidFill>
          <a:ln xmlns:a="http://schemas.openxmlformats.org/drawingml/2006/main" w="0">
            <a:noFill/>
            <a:prstDash val="solid"/>
          </a:ln>
        </p:spPr>
      </p:sp>
      <p:sp>
        <p:nvSpPr>
          <p:cNvPr id="9" name="ai-next-label">
            <a:extLst xmlns:a="http://schemas.openxmlformats.org/drawingml/2006/main">
              <a:ext uri="{FF2B5EF4-FFF2-40B4-BE49-F238E27FC236}">
                <a16:creationId xmlns:a16="http://schemas.microsoft.com/office/drawing/2014/main" id="{42605F10-57A4-4B57-9508-6DC152BD9591}"/>
              </a:ext>
            </a:extLst>
          </p:cNvPr>
          <p:cNvSpPr>
            <a:spLocks xmlns:a="http://schemas.openxmlformats.org/drawingml/2006/main" noGrp="1"/>
          </p:cNvSpPr>
          <p:nvPr/>
        </p:nvSpPr>
        <p:spPr>
          <a:xfrm xmlns:a="http://schemas.openxmlformats.org/drawingml/2006/main">
            <a:off x="6419850" y="21145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D47B21"/>
                </a:solidFill>
                <a:latin typeface="Arial"/>
                <a:ea typeface="Arial"/>
                <a:cs typeface="Arial"/>
              </a:defRPr>
            </a:pPr>
            <a:r>
              <a:rPr sz="900" b="1">
                <a:solidFill>
                  <a:srgbClr val="D47B21"/>
                </a:solidFill>
                <a:latin typeface="Arial"/>
                <a:ea typeface="Arial"/>
                <a:cs typeface="Arial"/>
              </a:rPr>
              <a:t>ITERATION 3 RESPONSE FORMAT</a:t>
            </a:r>
          </a:p>
        </p:txBody>
      </p:sp>
      <p:sp>
        <p:nvSpPr>
          <p:cNvPr id="10" name="ai-change-1-accent">
            <a:extLst xmlns:a="http://schemas.openxmlformats.org/drawingml/2006/main">
              <a:ext uri="{FF2B5EF4-FFF2-40B4-BE49-F238E27FC236}">
                <a16:creationId xmlns:a16="http://schemas.microsoft.com/office/drawing/2014/main" id="{C84DC51C-BC21-47B9-B5AE-86DE59B8C1AC}"/>
              </a:ext>
            </a:extLst>
          </p:cNvPr>
          <p:cNvSpPr>
            <a:spLocks xmlns:a="http://schemas.openxmlformats.org/drawingml/2006/main" noGrp="1"/>
          </p:cNvSpPr>
          <p:nvPr/>
        </p:nvSpPr>
        <p:spPr>
          <a:xfrm xmlns:a="http://schemas.openxmlformats.org/drawingml/2006/main">
            <a:off x="6419850" y="2533650"/>
            <a:ext cx="38100" cy="542925"/>
          </a:xfrm>
          <a:prstGeom xmlns:a="http://schemas.openxmlformats.org/drawingml/2006/main" prst="roundRect">
            <a:avLst>
              <a:gd name="adj" fmla="val 50000"/>
            </a:avLst>
          </a:prstGeom>
          <a:solidFill xmlns:a="http://schemas.openxmlformats.org/drawingml/2006/main">
            <a:srgbClr val="2A8A61"/>
          </a:solidFill>
          <a:ln xmlns:a="http://schemas.openxmlformats.org/drawingml/2006/main" w="0">
            <a:noFill/>
            <a:prstDash val="solid"/>
          </a:ln>
        </p:spPr>
      </p:sp>
      <p:sp>
        <p:nvSpPr>
          <p:cNvPr id="11" name="ai-change-1-title">
            <a:extLst xmlns:a="http://schemas.openxmlformats.org/drawingml/2006/main">
              <a:ext uri="{FF2B5EF4-FFF2-40B4-BE49-F238E27FC236}">
                <a16:creationId xmlns:a16="http://schemas.microsoft.com/office/drawing/2014/main" id="{1DE6B358-C121-4861-905A-8EB9412B82FF}"/>
              </a:ext>
            </a:extLst>
          </p:cNvPr>
          <p:cNvSpPr>
            <a:spLocks xmlns:a="http://schemas.openxmlformats.org/drawingml/2006/main" noGrp="1"/>
          </p:cNvSpPr>
          <p:nvPr/>
        </p:nvSpPr>
        <p:spPr>
          <a:xfrm xmlns:a="http://schemas.openxmlformats.org/drawingml/2006/main">
            <a:off x="6591300" y="2524125"/>
            <a:ext cx="44481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Scan first</a:t>
            </a:r>
          </a:p>
        </p:txBody>
      </p:sp>
      <p:sp>
        <p:nvSpPr>
          <p:cNvPr id="12" name="ai-change-1-body">
            <a:extLst xmlns:a="http://schemas.openxmlformats.org/drawingml/2006/main">
              <a:ext uri="{FF2B5EF4-FFF2-40B4-BE49-F238E27FC236}">
                <a16:creationId xmlns:a16="http://schemas.microsoft.com/office/drawing/2014/main" id="{63B5BD42-A59E-4136-BBAA-52F93438C68F}"/>
              </a:ext>
            </a:extLst>
          </p:cNvPr>
          <p:cNvSpPr>
            <a:spLocks xmlns:a="http://schemas.openxmlformats.org/drawingml/2006/main" noGrp="1"/>
          </p:cNvSpPr>
          <p:nvPr/>
        </p:nvSpPr>
        <p:spPr>
          <a:xfrm xmlns:a="http://schemas.openxmlformats.org/drawingml/2006/main">
            <a:off x="6591300" y="2809875"/>
            <a:ext cx="4448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a:solidFill>
                  <a:srgbClr val="61766D"/>
                </a:solidFill>
                <a:latin typeface="Arial"/>
                <a:ea typeface="Arial"/>
                <a:cs typeface="Arial"/>
              </a:defRPr>
            </a:pPr>
            <a:r>
              <a:rPr sz="1350" b="0">
                <a:solidFill>
                  <a:srgbClr val="61766D"/>
                </a:solidFill>
                <a:latin typeface="Arial"/>
                <a:ea typeface="Arial"/>
                <a:cs typeface="Arial"/>
              </a:rPr>
              <a:t>Short answer with clear headings and separate supporting detail.</a:t>
            </a:r>
          </a:p>
        </p:txBody>
      </p:sp>
      <p:sp>
        <p:nvSpPr>
          <p:cNvPr id="13" name="ai-change-2-accent">
            <a:extLst xmlns:a="http://schemas.openxmlformats.org/drawingml/2006/main">
              <a:ext uri="{FF2B5EF4-FFF2-40B4-BE49-F238E27FC236}">
                <a16:creationId xmlns:a16="http://schemas.microsoft.com/office/drawing/2014/main" id="{F3C37CA0-C873-481C-8FCA-184D20756133}"/>
              </a:ext>
            </a:extLst>
          </p:cNvPr>
          <p:cNvSpPr>
            <a:spLocks xmlns:a="http://schemas.openxmlformats.org/drawingml/2006/main" noGrp="1"/>
          </p:cNvSpPr>
          <p:nvPr/>
        </p:nvSpPr>
        <p:spPr>
          <a:xfrm xmlns:a="http://schemas.openxmlformats.org/drawingml/2006/main">
            <a:off x="6419850" y="3505200"/>
            <a:ext cx="38100" cy="542925"/>
          </a:xfrm>
          <a:prstGeom xmlns:a="http://schemas.openxmlformats.org/drawingml/2006/main" prst="roundRect">
            <a:avLst>
              <a:gd name="adj" fmla="val 50000"/>
            </a:avLst>
          </a:prstGeom>
          <a:solidFill xmlns:a="http://schemas.openxmlformats.org/drawingml/2006/main">
            <a:srgbClr val="D47B21"/>
          </a:solidFill>
          <a:ln xmlns:a="http://schemas.openxmlformats.org/drawingml/2006/main" w="0">
            <a:noFill/>
            <a:prstDash val="solid"/>
          </a:ln>
        </p:spPr>
      </p:sp>
      <p:sp>
        <p:nvSpPr>
          <p:cNvPr id="14" name="ai-change-2-title">
            <a:extLst xmlns:a="http://schemas.openxmlformats.org/drawingml/2006/main">
              <a:ext uri="{FF2B5EF4-FFF2-40B4-BE49-F238E27FC236}">
                <a16:creationId xmlns:a16="http://schemas.microsoft.com/office/drawing/2014/main" id="{C405A763-6F1B-4A44-B4DE-54B862D93570}"/>
              </a:ext>
            </a:extLst>
          </p:cNvPr>
          <p:cNvSpPr>
            <a:spLocks xmlns:a="http://schemas.openxmlformats.org/drawingml/2006/main" noGrp="1"/>
          </p:cNvSpPr>
          <p:nvPr/>
        </p:nvSpPr>
        <p:spPr>
          <a:xfrm xmlns:a="http://schemas.openxmlformats.org/drawingml/2006/main">
            <a:off x="6591300" y="3495675"/>
            <a:ext cx="44481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173D31"/>
                </a:solidFill>
                <a:latin typeface="Arial"/>
                <a:ea typeface="Arial"/>
                <a:cs typeface="Arial"/>
              </a:defRPr>
            </a:pPr>
            <a:r>
              <a:rPr sz="1575" b="1">
                <a:solidFill>
                  <a:srgbClr val="173D31"/>
                </a:solidFill>
                <a:latin typeface="Arial"/>
                <a:ea typeface="Arial"/>
                <a:cs typeface="Arial"/>
              </a:rPr>
              <a:t>Offer next steps</a:t>
            </a:r>
          </a:p>
        </p:txBody>
      </p:sp>
      <p:sp>
        <p:nvSpPr>
          <p:cNvPr id="15" name="ai-change-2-body">
            <a:extLst xmlns:a="http://schemas.openxmlformats.org/drawingml/2006/main">
              <a:ext uri="{FF2B5EF4-FFF2-40B4-BE49-F238E27FC236}">
                <a16:creationId xmlns:a16="http://schemas.microsoft.com/office/drawing/2014/main" id="{DEA81A79-89A9-480D-9FBF-433E4FA47AFC}"/>
              </a:ext>
            </a:extLst>
          </p:cNvPr>
          <p:cNvSpPr>
            <a:spLocks xmlns:a="http://schemas.openxmlformats.org/drawingml/2006/main" noGrp="1"/>
          </p:cNvSpPr>
          <p:nvPr/>
        </p:nvSpPr>
        <p:spPr>
          <a:xfrm xmlns:a="http://schemas.openxmlformats.org/drawingml/2006/main">
            <a:off x="6591300" y="3781425"/>
            <a:ext cx="4448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a:solidFill>
                  <a:srgbClr val="61766D"/>
                </a:solidFill>
                <a:latin typeface="Arial"/>
                <a:ea typeface="Arial"/>
                <a:cs typeface="Arial"/>
              </a:defRPr>
            </a:pPr>
            <a:r>
              <a:rPr sz="1350" b="0">
                <a:solidFill>
                  <a:srgbClr val="61766D"/>
                </a:solidFill>
                <a:latin typeface="Arial"/>
                <a:ea typeface="Arial"/>
                <a:cs typeface="Arial"/>
              </a:rPr>
              <a:t>Show only relevant quick actions, such as opening an item or asking a follow-up.</a:t>
            </a:r>
          </a:p>
        </p:txBody>
      </p:sp>
      <p:sp>
        <p:nvSpPr>
          <p:cNvPr id="16" name="ai-principle">
            <a:extLst xmlns:a="http://schemas.openxmlformats.org/drawingml/2006/main">
              <a:ext uri="{FF2B5EF4-FFF2-40B4-BE49-F238E27FC236}">
                <a16:creationId xmlns:a16="http://schemas.microsoft.com/office/drawing/2014/main" id="{3CD27C5C-AB03-4BD6-8F59-CB8FB30A2949}"/>
              </a:ext>
            </a:extLst>
          </p:cNvPr>
          <p:cNvSpPr>
            <a:spLocks xmlns:a="http://schemas.openxmlformats.org/drawingml/2006/main" noGrp="1"/>
          </p:cNvSpPr>
          <p:nvPr/>
        </p:nvSpPr>
        <p:spPr>
          <a:xfrm xmlns:a="http://schemas.openxmlformats.org/drawingml/2006/main">
            <a:off x="685800" y="550545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500" b="1">
                <a:solidFill>
                  <a:srgbClr val="647C68"/>
                </a:solidFill>
                <a:latin typeface="Arial"/>
                <a:ea typeface="Arial"/>
                <a:cs typeface="Arial"/>
              </a:defRPr>
            </a:pPr>
            <a:r>
              <a:rPr sz="1500" b="1">
                <a:solidFill>
                  <a:srgbClr val="647C68"/>
                </a:solidFill>
                <a:latin typeface="Arial"/>
                <a:ea typeface="Arial"/>
                <a:cs typeface="Arial"/>
              </a:rPr>
              <a:t>Keep advice grounded in fridge data and let the user decide before any change is saved.</a:t>
            </a:r>
          </a:p>
        </p:txBody>
      </p:sp>
      <p:sp>
        <p:nvSpPr>
          <p:cNvPr id="17" name="footer-rule">
            <a:extLst xmlns:a="http://schemas.openxmlformats.org/drawingml/2006/main">
              <a:ext uri="{FF2B5EF4-FFF2-40B4-BE49-F238E27FC236}">
                <a16:creationId xmlns:a16="http://schemas.microsoft.com/office/drawing/2014/main" id="{9E5E0A4F-376A-4EF5-9E30-D6238FAC2B4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18" name="footer-label">
            <a:extLst xmlns:a="http://schemas.openxmlformats.org/drawingml/2006/main">
              <a:ext uri="{FF2B5EF4-FFF2-40B4-BE49-F238E27FC236}">
                <a16:creationId xmlns:a16="http://schemas.microsoft.com/office/drawing/2014/main" id="{81E8ACE1-5BD4-4880-8D3C-348A143C88B4}"/>
              </a:ext>
            </a:extLst>
          </p:cNvPr>
          <p:cNvSpPr>
            <a:spLocks xmlns:a="http://schemas.openxmlformats.org/drawingml/2006/main" noGrp="1"/>
          </p:cNvSpPr>
          <p:nvPr/>
        </p:nvSpPr>
        <p:spPr>
          <a:xfrm xmlns:a="http://schemas.openxmlformats.org/drawingml/2006/main">
            <a:off x="685800" y="6543675"/>
            <a:ext cx="581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KitchMemo  |  Iteration 3 Product Discovery</a:t>
            </a:r>
          </a:p>
        </p:txBody>
      </p:sp>
      <p:sp>
        <p:nvSpPr>
          <p:cNvPr id="19" name="footer-number">
            <a:extLst xmlns:a="http://schemas.openxmlformats.org/drawingml/2006/main">
              <a:ext uri="{FF2B5EF4-FFF2-40B4-BE49-F238E27FC236}">
                <a16:creationId xmlns:a16="http://schemas.microsoft.com/office/drawing/2014/main" id="{A48BD575-F0C0-4217-B9DC-D6E2F4990CD7}"/>
              </a:ext>
            </a:extLst>
          </p:cNvPr>
          <p:cNvSpPr>
            <a:spLocks xmlns:a="http://schemas.openxmlformats.org/drawingml/2006/main" noGrp="1"/>
          </p:cNvSpPr>
          <p:nvPr/>
        </p:nvSpPr>
        <p:spPr>
          <a:xfrm xmlns:a="http://schemas.openxmlformats.org/drawingml/2006/main">
            <a:off x="1114425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12</a:t>
            </a:r>
          </a:p>
        </p:txBody>
      </p:sp>
    </p:spTree>
    <p:extLst>
      <p:ext uri="{BB962C8B-B14F-4D97-AF65-F5344CB8AC3E}">
        <p14:creationId xmlns:p14="http://schemas.microsoft.com/office/powerpoint/2010/main" val="525511815"/>
      </p:ext>
    </p:extLst>
  </p:cSld>
</p:sld>
</file>

<file path=ppt/slides/slide13.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32" name="section">
            <a:extLst xmlns:a="http://schemas.openxmlformats.org/drawingml/2006/main">
              <a:ext uri="{FF2B5EF4-FFF2-40B4-BE49-F238E27FC236}">
                <a16:creationId xmlns:a16="http://schemas.microsoft.com/office/drawing/2014/main" id="{46A1337E-32F6-445B-8D93-8542AB571F2D}"/>
              </a:ext>
            </a:extLst>
          </p:cNvPr>
          <p:cNvSpPr>
            <a:spLocks xmlns:a="http://schemas.openxmlformats.org/drawingml/2006/main" noGrp="1"/>
          </p:cNvSpPr>
          <p:nvPr/>
        </p:nvSpPr>
        <p:spPr>
          <a:xfrm xmlns:a="http://schemas.openxmlformats.org/drawingml/2006/main">
            <a:off x="685800" y="276225"/>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647C68"/>
                </a:solidFill>
                <a:latin typeface="Arial"/>
                <a:ea typeface="Arial"/>
                <a:cs typeface="Arial"/>
              </a:defRPr>
            </a:pPr>
            <a:r>
              <a:rPr sz="975" b="1">
                <a:solidFill>
                  <a:srgbClr val="647C68"/>
                </a:solidFill>
                <a:latin typeface="Arial"/>
                <a:ea typeface="Arial"/>
                <a:cs typeface="Arial"/>
              </a:rPr>
              <a:t>AI DESIGN | FEASIBILITY STUDY</a:t>
            </a:r>
          </a:p>
        </p:txBody>
      </p:sp>
      <p:sp>
        <p:nvSpPr>
          <p:cNvPr id="2" name="page">
            <a:extLst xmlns:a="http://schemas.openxmlformats.org/drawingml/2006/main">
              <a:ext uri="{FF2B5EF4-FFF2-40B4-BE49-F238E27FC236}">
                <a16:creationId xmlns:a16="http://schemas.microsoft.com/office/drawing/2014/main" id="{D0A33DD6-BE56-41C7-84A0-0E06DB0E5F92}"/>
              </a:ext>
            </a:extLst>
          </p:cNvPr>
          <p:cNvSpPr>
            <a:spLocks xmlns:a="http://schemas.openxmlformats.org/drawingml/2006/main" noGrp="1"/>
          </p:cNvSpPr>
          <p:nvPr/>
        </p:nvSpPr>
        <p:spPr>
          <a:xfrm xmlns:a="http://schemas.openxmlformats.org/drawingml/2006/main">
            <a:off x="11144250" y="2762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975" b="0">
                <a:solidFill>
                  <a:srgbClr val="61766D"/>
                </a:solidFill>
                <a:latin typeface="Arial"/>
                <a:ea typeface="Arial"/>
                <a:cs typeface="Arial"/>
              </a:defRPr>
            </a:pPr>
            <a:r>
              <a:rPr sz="975" b="0">
                <a:solidFill>
                  <a:srgbClr val="61766D"/>
                </a:solidFill>
                <a:latin typeface="Arial"/>
                <a:ea typeface="Arial"/>
                <a:cs typeface="Arial"/>
              </a:rPr>
              <a:t>13</a:t>
            </a:r>
          </a:p>
        </p:txBody>
      </p:sp>
      <p:sp>
        <p:nvSpPr>
          <p:cNvPr id="3" name="title">
            <a:extLst xmlns:a="http://schemas.openxmlformats.org/drawingml/2006/main">
              <a:ext uri="{FF2B5EF4-FFF2-40B4-BE49-F238E27FC236}">
                <a16:creationId xmlns:a16="http://schemas.microsoft.com/office/drawing/2014/main" id="{588E3D09-CB6B-4E57-B09D-EB949005127C}"/>
              </a:ext>
            </a:extLst>
          </p:cNvPr>
          <p:cNvSpPr>
            <a:spLocks xmlns:a="http://schemas.openxmlformats.org/drawingml/2006/main" noGrp="1"/>
          </p:cNvSpPr>
          <p:nvPr/>
        </p:nvSpPr>
        <p:spPr>
          <a:xfrm xmlns:a="http://schemas.openxmlformats.org/drawingml/2006/main">
            <a:off x="685800" y="600075"/>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11"/>
          </a:bodyPr>
          <a:lstStyle xmlns:a="http://schemas.openxmlformats.org/drawingml/2006/main"/>
          <a:p xmlns:a="http://schemas.openxmlformats.org/drawingml/2006/main">
            <a:pPr algn="l">
              <a:lnSpc>
                <a:spcPct val="96000"/>
              </a:lnSpc>
              <a:buNone/>
              <a:defRPr sz="2925" b="1">
                <a:solidFill>
                  <a:srgbClr val="173D31"/>
                </a:solidFill>
                <a:latin typeface="Arial"/>
                <a:ea typeface="Arial"/>
                <a:cs typeface="Arial"/>
              </a:defRPr>
            </a:pPr>
            <a:r>
              <a:rPr sz="2925" b="1">
                <a:solidFill>
                  <a:srgbClr val="173D31"/>
                </a:solidFill>
                <a:latin typeface="Arial"/>
                <a:ea typeface="Arial"/>
                <a:cs typeface="Arial"/>
              </a:rPr>
              <a:t>Jev may route decisions faster, while RAG and Luna keep their roles</a:t>
            </a:r>
          </a:p>
        </p:txBody>
      </p:sp>
      <p:sp>
        <p:nvSpPr>
          <p:cNvPr id="4" name="subtitle">
            <a:extLst xmlns:a="http://schemas.openxmlformats.org/drawingml/2006/main">
              <a:ext uri="{FF2B5EF4-FFF2-40B4-BE49-F238E27FC236}">
                <a16:creationId xmlns:a16="http://schemas.microsoft.com/office/drawing/2014/main" id="{40E935EA-2434-4AD9-84DF-6DC9926D76C2}"/>
              </a:ext>
            </a:extLst>
          </p:cNvPr>
          <p:cNvSpPr>
            <a:spLocks xmlns:a="http://schemas.openxmlformats.org/drawingml/2006/main" noGrp="1"/>
          </p:cNvSpPr>
          <p:nvPr/>
        </p:nvSpPr>
        <p:spPr>
          <a:xfrm xmlns:a="http://schemas.openxmlformats.org/drawingml/2006/main">
            <a:off x="685800" y="11811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The proposal is an experiment in the assistant workflow, not a replacement for conversational AI.</a:t>
            </a:r>
          </a:p>
        </p:txBody>
      </p:sp>
      <p:sp>
        <p:nvSpPr>
          <p:cNvPr id="5" name="jev-box-0">
            <a:extLst xmlns:a="http://schemas.openxmlformats.org/drawingml/2006/main">
              <a:ext uri="{FF2B5EF4-FFF2-40B4-BE49-F238E27FC236}">
                <a16:creationId xmlns:a16="http://schemas.microsoft.com/office/drawing/2014/main" id="{FF5EB0D9-804F-435A-BE66-394985D2119C}"/>
              </a:ext>
            </a:extLst>
          </p:cNvPr>
          <p:cNvSpPr>
            <a:spLocks xmlns:a="http://schemas.openxmlformats.org/drawingml/2006/main" noGrp="1"/>
          </p:cNvSpPr>
          <p:nvPr/>
        </p:nvSpPr>
        <p:spPr>
          <a:xfrm xmlns:a="http://schemas.openxmlformats.org/drawingml/2006/main">
            <a:off x="685800" y="1943100"/>
            <a:ext cx="1847850" cy="1733550"/>
          </a:xfrm>
          <a:prstGeom xmlns:a="http://schemas.openxmlformats.org/drawingml/2006/main" prst="roundRect">
            <a:avLst>
              <a:gd name="adj" fmla="val 7692"/>
            </a:avLst>
          </a:prstGeom>
          <a:solidFill xmlns:a="http://schemas.openxmlformats.org/drawingml/2006/main">
            <a:srgbClr val="F3EFE6"/>
          </a:solidFill>
          <a:ln xmlns:a="http://schemas.openxmlformats.org/drawingml/2006/main" w="0">
            <a:noFill/>
            <a:prstDash val="solid"/>
          </a:ln>
        </p:spPr>
      </p:sp>
      <p:sp>
        <p:nvSpPr>
          <p:cNvPr id="6" name="jev-num-0">
            <a:extLst xmlns:a="http://schemas.openxmlformats.org/drawingml/2006/main">
              <a:ext uri="{FF2B5EF4-FFF2-40B4-BE49-F238E27FC236}">
                <a16:creationId xmlns:a16="http://schemas.microsoft.com/office/drawing/2014/main" id="{60FF6FFE-62FB-4C6A-8A7E-5AB0052DD7D5}"/>
              </a:ext>
            </a:extLst>
          </p:cNvPr>
          <p:cNvSpPr>
            <a:spLocks xmlns:a="http://schemas.openxmlformats.org/drawingml/2006/main" noGrp="1"/>
          </p:cNvSpPr>
          <p:nvPr/>
        </p:nvSpPr>
        <p:spPr>
          <a:xfrm xmlns:a="http://schemas.openxmlformats.org/drawingml/2006/main">
            <a:off x="857250" y="21050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2A8A61"/>
                </a:solidFill>
                <a:latin typeface="Arial"/>
                <a:ea typeface="Arial"/>
                <a:cs typeface="Arial"/>
              </a:defRPr>
            </a:pPr>
            <a:r>
              <a:rPr sz="1350" b="1">
                <a:solidFill>
                  <a:srgbClr val="2A8A61"/>
                </a:solidFill>
                <a:latin typeface="Arial"/>
                <a:ea typeface="Arial"/>
                <a:cs typeface="Arial"/>
              </a:rPr>
              <a:t>1</a:t>
            </a:r>
          </a:p>
        </p:txBody>
      </p:sp>
      <p:sp>
        <p:nvSpPr>
          <p:cNvPr id="7" name="jev-title-0">
            <a:extLst xmlns:a="http://schemas.openxmlformats.org/drawingml/2006/main">
              <a:ext uri="{FF2B5EF4-FFF2-40B4-BE49-F238E27FC236}">
                <a16:creationId xmlns:a16="http://schemas.microsoft.com/office/drawing/2014/main" id="{4521D842-5BB4-4348-B2FE-CA490C4D69F8}"/>
              </a:ext>
            </a:extLst>
          </p:cNvPr>
          <p:cNvSpPr>
            <a:spLocks xmlns:a="http://schemas.openxmlformats.org/drawingml/2006/main" noGrp="1"/>
          </p:cNvSpPr>
          <p:nvPr/>
        </p:nvSpPr>
        <p:spPr>
          <a:xfrm xmlns:a="http://schemas.openxmlformats.org/drawingml/2006/main">
            <a:off x="857250" y="2505075"/>
            <a:ext cx="1524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a:solidFill>
                  <a:srgbClr val="173D31"/>
                </a:solidFill>
                <a:latin typeface="Arial"/>
                <a:ea typeface="Arial"/>
                <a:cs typeface="Arial"/>
              </a:defRPr>
            </a:pPr>
            <a:r>
              <a:rPr sz="1500" b="1">
                <a:solidFill>
                  <a:srgbClr val="173D31"/>
                </a:solidFill>
                <a:latin typeface="Arial"/>
                <a:ea typeface="Arial"/>
                <a:cs typeface="Arial"/>
              </a:rPr>
              <a:t>User question</a:t>
            </a:r>
          </a:p>
        </p:txBody>
      </p:sp>
      <p:sp>
        <p:nvSpPr>
          <p:cNvPr id="8" name="jev-copy-0">
            <a:extLst xmlns:a="http://schemas.openxmlformats.org/drawingml/2006/main">
              <a:ext uri="{FF2B5EF4-FFF2-40B4-BE49-F238E27FC236}">
                <a16:creationId xmlns:a16="http://schemas.microsoft.com/office/drawing/2014/main" id="{BC355414-6256-472E-84A0-87788FBBA0B4}"/>
              </a:ext>
            </a:extLst>
          </p:cNvPr>
          <p:cNvSpPr>
            <a:spLocks xmlns:a="http://schemas.openxmlformats.org/drawingml/2006/main" noGrp="1"/>
          </p:cNvSpPr>
          <p:nvPr/>
        </p:nvSpPr>
        <p:spPr>
          <a:xfrm xmlns:a="http://schemas.openxmlformats.org/drawingml/2006/main">
            <a:off x="857250" y="2924175"/>
            <a:ext cx="152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61766D"/>
                </a:solidFill>
                <a:latin typeface="Arial"/>
                <a:ea typeface="Arial"/>
                <a:cs typeface="Arial"/>
              </a:defRPr>
            </a:pPr>
            <a:r>
              <a:rPr sz="1200" b="0">
                <a:solidFill>
                  <a:srgbClr val="61766D"/>
                </a:solidFill>
                <a:latin typeface="Arial"/>
                <a:ea typeface="Arial"/>
                <a:cs typeface="Arial"/>
              </a:rPr>
              <a:t>Message + approved state</a:t>
            </a:r>
          </a:p>
        </p:txBody>
      </p:sp>
      <p:sp>
        <p:nvSpPr>
          <p:cNvPr id="9" name="jev-box-1">
            <a:extLst xmlns:a="http://schemas.openxmlformats.org/drawingml/2006/main">
              <a:ext uri="{FF2B5EF4-FFF2-40B4-BE49-F238E27FC236}">
                <a16:creationId xmlns:a16="http://schemas.microsoft.com/office/drawing/2014/main" id="{796070FE-8F31-453E-AD73-4F5DE2E8FAB3}"/>
              </a:ext>
            </a:extLst>
          </p:cNvPr>
          <p:cNvSpPr>
            <a:spLocks xmlns:a="http://schemas.openxmlformats.org/drawingml/2006/main" noGrp="1"/>
          </p:cNvSpPr>
          <p:nvPr/>
        </p:nvSpPr>
        <p:spPr>
          <a:xfrm xmlns:a="http://schemas.openxmlformats.org/drawingml/2006/main">
            <a:off x="2828925" y="1943100"/>
            <a:ext cx="1847850" cy="1733550"/>
          </a:xfrm>
          <a:prstGeom xmlns:a="http://schemas.openxmlformats.org/drawingml/2006/main" prst="roundRect">
            <a:avLst>
              <a:gd name="adj" fmla="val 7692"/>
            </a:avLst>
          </a:prstGeom>
          <a:solidFill xmlns:a="http://schemas.openxmlformats.org/drawingml/2006/main">
            <a:srgbClr val="FFF1E3"/>
          </a:solidFill>
          <a:ln xmlns:a="http://schemas.openxmlformats.org/drawingml/2006/main" w="0">
            <a:noFill/>
            <a:prstDash val="solid"/>
          </a:ln>
        </p:spPr>
      </p:sp>
      <p:sp>
        <p:nvSpPr>
          <p:cNvPr id="10" name="jev-num-1">
            <a:extLst xmlns:a="http://schemas.openxmlformats.org/drawingml/2006/main">
              <a:ext uri="{FF2B5EF4-FFF2-40B4-BE49-F238E27FC236}">
                <a16:creationId xmlns:a16="http://schemas.microsoft.com/office/drawing/2014/main" id="{01802F06-2D0F-428D-9B31-95A5D43BC1C5}"/>
              </a:ext>
            </a:extLst>
          </p:cNvPr>
          <p:cNvSpPr>
            <a:spLocks xmlns:a="http://schemas.openxmlformats.org/drawingml/2006/main" noGrp="1"/>
          </p:cNvSpPr>
          <p:nvPr/>
        </p:nvSpPr>
        <p:spPr>
          <a:xfrm xmlns:a="http://schemas.openxmlformats.org/drawingml/2006/main">
            <a:off x="3000375" y="21050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D47B21"/>
                </a:solidFill>
                <a:latin typeface="Arial"/>
                <a:ea typeface="Arial"/>
                <a:cs typeface="Arial"/>
              </a:defRPr>
            </a:pPr>
            <a:r>
              <a:rPr sz="1350" b="1">
                <a:solidFill>
                  <a:srgbClr val="D47B21"/>
                </a:solidFill>
                <a:latin typeface="Arial"/>
                <a:ea typeface="Arial"/>
                <a:cs typeface="Arial"/>
              </a:rPr>
              <a:t>2</a:t>
            </a:r>
          </a:p>
        </p:txBody>
      </p:sp>
      <p:sp>
        <p:nvSpPr>
          <p:cNvPr id="11" name="jev-title-1">
            <a:extLst xmlns:a="http://schemas.openxmlformats.org/drawingml/2006/main">
              <a:ext uri="{FF2B5EF4-FFF2-40B4-BE49-F238E27FC236}">
                <a16:creationId xmlns:a16="http://schemas.microsoft.com/office/drawing/2014/main" id="{E7DBB4CB-BE79-4EE7-89D7-14B1C003A772}"/>
              </a:ext>
            </a:extLst>
          </p:cNvPr>
          <p:cNvSpPr>
            <a:spLocks xmlns:a="http://schemas.openxmlformats.org/drawingml/2006/main" noGrp="1"/>
          </p:cNvSpPr>
          <p:nvPr/>
        </p:nvSpPr>
        <p:spPr>
          <a:xfrm xmlns:a="http://schemas.openxmlformats.org/drawingml/2006/main">
            <a:off x="3000375" y="2505075"/>
            <a:ext cx="1524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a:solidFill>
                  <a:srgbClr val="173D31"/>
                </a:solidFill>
                <a:latin typeface="Arial"/>
                <a:ea typeface="Arial"/>
                <a:cs typeface="Arial"/>
              </a:defRPr>
            </a:pPr>
            <a:r>
              <a:rPr sz="1500" b="1">
                <a:solidFill>
                  <a:srgbClr val="173D31"/>
                </a:solidFill>
                <a:latin typeface="Arial"/>
                <a:ea typeface="Arial"/>
                <a:cs typeface="Arial"/>
              </a:rPr>
              <a:t>Jev decision</a:t>
            </a:r>
          </a:p>
        </p:txBody>
      </p:sp>
      <p:sp>
        <p:nvSpPr>
          <p:cNvPr id="12" name="jev-copy-1">
            <a:extLst xmlns:a="http://schemas.openxmlformats.org/drawingml/2006/main">
              <a:ext uri="{FF2B5EF4-FFF2-40B4-BE49-F238E27FC236}">
                <a16:creationId xmlns:a16="http://schemas.microsoft.com/office/drawing/2014/main" id="{C640171A-249E-42D5-80C8-A26F34BD5BAD}"/>
              </a:ext>
            </a:extLst>
          </p:cNvPr>
          <p:cNvSpPr>
            <a:spLocks xmlns:a="http://schemas.openxmlformats.org/drawingml/2006/main" noGrp="1"/>
          </p:cNvSpPr>
          <p:nvPr/>
        </p:nvSpPr>
        <p:spPr>
          <a:xfrm xmlns:a="http://schemas.openxmlformats.org/drawingml/2006/main">
            <a:off x="3000375" y="2924175"/>
            <a:ext cx="152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61766D"/>
                </a:solidFill>
                <a:latin typeface="Arial"/>
                <a:ea typeface="Arial"/>
                <a:cs typeface="Arial"/>
              </a:defRPr>
            </a:pPr>
            <a:r>
              <a:rPr sz="1200" b="0">
                <a:solidFill>
                  <a:srgbClr val="61766D"/>
                </a:solidFill>
                <a:latin typeface="Arial"/>
                <a:ea typeface="Arial"/>
                <a:cs typeface="Arial"/>
              </a:rPr>
              <a:t>Choose a bounded route</a:t>
            </a:r>
          </a:p>
        </p:txBody>
      </p:sp>
      <p:sp>
        <p:nvSpPr>
          <p:cNvPr id="13" name="jev-box-2">
            <a:extLst xmlns:a="http://schemas.openxmlformats.org/drawingml/2006/main">
              <a:ext uri="{FF2B5EF4-FFF2-40B4-BE49-F238E27FC236}">
                <a16:creationId xmlns:a16="http://schemas.microsoft.com/office/drawing/2014/main" id="{B2C16E7E-96AC-4C0F-9249-2460F3A92A81}"/>
              </a:ext>
            </a:extLst>
          </p:cNvPr>
          <p:cNvSpPr>
            <a:spLocks xmlns:a="http://schemas.openxmlformats.org/drawingml/2006/main" noGrp="1"/>
          </p:cNvSpPr>
          <p:nvPr/>
        </p:nvSpPr>
        <p:spPr>
          <a:xfrm xmlns:a="http://schemas.openxmlformats.org/drawingml/2006/main">
            <a:off x="4972050" y="1943100"/>
            <a:ext cx="1847850" cy="1733550"/>
          </a:xfrm>
          <a:prstGeom xmlns:a="http://schemas.openxmlformats.org/drawingml/2006/main" prst="roundRect">
            <a:avLst>
              <a:gd name="adj" fmla="val 7692"/>
            </a:avLst>
          </a:prstGeom>
          <a:solidFill xmlns:a="http://schemas.openxmlformats.org/drawingml/2006/main">
            <a:srgbClr val="F3EFE6"/>
          </a:solidFill>
          <a:ln xmlns:a="http://schemas.openxmlformats.org/drawingml/2006/main" w="0">
            <a:noFill/>
            <a:prstDash val="solid"/>
          </a:ln>
        </p:spPr>
      </p:sp>
      <p:sp>
        <p:nvSpPr>
          <p:cNvPr id="14" name="jev-num-2">
            <a:extLst xmlns:a="http://schemas.openxmlformats.org/drawingml/2006/main">
              <a:ext uri="{FF2B5EF4-FFF2-40B4-BE49-F238E27FC236}">
                <a16:creationId xmlns:a16="http://schemas.microsoft.com/office/drawing/2014/main" id="{30225621-FE63-4732-891C-A6A11504CE95}"/>
              </a:ext>
            </a:extLst>
          </p:cNvPr>
          <p:cNvSpPr>
            <a:spLocks xmlns:a="http://schemas.openxmlformats.org/drawingml/2006/main" noGrp="1"/>
          </p:cNvSpPr>
          <p:nvPr/>
        </p:nvSpPr>
        <p:spPr>
          <a:xfrm xmlns:a="http://schemas.openxmlformats.org/drawingml/2006/main">
            <a:off x="5143500" y="21050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2A8A61"/>
                </a:solidFill>
                <a:latin typeface="Arial"/>
                <a:ea typeface="Arial"/>
                <a:cs typeface="Arial"/>
              </a:defRPr>
            </a:pPr>
            <a:r>
              <a:rPr sz="1350" b="1">
                <a:solidFill>
                  <a:srgbClr val="2A8A61"/>
                </a:solidFill>
                <a:latin typeface="Arial"/>
                <a:ea typeface="Arial"/>
                <a:cs typeface="Arial"/>
              </a:rPr>
              <a:t>3</a:t>
            </a:r>
          </a:p>
        </p:txBody>
      </p:sp>
      <p:sp>
        <p:nvSpPr>
          <p:cNvPr id="15" name="jev-title-2">
            <a:extLst xmlns:a="http://schemas.openxmlformats.org/drawingml/2006/main">
              <a:ext uri="{FF2B5EF4-FFF2-40B4-BE49-F238E27FC236}">
                <a16:creationId xmlns:a16="http://schemas.microsoft.com/office/drawing/2014/main" id="{1D988E0D-A4BC-4585-B604-5A6CBBF7D800}"/>
              </a:ext>
            </a:extLst>
          </p:cNvPr>
          <p:cNvSpPr>
            <a:spLocks xmlns:a="http://schemas.openxmlformats.org/drawingml/2006/main" noGrp="1"/>
          </p:cNvSpPr>
          <p:nvPr/>
        </p:nvSpPr>
        <p:spPr>
          <a:xfrm xmlns:a="http://schemas.openxmlformats.org/drawingml/2006/main">
            <a:off x="5143500" y="2505075"/>
            <a:ext cx="1524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a:solidFill>
                  <a:srgbClr val="173D31"/>
                </a:solidFill>
                <a:latin typeface="Arial"/>
                <a:ea typeface="Arial"/>
                <a:cs typeface="Arial"/>
              </a:defRPr>
            </a:pPr>
            <a:r>
              <a:rPr sz="1500" b="1">
                <a:solidFill>
                  <a:srgbClr val="173D31"/>
                </a:solidFill>
                <a:latin typeface="Arial"/>
                <a:ea typeface="Arial"/>
                <a:cs typeface="Arial"/>
              </a:rPr>
              <a:t>Evidence</a:t>
            </a:r>
          </a:p>
        </p:txBody>
      </p:sp>
      <p:sp>
        <p:nvSpPr>
          <p:cNvPr id="16" name="jev-copy-2">
            <a:extLst xmlns:a="http://schemas.openxmlformats.org/drawingml/2006/main">
              <a:ext uri="{FF2B5EF4-FFF2-40B4-BE49-F238E27FC236}">
                <a16:creationId xmlns:a16="http://schemas.microsoft.com/office/drawing/2014/main" id="{844F9A2E-A89D-47BA-B17F-B7B11859A310}"/>
              </a:ext>
            </a:extLst>
          </p:cNvPr>
          <p:cNvSpPr>
            <a:spLocks xmlns:a="http://schemas.openxmlformats.org/drawingml/2006/main" noGrp="1"/>
          </p:cNvSpPr>
          <p:nvPr/>
        </p:nvSpPr>
        <p:spPr>
          <a:xfrm xmlns:a="http://schemas.openxmlformats.org/drawingml/2006/main">
            <a:off x="5143500" y="2924175"/>
            <a:ext cx="152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61766D"/>
                </a:solidFill>
                <a:latin typeface="Arial"/>
                <a:ea typeface="Arial"/>
                <a:cs typeface="Arial"/>
              </a:defRPr>
            </a:pPr>
            <a:r>
              <a:rPr sz="1200" b="0">
                <a:solidFill>
                  <a:srgbClr val="61766D"/>
                </a:solidFill>
                <a:latin typeface="Arial"/>
                <a:ea typeface="Arial"/>
                <a:cs typeface="Arial"/>
              </a:rPr>
              <a:t>Inventory tools + reviewed RAG</a:t>
            </a:r>
          </a:p>
        </p:txBody>
      </p:sp>
      <p:sp>
        <p:nvSpPr>
          <p:cNvPr id="17" name="jev-box-3">
            <a:extLst xmlns:a="http://schemas.openxmlformats.org/drawingml/2006/main">
              <a:ext uri="{FF2B5EF4-FFF2-40B4-BE49-F238E27FC236}">
                <a16:creationId xmlns:a16="http://schemas.microsoft.com/office/drawing/2014/main" id="{7BCABD1F-76E9-47AC-B596-DC44EB19B7A2}"/>
              </a:ext>
            </a:extLst>
          </p:cNvPr>
          <p:cNvSpPr>
            <a:spLocks xmlns:a="http://schemas.openxmlformats.org/drawingml/2006/main" noGrp="1"/>
          </p:cNvSpPr>
          <p:nvPr/>
        </p:nvSpPr>
        <p:spPr>
          <a:xfrm xmlns:a="http://schemas.openxmlformats.org/drawingml/2006/main">
            <a:off x="7115175" y="1943100"/>
            <a:ext cx="1847850" cy="1733550"/>
          </a:xfrm>
          <a:prstGeom xmlns:a="http://schemas.openxmlformats.org/drawingml/2006/main" prst="roundRect">
            <a:avLst>
              <a:gd name="adj" fmla="val 7692"/>
            </a:avLst>
          </a:prstGeom>
          <a:solidFill xmlns:a="http://schemas.openxmlformats.org/drawingml/2006/main">
            <a:srgbClr val="F3EFE6"/>
          </a:solidFill>
          <a:ln xmlns:a="http://schemas.openxmlformats.org/drawingml/2006/main" w="0">
            <a:noFill/>
            <a:prstDash val="solid"/>
          </a:ln>
        </p:spPr>
      </p:sp>
      <p:sp>
        <p:nvSpPr>
          <p:cNvPr id="18" name="jev-num-3">
            <a:extLst xmlns:a="http://schemas.openxmlformats.org/drawingml/2006/main">
              <a:ext uri="{FF2B5EF4-FFF2-40B4-BE49-F238E27FC236}">
                <a16:creationId xmlns:a16="http://schemas.microsoft.com/office/drawing/2014/main" id="{6F8E94BA-66AA-47C9-9835-8AE00C7701E7}"/>
              </a:ext>
            </a:extLst>
          </p:cNvPr>
          <p:cNvSpPr>
            <a:spLocks xmlns:a="http://schemas.openxmlformats.org/drawingml/2006/main" noGrp="1"/>
          </p:cNvSpPr>
          <p:nvPr/>
        </p:nvSpPr>
        <p:spPr>
          <a:xfrm xmlns:a="http://schemas.openxmlformats.org/drawingml/2006/main">
            <a:off x="7286625" y="21050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2A8A61"/>
                </a:solidFill>
                <a:latin typeface="Arial"/>
                <a:ea typeface="Arial"/>
                <a:cs typeface="Arial"/>
              </a:defRPr>
            </a:pPr>
            <a:r>
              <a:rPr sz="1350" b="1">
                <a:solidFill>
                  <a:srgbClr val="2A8A61"/>
                </a:solidFill>
                <a:latin typeface="Arial"/>
                <a:ea typeface="Arial"/>
                <a:cs typeface="Arial"/>
              </a:rPr>
              <a:t>4</a:t>
            </a:r>
          </a:p>
        </p:txBody>
      </p:sp>
      <p:sp>
        <p:nvSpPr>
          <p:cNvPr id="19" name="jev-title-3">
            <a:extLst xmlns:a="http://schemas.openxmlformats.org/drawingml/2006/main">
              <a:ext uri="{FF2B5EF4-FFF2-40B4-BE49-F238E27FC236}">
                <a16:creationId xmlns:a16="http://schemas.microsoft.com/office/drawing/2014/main" id="{426EF137-444E-4ECE-BDEA-15516BCCE999}"/>
              </a:ext>
            </a:extLst>
          </p:cNvPr>
          <p:cNvSpPr>
            <a:spLocks xmlns:a="http://schemas.openxmlformats.org/drawingml/2006/main" noGrp="1"/>
          </p:cNvSpPr>
          <p:nvPr/>
        </p:nvSpPr>
        <p:spPr>
          <a:xfrm xmlns:a="http://schemas.openxmlformats.org/drawingml/2006/main">
            <a:off x="7286625" y="2505075"/>
            <a:ext cx="1524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a:solidFill>
                  <a:srgbClr val="173D31"/>
                </a:solidFill>
                <a:latin typeface="Arial"/>
                <a:ea typeface="Arial"/>
                <a:cs typeface="Arial"/>
              </a:defRPr>
            </a:pPr>
            <a:r>
              <a:rPr sz="1500" b="1">
                <a:solidFill>
                  <a:srgbClr val="173D31"/>
                </a:solidFill>
                <a:latin typeface="Arial"/>
                <a:ea typeface="Arial"/>
                <a:cs typeface="Arial"/>
              </a:rPr>
              <a:t>Luna response</a:t>
            </a:r>
          </a:p>
        </p:txBody>
      </p:sp>
      <p:sp>
        <p:nvSpPr>
          <p:cNvPr id="20" name="jev-copy-3">
            <a:extLst xmlns:a="http://schemas.openxmlformats.org/drawingml/2006/main">
              <a:ext uri="{FF2B5EF4-FFF2-40B4-BE49-F238E27FC236}">
                <a16:creationId xmlns:a16="http://schemas.microsoft.com/office/drawing/2014/main" id="{A5EF7961-AE5A-4FAE-BB13-C76AE292981C}"/>
              </a:ext>
            </a:extLst>
          </p:cNvPr>
          <p:cNvSpPr>
            <a:spLocks xmlns:a="http://schemas.openxmlformats.org/drawingml/2006/main" noGrp="1"/>
          </p:cNvSpPr>
          <p:nvPr/>
        </p:nvSpPr>
        <p:spPr>
          <a:xfrm xmlns:a="http://schemas.openxmlformats.org/drawingml/2006/main">
            <a:off x="7286625" y="2924175"/>
            <a:ext cx="152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61766D"/>
                </a:solidFill>
                <a:latin typeface="Arial"/>
                <a:ea typeface="Arial"/>
                <a:cs typeface="Arial"/>
              </a:defRPr>
            </a:pPr>
            <a:r>
              <a:rPr sz="1200" b="0">
                <a:solidFill>
                  <a:srgbClr val="61766D"/>
                </a:solidFill>
                <a:latin typeface="Arial"/>
                <a:ea typeface="Arial"/>
                <a:cs typeface="Arial"/>
              </a:rPr>
              <a:t>Explain with sources</a:t>
            </a:r>
          </a:p>
        </p:txBody>
      </p:sp>
      <p:sp>
        <p:nvSpPr>
          <p:cNvPr id="21" name="jev-box-4">
            <a:extLst xmlns:a="http://schemas.openxmlformats.org/drawingml/2006/main">
              <a:ext uri="{FF2B5EF4-FFF2-40B4-BE49-F238E27FC236}">
                <a16:creationId xmlns:a16="http://schemas.microsoft.com/office/drawing/2014/main" id="{10B457B9-06DC-4CF6-A1A4-0401FB97A41E}"/>
              </a:ext>
            </a:extLst>
          </p:cNvPr>
          <p:cNvSpPr>
            <a:spLocks xmlns:a="http://schemas.openxmlformats.org/drawingml/2006/main" noGrp="1"/>
          </p:cNvSpPr>
          <p:nvPr/>
        </p:nvSpPr>
        <p:spPr>
          <a:xfrm xmlns:a="http://schemas.openxmlformats.org/drawingml/2006/main">
            <a:off x="9258300" y="1943100"/>
            <a:ext cx="1847850" cy="1733550"/>
          </a:xfrm>
          <a:prstGeom xmlns:a="http://schemas.openxmlformats.org/drawingml/2006/main" prst="roundRect">
            <a:avLst>
              <a:gd name="adj" fmla="val 7692"/>
            </a:avLst>
          </a:prstGeom>
          <a:solidFill xmlns:a="http://schemas.openxmlformats.org/drawingml/2006/main">
            <a:srgbClr val="DDECE6"/>
          </a:solidFill>
          <a:ln xmlns:a="http://schemas.openxmlformats.org/drawingml/2006/main" w="0">
            <a:noFill/>
            <a:prstDash val="solid"/>
          </a:ln>
        </p:spPr>
      </p:sp>
      <p:sp>
        <p:nvSpPr>
          <p:cNvPr id="22" name="jev-num-4">
            <a:extLst xmlns:a="http://schemas.openxmlformats.org/drawingml/2006/main">
              <a:ext uri="{FF2B5EF4-FFF2-40B4-BE49-F238E27FC236}">
                <a16:creationId xmlns:a16="http://schemas.microsoft.com/office/drawing/2014/main" id="{10605B57-7E01-41F6-A370-5E5DB7F71566}"/>
              </a:ext>
            </a:extLst>
          </p:cNvPr>
          <p:cNvSpPr>
            <a:spLocks xmlns:a="http://schemas.openxmlformats.org/drawingml/2006/main" noGrp="1"/>
          </p:cNvSpPr>
          <p:nvPr/>
        </p:nvSpPr>
        <p:spPr>
          <a:xfrm xmlns:a="http://schemas.openxmlformats.org/drawingml/2006/main">
            <a:off x="9429750" y="21050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2A8A61"/>
                </a:solidFill>
                <a:latin typeface="Arial"/>
                <a:ea typeface="Arial"/>
                <a:cs typeface="Arial"/>
              </a:defRPr>
            </a:pPr>
            <a:r>
              <a:rPr sz="1350" b="1">
                <a:solidFill>
                  <a:srgbClr val="2A8A61"/>
                </a:solidFill>
                <a:latin typeface="Arial"/>
                <a:ea typeface="Arial"/>
                <a:cs typeface="Arial"/>
              </a:rPr>
              <a:t>5</a:t>
            </a:r>
          </a:p>
        </p:txBody>
      </p:sp>
      <p:sp>
        <p:nvSpPr>
          <p:cNvPr id="23" name="jev-title-4">
            <a:extLst xmlns:a="http://schemas.openxmlformats.org/drawingml/2006/main">
              <a:ext uri="{FF2B5EF4-FFF2-40B4-BE49-F238E27FC236}">
                <a16:creationId xmlns:a16="http://schemas.microsoft.com/office/drawing/2014/main" id="{4FC2E148-6D70-4E0D-8F0D-26A65B541C6D}"/>
              </a:ext>
            </a:extLst>
          </p:cNvPr>
          <p:cNvSpPr>
            <a:spLocks xmlns:a="http://schemas.openxmlformats.org/drawingml/2006/main" noGrp="1"/>
          </p:cNvSpPr>
          <p:nvPr/>
        </p:nvSpPr>
        <p:spPr>
          <a:xfrm xmlns:a="http://schemas.openxmlformats.org/drawingml/2006/main">
            <a:off x="9429750" y="2505075"/>
            <a:ext cx="1524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a:solidFill>
                  <a:srgbClr val="173D31"/>
                </a:solidFill>
                <a:latin typeface="Arial"/>
                <a:ea typeface="Arial"/>
                <a:cs typeface="Arial"/>
              </a:defRPr>
            </a:pPr>
            <a:r>
              <a:rPr sz="1500" b="1">
                <a:solidFill>
                  <a:srgbClr val="173D31"/>
                </a:solidFill>
                <a:latin typeface="Arial"/>
                <a:ea typeface="Arial"/>
                <a:cs typeface="Arial"/>
              </a:rPr>
              <a:t>Express checks</a:t>
            </a:r>
          </a:p>
        </p:txBody>
      </p:sp>
      <p:sp>
        <p:nvSpPr>
          <p:cNvPr id="24" name="jev-copy-4">
            <a:extLst xmlns:a="http://schemas.openxmlformats.org/drawingml/2006/main">
              <a:ext uri="{FF2B5EF4-FFF2-40B4-BE49-F238E27FC236}">
                <a16:creationId xmlns:a16="http://schemas.microsoft.com/office/drawing/2014/main" id="{ED57D222-57FA-4FBD-A341-CB68AC182423}"/>
              </a:ext>
            </a:extLst>
          </p:cNvPr>
          <p:cNvSpPr>
            <a:spLocks xmlns:a="http://schemas.openxmlformats.org/drawingml/2006/main" noGrp="1"/>
          </p:cNvSpPr>
          <p:nvPr/>
        </p:nvSpPr>
        <p:spPr>
          <a:xfrm xmlns:a="http://schemas.openxmlformats.org/drawingml/2006/main">
            <a:off x="9429750" y="2924175"/>
            <a:ext cx="152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61766D"/>
                </a:solidFill>
                <a:latin typeface="Arial"/>
                <a:ea typeface="Arial"/>
                <a:cs typeface="Arial"/>
              </a:defRPr>
            </a:pPr>
            <a:r>
              <a:rPr sz="1200" b="0">
                <a:solidFill>
                  <a:srgbClr val="61766D"/>
                </a:solidFill>
                <a:latin typeface="Arial"/>
                <a:ea typeface="Arial"/>
                <a:cs typeface="Arial"/>
              </a:rPr>
              <a:t>Validate scope and actions</a:t>
            </a:r>
          </a:p>
        </p:txBody>
      </p:sp>
      <p:sp>
        <p:nvSpPr>
          <p:cNvPr id="25" name="jev-criteria-label">
            <a:extLst xmlns:a="http://schemas.openxmlformats.org/drawingml/2006/main">
              <a:ext uri="{FF2B5EF4-FFF2-40B4-BE49-F238E27FC236}">
                <a16:creationId xmlns:a16="http://schemas.microsoft.com/office/drawing/2014/main" id="{7495E47D-A837-400B-9A2B-13CAF7C14BDB}"/>
              </a:ext>
            </a:extLst>
          </p:cNvPr>
          <p:cNvSpPr>
            <a:spLocks xmlns:a="http://schemas.openxmlformats.org/drawingml/2006/main" noGrp="1"/>
          </p:cNvSpPr>
          <p:nvPr/>
        </p:nvSpPr>
        <p:spPr>
          <a:xfrm xmlns:a="http://schemas.openxmlformats.org/drawingml/2006/main">
            <a:off x="762000" y="4105275"/>
            <a:ext cx="2190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a:solidFill>
                  <a:srgbClr val="647C68"/>
                </a:solidFill>
                <a:latin typeface="Arial"/>
                <a:ea typeface="Arial"/>
                <a:cs typeface="Arial"/>
              </a:defRPr>
            </a:pPr>
            <a:r>
              <a:rPr sz="1050" b="1">
                <a:solidFill>
                  <a:srgbClr val="647C68"/>
                </a:solidFill>
                <a:latin typeface="Arial"/>
                <a:ea typeface="Arial"/>
                <a:cs typeface="Arial"/>
              </a:rPr>
              <a:t>Feasibility criteria</a:t>
            </a:r>
          </a:p>
        </p:txBody>
      </p:sp>
      <p:sp>
        <p:nvSpPr>
          <p:cNvPr id="26" name="jev-criteria">
            <a:extLst xmlns:a="http://schemas.openxmlformats.org/drawingml/2006/main">
              <a:ext uri="{FF2B5EF4-FFF2-40B4-BE49-F238E27FC236}">
                <a16:creationId xmlns:a16="http://schemas.microsoft.com/office/drawing/2014/main" id="{E0FAFB3F-68C2-41C4-A8E7-A40BFD60E0D7}"/>
              </a:ext>
            </a:extLst>
          </p:cNvPr>
          <p:cNvSpPr>
            <a:spLocks xmlns:a="http://schemas.openxmlformats.org/drawingml/2006/main" noGrp="1"/>
          </p:cNvSpPr>
          <p:nvPr/>
        </p:nvSpPr>
        <p:spPr>
          <a:xfrm xmlns:a="http://schemas.openxmlformats.org/drawingml/2006/main">
            <a:off x="762000" y="4429125"/>
            <a:ext cx="10429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73D31"/>
                </a:solidFill>
                <a:latin typeface="Arial"/>
                <a:ea typeface="Arial"/>
                <a:cs typeface="Arial"/>
              </a:defRPr>
            </a:pPr>
            <a:r>
              <a:rPr sz="1425" b="0">
                <a:solidFill>
                  <a:srgbClr val="173D31"/>
                </a:solidFill>
                <a:latin typeface="Arial"/>
                <a:ea typeface="Arial"/>
                <a:cs typeface="Arial"/>
              </a:rPr>
              <a:t>Correct routing  |  Tool selection  |  Retrieval relevance  |  Grounded answers  |  Safety  |  End-to-end p50/p95 latency  |  Cost per resolved task</a:t>
            </a:r>
          </a:p>
        </p:txBody>
      </p:sp>
      <p:sp>
        <p:nvSpPr>
          <p:cNvPr id="27" name="jev-caveat">
            <a:extLst xmlns:a="http://schemas.openxmlformats.org/drawingml/2006/main">
              <a:ext uri="{FF2B5EF4-FFF2-40B4-BE49-F238E27FC236}">
                <a16:creationId xmlns:a16="http://schemas.microsoft.com/office/drawing/2014/main" id="{AFB8DCFA-7945-4474-A3C2-A632E1A444A0}"/>
              </a:ext>
            </a:extLst>
          </p:cNvPr>
          <p:cNvSpPr>
            <a:spLocks xmlns:a="http://schemas.openxmlformats.org/drawingml/2006/main" noGrp="1"/>
          </p:cNvSpPr>
          <p:nvPr/>
        </p:nvSpPr>
        <p:spPr>
          <a:xfrm xmlns:a="http://schemas.openxmlformats.org/drawingml/2006/main">
            <a:off x="685800" y="5353050"/>
            <a:ext cx="10820400" cy="609600"/>
          </a:xfrm>
          <a:prstGeom xmlns:a="http://schemas.openxmlformats.org/drawingml/2006/main" prst="roundRect">
            <a:avLst>
              <a:gd name="adj" fmla="val 18750"/>
            </a:avLst>
          </a:prstGeom>
          <a:solidFill xmlns:a="http://schemas.openxmlformats.org/drawingml/2006/main">
            <a:srgbClr val="647C68"/>
          </a:solidFill>
          <a:ln xmlns:a="http://schemas.openxmlformats.org/drawingml/2006/main" w="0">
            <a:noFill/>
            <a:prstDash val="solid"/>
          </a:ln>
        </p:spPr>
      </p:sp>
      <p:sp>
        <p:nvSpPr>
          <p:cNvPr id="28" name="jev-caveat-copy">
            <a:extLst xmlns:a="http://schemas.openxmlformats.org/drawingml/2006/main">
              <a:ext uri="{FF2B5EF4-FFF2-40B4-BE49-F238E27FC236}">
                <a16:creationId xmlns:a16="http://schemas.microsoft.com/office/drawing/2014/main" id="{8007D00F-DF77-4FCA-A629-E14BD14A7D5B}"/>
              </a:ext>
            </a:extLst>
          </p:cNvPr>
          <p:cNvSpPr>
            <a:spLocks xmlns:a="http://schemas.openxmlformats.org/drawingml/2006/main" noGrp="1"/>
          </p:cNvSpPr>
          <p:nvPr/>
        </p:nvSpPr>
        <p:spPr>
          <a:xfrm xmlns:a="http://schemas.openxmlformats.org/drawingml/2006/main">
            <a:off x="895350" y="5457825"/>
            <a:ext cx="1042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200" b="0">
                <a:solidFill>
                  <a:srgbClr val="FFFFFF"/>
                </a:solidFill>
                <a:latin typeface="Arial"/>
                <a:ea typeface="Arial"/>
                <a:cs typeface="Arial"/>
              </a:defRPr>
            </a:pPr>
            <a:r>
              <a:rPr sz="1200" b="0">
                <a:solidFill>
                  <a:srgbClr val="FFFFFF"/>
                </a:solidFill>
                <a:latin typeface="Arial"/>
                <a:ea typeface="Arial"/>
                <a:cs typeface="Arial"/>
              </a:rPr>
              <a:t>Jev returns structured decisions, not user-facing prose. A serial Jev call can add latency, so test against the current Luna-only workflow before claiming a speed gain.</a:t>
            </a:r>
          </a:p>
        </p:txBody>
      </p:sp>
      <p:sp>
        <p:nvSpPr>
          <p:cNvPr id="29" name="footer-rule">
            <a:extLst xmlns:a="http://schemas.openxmlformats.org/drawingml/2006/main">
              <a:ext uri="{FF2B5EF4-FFF2-40B4-BE49-F238E27FC236}">
                <a16:creationId xmlns:a16="http://schemas.microsoft.com/office/drawing/2014/main" id="{2746C71D-5440-473B-9FF7-E13807205B3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30" name="footer-label">
            <a:extLst xmlns:a="http://schemas.openxmlformats.org/drawingml/2006/main">
              <a:ext uri="{FF2B5EF4-FFF2-40B4-BE49-F238E27FC236}">
                <a16:creationId xmlns:a16="http://schemas.microsoft.com/office/drawing/2014/main" id="{CC21774B-BE40-41BD-9478-CEE95BFEE3DF}"/>
              </a:ext>
            </a:extLst>
          </p:cNvPr>
          <p:cNvSpPr>
            <a:spLocks xmlns:a="http://schemas.openxmlformats.org/drawingml/2006/main" noGrp="1"/>
          </p:cNvSpPr>
          <p:nvPr/>
        </p:nvSpPr>
        <p:spPr>
          <a:xfrm xmlns:a="http://schemas.openxmlformats.org/drawingml/2006/main">
            <a:off x="685800" y="6543675"/>
            <a:ext cx="581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KitchMemo  |  Iteration 3 Product Discovery</a:t>
            </a:r>
          </a:p>
        </p:txBody>
      </p:sp>
      <p:sp>
        <p:nvSpPr>
          <p:cNvPr id="31" name="footer-number">
            <a:extLst xmlns:a="http://schemas.openxmlformats.org/drawingml/2006/main">
              <a:ext uri="{FF2B5EF4-FFF2-40B4-BE49-F238E27FC236}">
                <a16:creationId xmlns:a16="http://schemas.microsoft.com/office/drawing/2014/main" id="{72625CB9-4B06-456D-817C-42D7C20E3BF1}"/>
              </a:ext>
            </a:extLst>
          </p:cNvPr>
          <p:cNvSpPr>
            <a:spLocks xmlns:a="http://schemas.openxmlformats.org/drawingml/2006/main" noGrp="1"/>
          </p:cNvSpPr>
          <p:nvPr/>
        </p:nvSpPr>
        <p:spPr>
          <a:xfrm xmlns:a="http://schemas.openxmlformats.org/drawingml/2006/main">
            <a:off x="1114425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13</a:t>
            </a:r>
          </a:p>
        </p:txBody>
      </p:sp>
    </p:spTree>
    <p:extLst>
      <p:ext uri="{BB962C8B-B14F-4D97-AF65-F5344CB8AC3E}">
        <p14:creationId xmlns:p14="http://schemas.microsoft.com/office/powerpoint/2010/main" val="816210589"/>
      </p:ext>
    </p:extLst>
  </p:cSld>
</p:sld>
</file>

<file path=ppt/slides/slide14.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21" name="section">
            <a:extLst xmlns:a="http://schemas.openxmlformats.org/drawingml/2006/main">
              <a:ext uri="{FF2B5EF4-FFF2-40B4-BE49-F238E27FC236}">
                <a16:creationId xmlns:a16="http://schemas.microsoft.com/office/drawing/2014/main" id="{1A456FB6-55CF-4AB3-9035-810643AB0BF5}"/>
              </a:ext>
            </a:extLst>
          </p:cNvPr>
          <p:cNvSpPr>
            <a:spLocks xmlns:a="http://schemas.openxmlformats.org/drawingml/2006/main" noGrp="1"/>
          </p:cNvSpPr>
          <p:nvPr/>
        </p:nvSpPr>
        <p:spPr>
          <a:xfrm xmlns:a="http://schemas.openxmlformats.org/drawingml/2006/main">
            <a:off x="685800" y="276225"/>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647C68"/>
                </a:solidFill>
                <a:latin typeface="Arial"/>
                <a:ea typeface="Arial"/>
                <a:cs typeface="Arial"/>
              </a:defRPr>
            </a:pPr>
            <a:r>
              <a:rPr sz="975" b="1">
                <a:solidFill>
                  <a:srgbClr val="647C68"/>
                </a:solidFill>
                <a:latin typeface="Arial"/>
                <a:ea typeface="Arial"/>
                <a:cs typeface="Arial"/>
              </a:rPr>
              <a:t>BENEFITS REALISATION</a:t>
            </a:r>
          </a:p>
        </p:txBody>
      </p:sp>
      <p:sp>
        <p:nvSpPr>
          <p:cNvPr id="2" name="page">
            <a:extLst xmlns:a="http://schemas.openxmlformats.org/drawingml/2006/main">
              <a:ext uri="{FF2B5EF4-FFF2-40B4-BE49-F238E27FC236}">
                <a16:creationId xmlns:a16="http://schemas.microsoft.com/office/drawing/2014/main" id="{431662B2-8AD2-4BB5-8813-8A46B64BA906}"/>
              </a:ext>
            </a:extLst>
          </p:cNvPr>
          <p:cNvSpPr>
            <a:spLocks xmlns:a="http://schemas.openxmlformats.org/drawingml/2006/main" noGrp="1"/>
          </p:cNvSpPr>
          <p:nvPr/>
        </p:nvSpPr>
        <p:spPr>
          <a:xfrm xmlns:a="http://schemas.openxmlformats.org/drawingml/2006/main">
            <a:off x="11144250" y="2762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975" b="0">
                <a:solidFill>
                  <a:srgbClr val="61766D"/>
                </a:solidFill>
                <a:latin typeface="Arial"/>
                <a:ea typeface="Arial"/>
                <a:cs typeface="Arial"/>
              </a:defRPr>
            </a:pPr>
            <a:r>
              <a:rPr sz="975" b="0">
                <a:solidFill>
                  <a:srgbClr val="61766D"/>
                </a:solidFill>
                <a:latin typeface="Arial"/>
                <a:ea typeface="Arial"/>
                <a:cs typeface="Arial"/>
              </a:rPr>
              <a:t>14</a:t>
            </a:r>
          </a:p>
        </p:txBody>
      </p:sp>
      <p:sp>
        <p:nvSpPr>
          <p:cNvPr id="3" name="title">
            <a:extLst xmlns:a="http://schemas.openxmlformats.org/drawingml/2006/main">
              <a:ext uri="{FF2B5EF4-FFF2-40B4-BE49-F238E27FC236}">
                <a16:creationId xmlns:a16="http://schemas.microsoft.com/office/drawing/2014/main" id="{D6BE71F6-E595-4829-929B-FC323DEEBFD5}"/>
              </a:ext>
            </a:extLst>
          </p:cNvPr>
          <p:cNvSpPr>
            <a:spLocks xmlns:a="http://schemas.openxmlformats.org/drawingml/2006/main" noGrp="1"/>
          </p:cNvSpPr>
          <p:nvPr/>
        </p:nvSpPr>
        <p:spPr>
          <a:xfrm xmlns:a="http://schemas.openxmlformats.org/drawingml/2006/main">
            <a:off x="685800" y="600075"/>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925" b="1">
                <a:solidFill>
                  <a:srgbClr val="173D31"/>
                </a:solidFill>
                <a:latin typeface="Arial"/>
                <a:ea typeface="Arial"/>
                <a:cs typeface="Arial"/>
              </a:defRPr>
            </a:pPr>
            <a:r>
              <a:rPr sz="2925" b="1">
                <a:solidFill>
                  <a:srgbClr val="173D31"/>
                </a:solidFill>
                <a:latin typeface="Arial"/>
                <a:ea typeface="Arial"/>
                <a:cs typeface="Arial"/>
              </a:rPr>
              <a:t>Set baselines first, then test whether the changes help</a:t>
            </a:r>
          </a:p>
        </p:txBody>
      </p:sp>
      <p:sp>
        <p:nvSpPr>
          <p:cNvPr id="4" name="subtitle">
            <a:extLst xmlns:a="http://schemas.openxmlformats.org/drawingml/2006/main">
              <a:ext uri="{FF2B5EF4-FFF2-40B4-BE49-F238E27FC236}">
                <a16:creationId xmlns:a16="http://schemas.microsoft.com/office/drawing/2014/main" id="{6DA55C94-2C4D-4C5E-915B-D7917198038C}"/>
              </a:ext>
            </a:extLst>
          </p:cNvPr>
          <p:cNvSpPr>
            <a:spLocks xmlns:a="http://schemas.openxmlformats.org/drawingml/2006/main" noGrp="1"/>
          </p:cNvSpPr>
          <p:nvPr/>
        </p:nvSpPr>
        <p:spPr>
          <a:xfrm xmlns:a="http://schemas.openxmlformats.org/drawingml/2006/main">
            <a:off x="685800" y="11811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61766D"/>
                </a:solidFill>
                <a:latin typeface="Arial"/>
                <a:ea typeface="Arial"/>
                <a:cs typeface="Arial"/>
              </a:defRPr>
            </a:pPr>
            <a:r>
              <a:rPr sz="1425" b="0">
                <a:solidFill>
                  <a:srgbClr val="61766D"/>
                </a:solidFill>
                <a:latin typeface="Arial"/>
                <a:ea typeface="Arial"/>
                <a:cs typeface="Arial"/>
              </a:rPr>
              <a:t>Iteration 3 can define success through user outcomes, safety and product quality without inventing targets.</a:t>
            </a:r>
          </a:p>
        </p:txBody>
      </p:sp>
      <p:sp>
        <p:nvSpPr>
          <p:cNvPr id="5" name="benefit-panel-0">
            <a:extLst xmlns:a="http://schemas.openxmlformats.org/drawingml/2006/main">
              <a:ext uri="{FF2B5EF4-FFF2-40B4-BE49-F238E27FC236}">
                <a16:creationId xmlns:a16="http://schemas.microsoft.com/office/drawing/2014/main" id="{CC371715-D54D-4635-8012-A888ED9ED1E8}"/>
              </a:ext>
            </a:extLst>
          </p:cNvPr>
          <p:cNvSpPr>
            <a:spLocks xmlns:a="http://schemas.openxmlformats.org/drawingml/2006/main" noGrp="1"/>
          </p:cNvSpPr>
          <p:nvPr/>
        </p:nvSpPr>
        <p:spPr>
          <a:xfrm xmlns:a="http://schemas.openxmlformats.org/drawingml/2006/main">
            <a:off x="685800" y="1828800"/>
            <a:ext cx="3352800" cy="2819400"/>
          </a:xfrm>
          <a:prstGeom xmlns:a="http://schemas.openxmlformats.org/drawingml/2006/main" prst="roundRect">
            <a:avLst>
              <a:gd name="adj" fmla="val 5405"/>
            </a:avLst>
          </a:prstGeom>
          <a:solidFill xmlns:a="http://schemas.openxmlformats.org/drawingml/2006/main">
            <a:srgbClr val="DDECE6"/>
          </a:solidFill>
          <a:ln xmlns:a="http://schemas.openxmlformats.org/drawingml/2006/main" w="0">
            <a:noFill/>
            <a:prstDash val="solid"/>
          </a:ln>
        </p:spPr>
      </p:sp>
      <p:sp>
        <p:nvSpPr>
          <p:cNvPr id="6" name="benefit-label-0">
            <a:extLst xmlns:a="http://schemas.openxmlformats.org/drawingml/2006/main">
              <a:ext uri="{FF2B5EF4-FFF2-40B4-BE49-F238E27FC236}">
                <a16:creationId xmlns:a16="http://schemas.microsoft.com/office/drawing/2014/main" id="{756AAC86-43BC-4404-96F7-9CF071240E7C}"/>
              </a:ext>
            </a:extLst>
          </p:cNvPr>
          <p:cNvSpPr>
            <a:spLocks xmlns:a="http://schemas.openxmlformats.org/drawingml/2006/main" noGrp="1"/>
          </p:cNvSpPr>
          <p:nvPr/>
        </p:nvSpPr>
        <p:spPr>
          <a:xfrm xmlns:a="http://schemas.openxmlformats.org/drawingml/2006/main">
            <a:off x="923925" y="2085975"/>
            <a:ext cx="278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647C68"/>
                </a:solidFill>
                <a:latin typeface="Arial"/>
                <a:ea typeface="Arial"/>
                <a:cs typeface="Arial"/>
              </a:defRPr>
            </a:pPr>
            <a:r>
              <a:rPr sz="900" b="1">
                <a:solidFill>
                  <a:srgbClr val="647C68"/>
                </a:solidFill>
                <a:latin typeface="Arial"/>
                <a:ea typeface="Arial"/>
                <a:cs typeface="Arial"/>
              </a:rPr>
              <a:t>EDUCATION</a:t>
            </a:r>
          </a:p>
        </p:txBody>
      </p:sp>
      <p:sp>
        <p:nvSpPr>
          <p:cNvPr id="7" name="benefit-copy-0">
            <a:extLst xmlns:a="http://schemas.openxmlformats.org/drawingml/2006/main">
              <a:ext uri="{FF2B5EF4-FFF2-40B4-BE49-F238E27FC236}">
                <a16:creationId xmlns:a16="http://schemas.microsoft.com/office/drawing/2014/main" id="{3AC1B542-A1B6-4B27-A998-CDB24BF3EC00}"/>
              </a:ext>
            </a:extLst>
          </p:cNvPr>
          <p:cNvSpPr>
            <a:spLocks xmlns:a="http://schemas.openxmlformats.org/drawingml/2006/main" noGrp="1"/>
          </p:cNvSpPr>
          <p:nvPr/>
        </p:nvSpPr>
        <p:spPr>
          <a:xfrm xmlns:a="http://schemas.openxmlformats.org/drawingml/2006/main">
            <a:off x="923925" y="2476500"/>
            <a:ext cx="2857500"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0">
                <a:solidFill>
                  <a:srgbClr val="173D31"/>
                </a:solidFill>
                <a:latin typeface="Arial"/>
                <a:ea typeface="Arial"/>
                <a:cs typeface="Arial"/>
              </a:defRPr>
            </a:pPr>
            <a:r>
              <a:rPr sz="1500" b="0">
                <a:solidFill>
                  <a:srgbClr val="173D31"/>
                </a:solidFill>
                <a:latin typeface="Arial"/>
                <a:ea typeface="Arial"/>
                <a:cs typeface="Arial"/>
              </a:rPr>
              <a:t>Short knowledge check before and after</a:t>
            </a:r>
          </a:p>
          <a:p xmlns:a="http://schemas.openxmlformats.org/drawingml/2006/main">
            <a:pPr algn="l">
              <a:lnSpc>
                <a:spcPct val="116000"/>
              </a:lnSpc>
              <a:buNone/>
              <a:defRPr sz="1500" b="0">
                <a:solidFill>
                  <a:srgbClr val="173D31"/>
                </a:solidFill>
                <a:latin typeface="Arial"/>
                <a:ea typeface="Arial"/>
                <a:cs typeface="Arial"/>
              </a:defRPr>
            </a:pPr>
            <a:r>
              <a:rPr sz="1500" b="0">
                <a:solidFill>
                  <a:srgbClr val="173D31"/>
                </a:solidFill>
                <a:latin typeface="Arial"/>
                <a:ea typeface="Arial"/>
                <a:cs typeface="Arial"/>
              </a:rPr>
              <a:t>Game completion and return use</a:t>
            </a:r>
          </a:p>
          <a:p xmlns:a="http://schemas.openxmlformats.org/drawingml/2006/main">
            <a:pPr algn="l">
              <a:lnSpc>
                <a:spcPct val="116000"/>
              </a:lnSpc>
              <a:buNone/>
              <a:defRPr sz="1500" b="0">
                <a:solidFill>
                  <a:srgbClr val="173D31"/>
                </a:solidFill>
                <a:latin typeface="Arial"/>
                <a:ea typeface="Arial"/>
                <a:cs typeface="Arial"/>
              </a:defRPr>
            </a:pPr>
            <a:r>
              <a:rPr sz="1500" b="0">
                <a:solidFill>
                  <a:srgbClr val="173D31"/>
                </a:solidFill>
                <a:latin typeface="Arial"/>
                <a:ea typeface="Arial"/>
                <a:cs typeface="Arial"/>
              </a:rPr>
              <a:t>Separate learning from measured waste reduction</a:t>
            </a:r>
          </a:p>
        </p:txBody>
      </p:sp>
      <p:sp>
        <p:nvSpPr>
          <p:cNvPr id="8" name="benefit-panel-1">
            <a:extLst xmlns:a="http://schemas.openxmlformats.org/drawingml/2006/main">
              <a:ext uri="{FF2B5EF4-FFF2-40B4-BE49-F238E27FC236}">
                <a16:creationId xmlns:a16="http://schemas.microsoft.com/office/drawing/2014/main" id="{395801EB-2480-4693-BECA-A0723088C614}"/>
              </a:ext>
            </a:extLst>
          </p:cNvPr>
          <p:cNvSpPr>
            <a:spLocks xmlns:a="http://schemas.openxmlformats.org/drawingml/2006/main" noGrp="1"/>
          </p:cNvSpPr>
          <p:nvPr/>
        </p:nvSpPr>
        <p:spPr>
          <a:xfrm xmlns:a="http://schemas.openxmlformats.org/drawingml/2006/main">
            <a:off x="4343400" y="1828800"/>
            <a:ext cx="3352800" cy="2819400"/>
          </a:xfrm>
          <a:prstGeom xmlns:a="http://schemas.openxmlformats.org/drawingml/2006/main" prst="roundRect">
            <a:avLst>
              <a:gd name="adj" fmla="val 5405"/>
            </a:avLst>
          </a:prstGeom>
          <a:solidFill xmlns:a="http://schemas.openxmlformats.org/drawingml/2006/main">
            <a:srgbClr val="F3EFE6"/>
          </a:solidFill>
          <a:ln xmlns:a="http://schemas.openxmlformats.org/drawingml/2006/main" w="0">
            <a:noFill/>
            <a:prstDash val="solid"/>
          </a:ln>
        </p:spPr>
      </p:sp>
      <p:sp>
        <p:nvSpPr>
          <p:cNvPr id="9" name="benefit-label-1">
            <a:extLst xmlns:a="http://schemas.openxmlformats.org/drawingml/2006/main">
              <a:ext uri="{FF2B5EF4-FFF2-40B4-BE49-F238E27FC236}">
                <a16:creationId xmlns:a16="http://schemas.microsoft.com/office/drawing/2014/main" id="{E147C33F-00D0-4131-8DDB-AC5F4CB0915B}"/>
              </a:ext>
            </a:extLst>
          </p:cNvPr>
          <p:cNvSpPr>
            <a:spLocks xmlns:a="http://schemas.openxmlformats.org/drawingml/2006/main" noGrp="1"/>
          </p:cNvSpPr>
          <p:nvPr/>
        </p:nvSpPr>
        <p:spPr>
          <a:xfrm xmlns:a="http://schemas.openxmlformats.org/drawingml/2006/main">
            <a:off x="4581525" y="2085975"/>
            <a:ext cx="278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647C68"/>
                </a:solidFill>
                <a:latin typeface="Arial"/>
                <a:ea typeface="Arial"/>
                <a:cs typeface="Arial"/>
              </a:defRPr>
            </a:pPr>
            <a:r>
              <a:rPr sz="900" b="1">
                <a:solidFill>
                  <a:srgbClr val="647C68"/>
                </a:solidFill>
                <a:latin typeface="Arial"/>
                <a:ea typeface="Arial"/>
                <a:cs typeface="Arial"/>
              </a:rPr>
              <a:t>HOUSEHOLD INSIGHT</a:t>
            </a:r>
          </a:p>
        </p:txBody>
      </p:sp>
      <p:sp>
        <p:nvSpPr>
          <p:cNvPr id="10" name="benefit-copy-1">
            <a:extLst xmlns:a="http://schemas.openxmlformats.org/drawingml/2006/main">
              <a:ext uri="{FF2B5EF4-FFF2-40B4-BE49-F238E27FC236}">
                <a16:creationId xmlns:a16="http://schemas.microsoft.com/office/drawing/2014/main" id="{B839A8A5-316B-4494-9341-AF2394558C77}"/>
              </a:ext>
            </a:extLst>
          </p:cNvPr>
          <p:cNvSpPr>
            <a:spLocks xmlns:a="http://schemas.openxmlformats.org/drawingml/2006/main" noGrp="1"/>
          </p:cNvSpPr>
          <p:nvPr/>
        </p:nvSpPr>
        <p:spPr>
          <a:xfrm xmlns:a="http://schemas.openxmlformats.org/drawingml/2006/main">
            <a:off x="4581525" y="2476500"/>
            <a:ext cx="2857500"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0">
                <a:solidFill>
                  <a:srgbClr val="173D31"/>
                </a:solidFill>
                <a:latin typeface="Arial"/>
                <a:ea typeface="Arial"/>
                <a:cs typeface="Arial"/>
              </a:defRPr>
            </a:pPr>
            <a:r>
              <a:rPr sz="1500" b="0">
                <a:solidFill>
                  <a:srgbClr val="173D31"/>
                </a:solidFill>
                <a:latin typeface="Arial"/>
                <a:ea typeface="Arial"/>
                <a:cs typeface="Arial"/>
              </a:rPr>
              <a:t>Shared task completion</a:t>
            </a:r>
          </a:p>
          <a:p xmlns:a="http://schemas.openxmlformats.org/drawingml/2006/main">
            <a:pPr algn="l">
              <a:lnSpc>
                <a:spcPct val="116000"/>
              </a:lnSpc>
              <a:buNone/>
              <a:defRPr sz="1500" b="0">
                <a:solidFill>
                  <a:srgbClr val="173D31"/>
                </a:solidFill>
                <a:latin typeface="Arial"/>
                <a:ea typeface="Arial"/>
                <a:cs typeface="Arial"/>
              </a:defRPr>
            </a:pPr>
            <a:r>
              <a:rPr sz="1500" b="0">
                <a:solidFill>
                  <a:srgbClr val="173D31"/>
                </a:solidFill>
                <a:latin typeface="Arial"/>
                <a:ea typeface="Arial"/>
                <a:cs typeface="Arial"/>
              </a:rPr>
              <a:t>Report comprehension and useful next action</a:t>
            </a:r>
          </a:p>
          <a:p xmlns:a="http://schemas.openxmlformats.org/drawingml/2006/main">
            <a:pPr algn="l">
              <a:lnSpc>
                <a:spcPct val="116000"/>
              </a:lnSpc>
              <a:buNone/>
              <a:defRPr sz="1500" b="0">
                <a:solidFill>
                  <a:srgbClr val="173D31"/>
                </a:solidFill>
                <a:latin typeface="Arial"/>
                <a:ea typeface="Arial"/>
                <a:cs typeface="Arial"/>
              </a:defRPr>
            </a:pPr>
            <a:r>
              <a:rPr sz="1500" b="0">
                <a:solidFill>
                  <a:srgbClr val="173D31"/>
                </a:solidFill>
                <a:latin typeface="Arial"/>
                <a:ea typeface="Arial"/>
                <a:cs typeface="Arial"/>
              </a:rPr>
              <a:t>Show data coverage with value estimates</a:t>
            </a:r>
          </a:p>
        </p:txBody>
      </p:sp>
      <p:sp>
        <p:nvSpPr>
          <p:cNvPr id="11" name="benefit-panel-2">
            <a:extLst xmlns:a="http://schemas.openxmlformats.org/drawingml/2006/main">
              <a:ext uri="{FF2B5EF4-FFF2-40B4-BE49-F238E27FC236}">
                <a16:creationId xmlns:a16="http://schemas.microsoft.com/office/drawing/2014/main" id="{71F8A24F-C905-437D-8812-71F54E59A9B5}"/>
              </a:ext>
            </a:extLst>
          </p:cNvPr>
          <p:cNvSpPr>
            <a:spLocks xmlns:a="http://schemas.openxmlformats.org/drawingml/2006/main" noGrp="1"/>
          </p:cNvSpPr>
          <p:nvPr/>
        </p:nvSpPr>
        <p:spPr>
          <a:xfrm xmlns:a="http://schemas.openxmlformats.org/drawingml/2006/main">
            <a:off x="8001000" y="1828800"/>
            <a:ext cx="3352800" cy="2819400"/>
          </a:xfrm>
          <a:prstGeom xmlns:a="http://schemas.openxmlformats.org/drawingml/2006/main" prst="roundRect">
            <a:avLst>
              <a:gd name="adj" fmla="val 5405"/>
            </a:avLst>
          </a:prstGeom>
          <a:solidFill xmlns:a="http://schemas.openxmlformats.org/drawingml/2006/main">
            <a:srgbClr val="FFF1E3"/>
          </a:solidFill>
          <a:ln xmlns:a="http://schemas.openxmlformats.org/drawingml/2006/main" w="0">
            <a:noFill/>
            <a:prstDash val="solid"/>
          </a:ln>
        </p:spPr>
      </p:sp>
      <p:sp>
        <p:nvSpPr>
          <p:cNvPr id="12" name="benefit-label-2">
            <a:extLst xmlns:a="http://schemas.openxmlformats.org/drawingml/2006/main">
              <a:ext uri="{FF2B5EF4-FFF2-40B4-BE49-F238E27FC236}">
                <a16:creationId xmlns:a16="http://schemas.microsoft.com/office/drawing/2014/main" id="{2216D4D9-69C9-45BF-B0A5-1D6CC9F28F04}"/>
              </a:ext>
            </a:extLst>
          </p:cNvPr>
          <p:cNvSpPr>
            <a:spLocks xmlns:a="http://schemas.openxmlformats.org/drawingml/2006/main" noGrp="1"/>
          </p:cNvSpPr>
          <p:nvPr/>
        </p:nvSpPr>
        <p:spPr>
          <a:xfrm xmlns:a="http://schemas.openxmlformats.org/drawingml/2006/main">
            <a:off x="8239125" y="2085975"/>
            <a:ext cx="278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1">
                <a:solidFill>
                  <a:srgbClr val="647C68"/>
                </a:solidFill>
                <a:latin typeface="Arial"/>
                <a:ea typeface="Arial"/>
                <a:cs typeface="Arial"/>
              </a:defRPr>
            </a:pPr>
            <a:r>
              <a:rPr sz="900" b="1">
                <a:solidFill>
                  <a:srgbClr val="647C68"/>
                </a:solidFill>
                <a:latin typeface="Arial"/>
                <a:ea typeface="Arial"/>
                <a:cs typeface="Arial"/>
              </a:rPr>
              <a:t>EXPERIENCE AND AI</a:t>
            </a:r>
          </a:p>
        </p:txBody>
      </p:sp>
      <p:sp>
        <p:nvSpPr>
          <p:cNvPr id="13" name="benefit-copy-2">
            <a:extLst xmlns:a="http://schemas.openxmlformats.org/drawingml/2006/main">
              <a:ext uri="{FF2B5EF4-FFF2-40B4-BE49-F238E27FC236}">
                <a16:creationId xmlns:a16="http://schemas.microsoft.com/office/drawing/2014/main" id="{F742FD68-B546-47CD-B66B-9DB6BAD0F571}"/>
              </a:ext>
            </a:extLst>
          </p:cNvPr>
          <p:cNvSpPr>
            <a:spLocks xmlns:a="http://schemas.openxmlformats.org/drawingml/2006/main" noGrp="1"/>
          </p:cNvSpPr>
          <p:nvPr/>
        </p:nvSpPr>
        <p:spPr>
          <a:xfrm xmlns:a="http://schemas.openxmlformats.org/drawingml/2006/main">
            <a:off x="8239125" y="2476500"/>
            <a:ext cx="2857500"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0">
                <a:solidFill>
                  <a:srgbClr val="173D31"/>
                </a:solidFill>
                <a:latin typeface="Arial"/>
                <a:ea typeface="Arial"/>
                <a:cs typeface="Arial"/>
              </a:defRPr>
            </a:pPr>
            <a:r>
              <a:rPr sz="1500" b="0">
                <a:solidFill>
                  <a:srgbClr val="173D31"/>
                </a:solidFill>
                <a:latin typeface="Arial"/>
                <a:ea typeface="Arial"/>
                <a:cs typeface="Arial"/>
              </a:rPr>
              <a:t>Task completion and time</a:t>
            </a:r>
          </a:p>
          <a:p xmlns:a="http://schemas.openxmlformats.org/drawingml/2006/main">
            <a:pPr algn="l">
              <a:lnSpc>
                <a:spcPct val="116000"/>
              </a:lnSpc>
              <a:buNone/>
              <a:defRPr sz="1500" b="0">
                <a:solidFill>
                  <a:srgbClr val="173D31"/>
                </a:solidFill>
                <a:latin typeface="Arial"/>
                <a:ea typeface="Arial"/>
                <a:cs typeface="Arial"/>
              </a:defRPr>
            </a:pPr>
            <a:r>
              <a:rPr sz="1500" b="0">
                <a:solidFill>
                  <a:srgbClr val="173D31"/>
                </a:solidFill>
                <a:latin typeface="Arial"/>
                <a:ea typeface="Arial"/>
                <a:cs typeface="Arial"/>
              </a:rPr>
              <a:t>Groundedness, citation and tool accuracy</a:t>
            </a:r>
          </a:p>
          <a:p xmlns:a="http://schemas.openxmlformats.org/drawingml/2006/main">
            <a:pPr algn="l">
              <a:lnSpc>
                <a:spcPct val="116000"/>
              </a:lnSpc>
              <a:buNone/>
              <a:defRPr sz="1500" b="0">
                <a:solidFill>
                  <a:srgbClr val="173D31"/>
                </a:solidFill>
                <a:latin typeface="Arial"/>
                <a:ea typeface="Arial"/>
                <a:cs typeface="Arial"/>
              </a:defRPr>
            </a:pPr>
            <a:r>
              <a:rPr sz="1500" b="0">
                <a:solidFill>
                  <a:srgbClr val="173D31"/>
                </a:solidFill>
                <a:latin typeface="Arial"/>
                <a:ea typeface="Arial"/>
                <a:cs typeface="Arial"/>
              </a:rPr>
              <a:t>Safety, p95 latency and cost per resolved task</a:t>
            </a:r>
          </a:p>
        </p:txBody>
      </p:sp>
      <p:sp>
        <p:nvSpPr>
          <p:cNvPr id="14" name="baseline-title">
            <a:extLst xmlns:a="http://schemas.openxmlformats.org/drawingml/2006/main">
              <a:ext uri="{FF2B5EF4-FFF2-40B4-BE49-F238E27FC236}">
                <a16:creationId xmlns:a16="http://schemas.microsoft.com/office/drawing/2014/main" id="{331AEF7E-1E52-44F5-A17F-FAB8C91106D3}"/>
              </a:ext>
            </a:extLst>
          </p:cNvPr>
          <p:cNvSpPr>
            <a:spLocks xmlns:a="http://schemas.openxmlformats.org/drawingml/2006/main" noGrp="1"/>
          </p:cNvSpPr>
          <p:nvPr/>
        </p:nvSpPr>
        <p:spPr>
          <a:xfrm xmlns:a="http://schemas.openxmlformats.org/drawingml/2006/main">
            <a:off x="762000" y="495300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1">
                <a:solidFill>
                  <a:srgbClr val="647C68"/>
                </a:solidFill>
                <a:latin typeface="Arial"/>
                <a:ea typeface="Arial"/>
                <a:cs typeface="Arial"/>
              </a:defRPr>
            </a:pPr>
            <a:r>
              <a:rPr sz="1125" b="1">
                <a:solidFill>
                  <a:srgbClr val="647C68"/>
                </a:solidFill>
                <a:latin typeface="Arial"/>
                <a:ea typeface="Arial"/>
                <a:cs typeface="Arial"/>
              </a:rPr>
              <a:t>Measurement approach</a:t>
            </a:r>
          </a:p>
        </p:txBody>
      </p:sp>
      <p:sp>
        <p:nvSpPr>
          <p:cNvPr id="15" name="baseline-copy">
            <a:extLst xmlns:a="http://schemas.openxmlformats.org/drawingml/2006/main">
              <a:ext uri="{FF2B5EF4-FFF2-40B4-BE49-F238E27FC236}">
                <a16:creationId xmlns:a16="http://schemas.microsoft.com/office/drawing/2014/main" id="{9D46334E-D7E9-40DA-AEB4-EC66826E5AA1}"/>
              </a:ext>
            </a:extLst>
          </p:cNvPr>
          <p:cNvSpPr>
            <a:spLocks xmlns:a="http://schemas.openxmlformats.org/drawingml/2006/main" noGrp="1"/>
          </p:cNvSpPr>
          <p:nvPr/>
        </p:nvSpPr>
        <p:spPr>
          <a:xfrm xmlns:a="http://schemas.openxmlformats.org/drawingml/2006/main">
            <a:off x="762000" y="5276850"/>
            <a:ext cx="1052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1">
                <a:solidFill>
                  <a:srgbClr val="173D31"/>
                </a:solidFill>
                <a:latin typeface="Arial"/>
                <a:ea typeface="Arial"/>
                <a:cs typeface="Arial"/>
              </a:defRPr>
            </a:pPr>
            <a:r>
              <a:rPr sz="1425" b="1">
                <a:solidFill>
                  <a:srgbClr val="173D31"/>
                </a:solidFill>
                <a:latin typeface="Arial"/>
                <a:ea typeface="Arial"/>
                <a:cs typeface="Arial"/>
              </a:rPr>
              <a:t>Agree baselines and thresholds after reviewing current usage and running representative task evaluations.</a:t>
            </a:r>
          </a:p>
        </p:txBody>
      </p:sp>
      <p:sp>
        <p:nvSpPr>
          <p:cNvPr id="16" name="risk-rule">
            <a:extLst xmlns:a="http://schemas.openxmlformats.org/drawingml/2006/main">
              <a:ext uri="{FF2B5EF4-FFF2-40B4-BE49-F238E27FC236}">
                <a16:creationId xmlns:a16="http://schemas.microsoft.com/office/drawing/2014/main" id="{E66CD810-E26D-40A7-9320-139A91AF2F4F}"/>
              </a:ext>
            </a:extLst>
          </p:cNvPr>
          <p:cNvSpPr>
            <a:spLocks xmlns:a="http://schemas.openxmlformats.org/drawingml/2006/main" noGrp="1"/>
          </p:cNvSpPr>
          <p:nvPr/>
        </p:nvSpPr>
        <p:spPr>
          <a:xfrm xmlns:a="http://schemas.openxmlformats.org/drawingml/2006/main">
            <a:off x="762000" y="5800725"/>
            <a:ext cx="1057275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17" name="risk-note">
            <a:extLst xmlns:a="http://schemas.openxmlformats.org/drawingml/2006/main">
              <a:ext uri="{FF2B5EF4-FFF2-40B4-BE49-F238E27FC236}">
                <a16:creationId xmlns:a16="http://schemas.microsoft.com/office/drawing/2014/main" id="{F16C6EC7-97E2-46A6-98CF-1B5E062027AB}"/>
              </a:ext>
            </a:extLst>
          </p:cNvPr>
          <p:cNvSpPr>
            <a:spLocks xmlns:a="http://schemas.openxmlformats.org/drawingml/2006/main" noGrp="1"/>
          </p:cNvSpPr>
          <p:nvPr/>
        </p:nvSpPr>
        <p:spPr>
          <a:xfrm xmlns:a="http://schemas.openxmlformats.org/drawingml/2006/main">
            <a:off x="762000" y="5915025"/>
            <a:ext cx="10525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a:solidFill>
                  <a:srgbClr val="61766D"/>
                </a:solidFill>
                <a:latin typeface="Arial"/>
                <a:ea typeface="Arial"/>
                <a:cs typeface="Arial"/>
              </a:defRPr>
            </a:pPr>
            <a:r>
              <a:rPr sz="1125" b="0">
                <a:solidFill>
                  <a:srgbClr val="61766D"/>
                </a:solidFill>
                <a:latin typeface="Arial"/>
                <a:ea typeface="Arial"/>
                <a:cs typeface="Arial"/>
              </a:rPr>
              <a:t>Risks: incomplete logs can distort reports; education does not prove behaviour change; Jev remains an external early-access dependency until evaluated.</a:t>
            </a:r>
          </a:p>
        </p:txBody>
      </p:sp>
      <p:sp>
        <p:nvSpPr>
          <p:cNvPr id="18" name="footer-rule">
            <a:extLst xmlns:a="http://schemas.openxmlformats.org/drawingml/2006/main">
              <a:ext uri="{FF2B5EF4-FFF2-40B4-BE49-F238E27FC236}">
                <a16:creationId xmlns:a16="http://schemas.microsoft.com/office/drawing/2014/main" id="{3A18171A-B112-45D3-ACAD-0E5C36CD511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4DE"/>
          </a:solidFill>
          <a:ln xmlns:a="http://schemas.openxmlformats.org/drawingml/2006/main" w="0">
            <a:noFill/>
            <a:prstDash val="solid"/>
          </a:ln>
        </p:spPr>
      </p:sp>
      <p:sp>
        <p:nvSpPr>
          <p:cNvPr id="19" name="footer-label">
            <a:extLst xmlns:a="http://schemas.openxmlformats.org/drawingml/2006/main">
              <a:ext uri="{FF2B5EF4-FFF2-40B4-BE49-F238E27FC236}">
                <a16:creationId xmlns:a16="http://schemas.microsoft.com/office/drawing/2014/main" id="{811373B7-2099-4318-8FB1-034F9524B58C}"/>
              </a:ext>
            </a:extLst>
          </p:cNvPr>
          <p:cNvSpPr>
            <a:spLocks xmlns:a="http://schemas.openxmlformats.org/drawingml/2006/main" noGrp="1"/>
          </p:cNvSpPr>
          <p:nvPr/>
        </p:nvSpPr>
        <p:spPr>
          <a:xfrm xmlns:a="http://schemas.openxmlformats.org/drawingml/2006/main">
            <a:off x="685800" y="6543675"/>
            <a:ext cx="581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KitchMemo  |  Iteration 3 Product Discovery</a:t>
            </a:r>
          </a:p>
        </p:txBody>
      </p:sp>
      <p:sp>
        <p:nvSpPr>
          <p:cNvPr id="20" name="footer-number">
            <a:extLst xmlns:a="http://schemas.openxmlformats.org/drawingml/2006/main">
              <a:ext uri="{FF2B5EF4-FFF2-40B4-BE49-F238E27FC236}">
                <a16:creationId xmlns:a16="http://schemas.microsoft.com/office/drawing/2014/main" id="{906303B5-7A61-48A3-8D21-9D95AB813E74}"/>
              </a:ext>
            </a:extLst>
          </p:cNvPr>
          <p:cNvSpPr>
            <a:spLocks xmlns:a="http://schemas.openxmlformats.org/drawingml/2006/main" noGrp="1"/>
          </p:cNvSpPr>
          <p:nvPr/>
        </p:nvSpPr>
        <p:spPr>
          <a:xfrm xmlns:a="http://schemas.openxmlformats.org/drawingml/2006/main">
            <a:off x="1114425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825" b="0">
                <a:solidFill>
                  <a:srgbClr val="61766D"/>
                </a:solidFill>
                <a:latin typeface="Arial"/>
                <a:ea typeface="Arial"/>
                <a:cs typeface="Arial"/>
              </a:defRPr>
            </a:pPr>
            <a:r>
              <a:rPr sz="825" b="0">
                <a:solidFill>
                  <a:srgbClr val="61766D"/>
                </a:solidFill>
                <a:latin typeface="Arial"/>
                <a:ea typeface="Arial"/>
                <a:cs typeface="Arial"/>
              </a:rPr>
              <a:t>14</a:t>
            </a:r>
          </a:p>
        </p:txBody>
      </p:sp>
    </p:spTree>
    <p:extLst>
      <p:ext uri="{BB962C8B-B14F-4D97-AF65-F5344CB8AC3E}">
        <p14:creationId xmlns:p14="http://schemas.microsoft.com/office/powerpoint/2010/main" val="1011752998"/>
      </p:ext>
    </p:extLst>
  </p:cSld>
</p:sld>
</file>

<file path=ppt/theme/theme1.xml><?xml version="1.0" encoding="utf-8"?>
<a:theme xmlns:a="http://schemas.openxmlformats.org/drawingml/2006/main" name="ChatGPT">
  <a:themeElements>
    <a:clrScheme name="KitchMemo Warm Kitchen">
      <a:dk1>
        <a:srgbClr val="000000"/>
      </a:dk1>
      <a:lt1>
        <a:srgbClr val="FFFFFF"/>
      </a:lt1>
      <a:dk2>
        <a:srgbClr val="173D31"/>
      </a:dk2>
      <a:lt2>
        <a:srgbClr val="F3EFE6"/>
      </a:lt2>
      <a:accent1>
        <a:srgbClr val="173D31"/>
      </a:accent1>
      <a:accent2>
        <a:srgbClr val="2A8A61"/>
      </a:accent2>
      <a:accent3>
        <a:srgbClr val="D47B21"/>
      </a:accent3>
      <a:accent4>
        <a:srgbClr val="C96E5A"/>
      </a:accent4>
      <a:accent5>
        <a:srgbClr val="647C68"/>
      </a:accent5>
      <a:accent6>
        <a:srgbClr val="789087"/>
      </a:accent6>
      <a:hlink>
        <a:srgbClr val="2A8A61"/>
      </a:hlink>
      <a:folHlink>
        <a:srgbClr val="647C68"/>
      </a:folHlink>
    </a:clrScheme>
    <a:fontScheme name="Office">
      <a:majorFont>
        <a:latin typeface="Calibri Light"/>
        <a:ea typeface="Calibri Light"/>
        <a:cs typeface="Calibri Light"/>
      </a:majorFont>
      <a:minorFont>
        <a:latin typeface="Calibri"/>
        <a:ea typeface="Calibri"/>
        <a:cs typeface="Calibri"/>
      </a:minorFont>
    </a:fontScheme>
    <a:fmtScheme name="KitchMemo Warm Kitch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2026-09-26T08:46:01.1990000Z</dcterms:created>
  <dcterms:modified xsi:type="dcterms:W3CDTF">2026-09-26T08:46:01.1990000Z</dcterms:modified>
</coreProperties>
</file>